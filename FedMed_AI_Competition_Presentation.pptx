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judges and everyone present. I'm here to present FedMed AI — a Federated AI Medical Imaging Network designed for disease detection from chest X-rays.</a:t>
            </a:r>
          </a:p>
          <a:p/>
          <a:p>
            <a:r>
              <a:t>The central idea is powerful and timely: hospitals around the world collect enormous amounts of chest X-ray data — but they can't share it because of patient privacy. FedMed AI proposes a solution: what if hospitals could train a single, shared AI model together, without ever sending a single patient image outside their walls?</a:t>
            </a:r>
          </a:p>
          <a:p/>
          <a:p>
            <a:r>
              <a:t>This is a fully implemented system — not just a concept — and over the next few minutes, I'll walk you through the problem it solves, the technology inside it, the actual dashboard you can use today, and the real results we achieved.</a:t>
            </a:r>
          </a:p>
          <a:p/>
          <a:p>
            <a:r>
              <a:t>[Point to the right panel] You're already seeing the complete AI pipeline: from chest X-ray input, through our DenseNet121 deep learning model, through federated coordination across four hospitals, all the way to a final disease prediction with Grad-CAM explainability.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problem. Medical AI is only as good as the data it's trained on — and to achieve strong generalization, you need large, diverse datasets.</a:t>
            </a:r>
          </a:p>
          <a:p/>
          <a:p>
            <a:r>
              <a:t>But here's the challenge [point to left panel]: patient medical records and X-ray images are among the most privacy-sensitive data that exists. You cannot freely share or centralize them across hospitals — legally, ethically, and practically.</a:t>
            </a:r>
          </a:p>
          <a:p/>
          <a:p>
            <a:r>
              <a:t>And yet, any single hospital — even a large one — may not have enough data to build a truly robust diagnostic AI model by itself.</a:t>
            </a:r>
          </a:p>
          <a:p/>
          <a:p>
            <a:r>
              <a:t>This creates a painful tradeoff: hospitals that want to collaborate for better AI are blocked by privacy barriers. And those that don't collaborate are limited by the data they have.</a:t>
            </a:r>
          </a:p>
          <a:p/>
          <a:p>
            <a:r>
              <a:t>[Point to the hospital flow diagram] We have Hospital A, B, C, D — all with valuable local X-ray data — but with a hard privacy wall between them and any central system.</a:t>
            </a:r>
          </a:p>
          <a:p/>
          <a:p>
            <a:r>
              <a:t>The question is: can we build better AI together, without breaking that privacy wall?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FedMed AI is our answer.</a:t>
            </a:r>
          </a:p>
          <a:p/>
          <a:p>
            <a:r>
              <a:t>The core idea is Federated Learning — a technique where the model goes to the data, rather than the data going to the model.</a:t>
            </a:r>
          </a:p>
          <a:p/>
          <a:p>
            <a:r>
              <a:t>[Point to architecture] Here's how it works in our implementation: we have four virtual hospital nodes — Hospital A through D. Each one trains a local version of our DenseNet121 model on its own private X-ray dataset. When training is done locally, the hospital sends only its model weights — not any images — to a central server.</a:t>
            </a:r>
          </a:p>
          <a:p/>
          <a:p>
            <a:r>
              <a:t>The central server performs what's called Federated Averaging — it computes a weighted average of all the hospital models and produces a single global model that has learned from everyone's data.</a:t>
            </a:r>
          </a:p>
          <a:p/>
          <a:p>
            <a:r>
              <a:t>That global model is then sent back to all hospitals, improving their local predictions.</a:t>
            </a:r>
          </a:p>
          <a:p/>
          <a:p>
            <a:r>
              <a:t>[Point to the output row] The result: disease prediction, confidence scores, and Grad-CAM visualizations — all powered by a model that saw data from four institutions, while not a single raw patient image ever left any hospital.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go deeper on the actual implementation.</a:t>
            </a:r>
          </a:p>
          <a:p/>
          <a:p>
            <a:r>
              <a:t>[Point to pipeline] At the top, you see the complete inference pipeline: a chest X-ray comes in at 224×224 pixels. It's preprocessed with normalization and augmentation — random flips, brightness, contrast adjustments. Then it passes through our DenseNet121 backbone pre-trained on ImageNet and fine-tuned for chest pathologies.</a:t>
            </a:r>
          </a:p>
          <a:p/>
          <a:p>
            <a:r>
              <a:t>The output is a sigmoid-activated multi-label vector — meaning a single X-ray can simultaneously indicate multiple conditions out of 15 disease classes.</a:t>
            </a:r>
          </a:p>
          <a:p/>
          <a:p>
            <a:r>
              <a:t>[Point to tech cards] Our key technical decisions: we use Binary Cross-Entropy loss with the Adam optimizer, which is standard for multi-label classification. We trained with 3 local epochs per hospital per federated round, running for 5 to 10 rounds of communication. The dataset is a reduced version of the NIH ChestX-ray14 benchmark.</a:t>
            </a:r>
          </a:p>
          <a:p/>
          <a:p>
            <a:r>
              <a:t>[Point to right panel] And on the right, the complete 7-step federated process: from weight initialization, through local training, through FedAvg aggregation, back to model distribution. This cycle repeats until the global model converges.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isn't just a training experiment — it's a deployed, working clinical dashboard.</a:t>
            </a:r>
          </a:p>
          <a:p/>
          <a:p>
            <a:r>
              <a:t>[Point to large dashboard screenshot] The main dashboard gives doctors an immediate overview: total patients processed, predictions made today, average confidence across predictions, and the real-time status of all four federated hospitals. You can see: Hospital A — Synced, Hospital B — Synced, Hospital C — Training, Hospital D — Synced.</a:t>
            </a:r>
          </a:p>
          <a:p/>
          <a:p>
            <a:r>
              <a:t>[Point to upload screenshot] The Upload &amp; Predict interface allows a doctor to drag-and-drop any chest X-ray, enter patient details, and receive a disease prediction from the global federated model. The result includes the top predicted disease, a confidence percentage bar, and a Grad-CAM overlay showing exactly which lung regions influenced the prediction.</a:t>
            </a:r>
          </a:p>
          <a:p/>
          <a:p>
            <a:r>
              <a:t>[Point to FL Monitor] The FL Monitor shows the current round — 18 out of 25 — a global AUC of 0.93, and the hospital-wise breakdown of local samples, local loss, local accuracy, and synchronization status.</a:t>
            </a:r>
          </a:p>
          <a:p/>
          <a:p>
            <a:r>
              <a:t>The full system is built with vanilla HTML, CSS, and JavaScript on the frontend, connected to a Python Flask REST API backend, deployable to Render and GitHub Pages.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now show you actual results from the system.</a:t>
            </a:r>
          </a:p>
          <a:p/>
          <a:p>
            <a:r>
              <a:t>[Point to KPI cards] At the top: our global model achieves a mean AUC of approximately 0.93 and classification accuracy of approximately 91.5% across the 15 disease classes. This was achieved using a federated approach across four hospital nodes.</a:t>
            </a:r>
          </a:p>
          <a:p/>
          <a:p>
            <a:r>
              <a:t>[Point to disease distribution bar chart] This is the actual NIH ChestX-ray14 distribution in our dataset. Infiltration has the highest representation at over 2,000 images, followed by Effusion and Atelectasis. This is real data — no fabrication.</a:t>
            </a:r>
          </a:p>
          <a:p/>
          <a:p>
            <a:r>
              <a:t>[Point to pie chart] The share of diagnoses confirms the class imbalance: Infiltration at 14.6%, Effusion at 13.2%. This is why we use per-class weighting in our loss function.</a:t>
            </a:r>
          </a:p>
          <a:p/>
          <a:p>
            <a:r>
              <a:t>[Point to correlation heatmap] This 15×15 correlation heatmap reveals co-occurrence patterns between diseases — for example, Emphysema and Pneumothorax show a notable positive correlation, which is clinically meaningful.</a:t>
            </a:r>
          </a:p>
          <a:p/>
          <a:p>
            <a:r>
              <a:t>[Point to age distribution] And the patient age distribution shows our dataset spans a real clinical population — peak around 50 to 60 years of age, consistent with typical chest X-ray patient demographics.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 why does FedMed AI matter?</a:t>
            </a:r>
          </a:p>
          <a:p/>
          <a:p>
            <a:r>
              <a:t>[Point to pillar 1] Privacy-Aware Collaboration: we enable multiple hospitals to build a better AI model together, without raw images ever being shared. This directly addresses HIPAA-class data privacy concerns in medical AI.</a:t>
            </a:r>
          </a:p>
          <a:p/>
          <a:p>
            <a:r>
              <a:t>[Point to pillar 2] AI-Based Disease Prediction: a doctor uploads a chest X-ray and gets multi-label predictions for 15 conditions — Pneumonia, Effusion, Atelectasis, Cardiomegaly, and more.</a:t>
            </a:r>
          </a:p>
          <a:p/>
          <a:p>
            <a:r>
              <a:t>[Point to pillar 3] Explainable AI: Grad-CAM generates visual evidence of what the model focused on. This builds clinical trust and gives doctors interpretable feedback, not just a black-box label.</a:t>
            </a:r>
          </a:p>
          <a:p/>
          <a:p>
            <a:r>
              <a:t>[Point to pillar 4] Scalable Architecture: while we demonstrated this with four virtual hospitals, the federated design is inherently scalable to any number of real institutions.</a:t>
            </a:r>
          </a:p>
          <a:p/>
          <a:p>
            <a:r>
              <a:t>[Point to key takeaway banner] FedMed AI transforms distributed medical data into collaborative intelligence.</a:t>
            </a:r>
          </a:p>
          <a:p/>
          <a:p>
            <a:r>
              <a:t>Thank you for your time. I'm happy to take any questions about the implementation, the model, or the architecture.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20"/>
        </a:solidFill>
        <a:effectLst/>
      </p:bgPr>
    </p:bg>
    <p:spTree>
      <p:nvGrpSpPr>
        <p:cNvPr id="1" name=""/>
        <p:cNvGrpSpPr/>
        <p:nvPr/>
      </p:nvGrpSpPr>
      <p:grpSpPr/>
      <p:sp>
        <p:nvSpPr>
          <p:cNvPr id="2" name="Rectangle 1"/>
          <p:cNvSpPr/>
          <p:nvPr/>
        </p:nvSpPr>
        <p:spPr>
          <a:xfrm>
            <a:off x="0" y="0"/>
            <a:ext cx="5303520" cy="6858000"/>
          </a:xfrm>
          <a:prstGeom prst="rect">
            <a:avLst/>
          </a:prstGeom>
          <a:solidFill>
            <a:srgbClr val="1B6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8700"/>
            <a:ext cx="5303520" cy="635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400300"/>
            <a:ext cx="5303520" cy="635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3771900"/>
            <a:ext cx="5303520" cy="635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5143500"/>
            <a:ext cx="5303520" cy="635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035040"/>
            <a:ext cx="5303520" cy="635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0"/>
            <a:ext cx="73152" cy="68580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1645920"/>
            <a:ext cx="4572000" cy="1097280"/>
          </a:xfrm>
          <a:prstGeom prst="rect">
            <a:avLst/>
          </a:prstGeom>
          <a:noFill/>
        </p:spPr>
        <p:txBody>
          <a:bodyPr wrap="square">
            <a:spAutoFit/>
          </a:bodyPr>
          <a:lstStyle/>
          <a:p>
            <a:pPr algn="l"/>
            <a:r>
              <a:rPr sz="6000" b="1" i="0">
                <a:solidFill>
                  <a:srgbClr val="FFFFFF"/>
                </a:solidFill>
                <a:latin typeface="Calibri"/>
              </a:rPr>
              <a:t>FedMed AI</a:t>
            </a:r>
          </a:p>
        </p:txBody>
      </p:sp>
      <p:sp>
        <p:nvSpPr>
          <p:cNvPr id="10" name="TextBox 9"/>
          <p:cNvSpPr txBox="1"/>
          <p:nvPr/>
        </p:nvSpPr>
        <p:spPr>
          <a:xfrm>
            <a:off x="320040" y="2834640"/>
            <a:ext cx="4754880" cy="548640"/>
          </a:xfrm>
          <a:prstGeom prst="rect">
            <a:avLst/>
          </a:prstGeom>
          <a:noFill/>
        </p:spPr>
        <p:txBody>
          <a:bodyPr wrap="square">
            <a:spAutoFit/>
          </a:bodyPr>
          <a:lstStyle/>
          <a:p>
            <a:pPr algn="l"/>
            <a:r>
              <a:rPr sz="2000" b="0" i="0">
                <a:solidFill>
                  <a:srgbClr val="8FD3AB"/>
                </a:solidFill>
                <a:latin typeface="Calibri"/>
              </a:rPr>
              <a:t>Federated AI Medical Imaging Network</a:t>
            </a:r>
          </a:p>
        </p:txBody>
      </p:sp>
      <p:sp>
        <p:nvSpPr>
          <p:cNvPr id="11" name="TextBox 10"/>
          <p:cNvSpPr txBox="1"/>
          <p:nvPr/>
        </p:nvSpPr>
        <p:spPr>
          <a:xfrm>
            <a:off x="320040" y="3246120"/>
            <a:ext cx="4754880" cy="457200"/>
          </a:xfrm>
          <a:prstGeom prst="rect">
            <a:avLst/>
          </a:prstGeom>
          <a:noFill/>
        </p:spPr>
        <p:txBody>
          <a:bodyPr wrap="square">
            <a:spAutoFit/>
          </a:bodyPr>
          <a:lstStyle/>
          <a:p>
            <a:pPr algn="l"/>
            <a:r>
              <a:rPr sz="2000" b="0" i="0">
                <a:solidFill>
                  <a:srgbClr val="8FD3AB"/>
                </a:solidFill>
                <a:latin typeface="Calibri"/>
              </a:rPr>
              <a:t>for Disease Detection</a:t>
            </a:r>
          </a:p>
        </p:txBody>
      </p:sp>
      <p:sp>
        <p:nvSpPr>
          <p:cNvPr id="12" name="Rectangle 11"/>
          <p:cNvSpPr/>
          <p:nvPr/>
        </p:nvSpPr>
        <p:spPr>
          <a:xfrm>
            <a:off x="320040" y="3794760"/>
            <a:ext cx="2286000" cy="254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3977639"/>
            <a:ext cx="4572000" cy="365760"/>
          </a:xfrm>
          <a:prstGeom prst="rect">
            <a:avLst/>
          </a:prstGeom>
          <a:noFill/>
        </p:spPr>
        <p:txBody>
          <a:bodyPr wrap="square">
            <a:spAutoFit/>
          </a:bodyPr>
          <a:lstStyle/>
          <a:p>
            <a:pPr algn="l"/>
            <a:r>
              <a:rPr sz="1300" b="0" i="0">
                <a:solidFill>
                  <a:srgbClr val="4DB683"/>
                </a:solidFill>
                <a:latin typeface="Calibri"/>
              </a:rPr>
              <a:t>College Project Competition</a:t>
            </a:r>
          </a:p>
        </p:txBody>
      </p:sp>
      <p:sp>
        <p:nvSpPr>
          <p:cNvPr id="14" name="Rectangle 13"/>
          <p:cNvSpPr/>
          <p:nvPr/>
        </p:nvSpPr>
        <p:spPr>
          <a:xfrm>
            <a:off x="5303520" y="0"/>
            <a:ext cx="6885432" cy="6858000"/>
          </a:xfrm>
          <a:prstGeom prst="rect">
            <a:avLst/>
          </a:prstGeom>
          <a:solidFill>
            <a:srgbClr val="1426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77840" y="365760"/>
            <a:ext cx="6309360" cy="457200"/>
          </a:xfrm>
          <a:prstGeom prst="rect">
            <a:avLst/>
          </a:prstGeom>
          <a:noFill/>
        </p:spPr>
        <p:txBody>
          <a:bodyPr wrap="square">
            <a:spAutoFit/>
          </a:bodyPr>
          <a:lstStyle/>
          <a:p>
            <a:pPr algn="l"/>
            <a:r>
              <a:rPr sz="1400" b="1" i="0">
                <a:solidFill>
                  <a:srgbClr val="4DB683"/>
                </a:solidFill>
                <a:latin typeface="Calibri"/>
              </a:rPr>
              <a:t>How It Works</a:t>
            </a:r>
          </a:p>
        </p:txBody>
      </p:sp>
      <p:sp>
        <p:nvSpPr>
          <p:cNvPr id="16" name="Rectangle 15"/>
          <p:cNvSpPr/>
          <p:nvPr/>
        </p:nvSpPr>
        <p:spPr>
          <a:xfrm>
            <a:off x="5577840" y="1005840"/>
            <a:ext cx="6126480" cy="82296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0" y="1143000"/>
            <a:ext cx="457200" cy="548640"/>
          </a:xfrm>
          <a:prstGeom prst="rect">
            <a:avLst/>
          </a:prstGeom>
          <a:noFill/>
        </p:spPr>
        <p:txBody>
          <a:bodyPr wrap="square">
            <a:spAutoFit/>
          </a:bodyPr>
          <a:lstStyle/>
          <a:p>
            <a:pPr algn="l"/>
            <a:r>
              <a:rPr sz="2200" b="0" i="0">
                <a:solidFill>
                  <a:srgbClr val="FFFFFF"/>
                </a:solidFill>
                <a:latin typeface="Calibri"/>
              </a:rPr>
              <a:t>🫁</a:t>
            </a:r>
          </a:p>
        </p:txBody>
      </p:sp>
      <p:sp>
        <p:nvSpPr>
          <p:cNvPr id="18" name="TextBox 17"/>
          <p:cNvSpPr txBox="1"/>
          <p:nvPr/>
        </p:nvSpPr>
        <p:spPr>
          <a:xfrm>
            <a:off x="6217920" y="1078992"/>
            <a:ext cx="4114800" cy="320040"/>
          </a:xfrm>
          <a:prstGeom prst="rect">
            <a:avLst/>
          </a:prstGeom>
          <a:noFill/>
        </p:spPr>
        <p:txBody>
          <a:bodyPr wrap="square">
            <a:spAutoFit/>
          </a:bodyPr>
          <a:lstStyle/>
          <a:p>
            <a:pPr algn="l"/>
            <a:r>
              <a:rPr sz="1600" b="1" i="0">
                <a:solidFill>
                  <a:srgbClr val="FFFFFF"/>
                </a:solidFill>
                <a:latin typeface="Calibri"/>
              </a:rPr>
              <a:t>Chest X-Ray</a:t>
            </a:r>
          </a:p>
        </p:txBody>
      </p:sp>
      <p:sp>
        <p:nvSpPr>
          <p:cNvPr id="19" name="TextBox 18"/>
          <p:cNvSpPr txBox="1"/>
          <p:nvPr/>
        </p:nvSpPr>
        <p:spPr>
          <a:xfrm>
            <a:off x="6217920" y="1389888"/>
            <a:ext cx="4114800" cy="274320"/>
          </a:xfrm>
          <a:prstGeom prst="rect">
            <a:avLst/>
          </a:prstGeom>
          <a:noFill/>
        </p:spPr>
        <p:txBody>
          <a:bodyPr wrap="square">
            <a:spAutoFit/>
          </a:bodyPr>
          <a:lstStyle/>
          <a:p>
            <a:pPr algn="l"/>
            <a:r>
              <a:rPr sz="1000" b="0" i="0">
                <a:solidFill>
                  <a:srgbClr val="8FD3AB"/>
                </a:solidFill>
                <a:latin typeface="Calibri"/>
              </a:rPr>
              <a:t>Patient radiograph uploaded</a:t>
            </a:r>
          </a:p>
        </p:txBody>
      </p:sp>
      <p:sp>
        <p:nvSpPr>
          <p:cNvPr id="20" name="TextBox 19"/>
          <p:cNvSpPr txBox="1"/>
          <p:nvPr/>
        </p:nvSpPr>
        <p:spPr>
          <a:xfrm>
            <a:off x="8412480" y="1874520"/>
            <a:ext cx="365760" cy="228600"/>
          </a:xfrm>
          <a:prstGeom prst="rect">
            <a:avLst/>
          </a:prstGeom>
          <a:noFill/>
        </p:spPr>
        <p:txBody>
          <a:bodyPr wrap="square">
            <a:spAutoFit/>
          </a:bodyPr>
          <a:lstStyle/>
          <a:p>
            <a:pPr algn="ctr"/>
            <a:r>
              <a:rPr sz="1400" b="0" i="0">
                <a:solidFill>
                  <a:srgbClr val="2F9E68"/>
                </a:solidFill>
                <a:latin typeface="Calibri"/>
              </a:rPr>
              <a:t>↓</a:t>
            </a:r>
          </a:p>
        </p:txBody>
      </p:sp>
      <p:sp>
        <p:nvSpPr>
          <p:cNvPr id="21" name="Rectangle 20"/>
          <p:cNvSpPr/>
          <p:nvPr/>
        </p:nvSpPr>
        <p:spPr>
          <a:xfrm>
            <a:off x="5577840" y="2011680"/>
            <a:ext cx="6126480" cy="82296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0" y="2148840"/>
            <a:ext cx="457200" cy="548640"/>
          </a:xfrm>
          <a:prstGeom prst="rect">
            <a:avLst/>
          </a:prstGeom>
          <a:noFill/>
        </p:spPr>
        <p:txBody>
          <a:bodyPr wrap="square">
            <a:spAutoFit/>
          </a:bodyPr>
          <a:lstStyle/>
          <a:p>
            <a:pPr algn="l"/>
            <a:r>
              <a:rPr sz="2200" b="0" i="0">
                <a:solidFill>
                  <a:srgbClr val="FFFFFF"/>
                </a:solidFill>
                <a:latin typeface="Calibri"/>
              </a:rPr>
              <a:t>🤖</a:t>
            </a:r>
          </a:p>
        </p:txBody>
      </p:sp>
      <p:sp>
        <p:nvSpPr>
          <p:cNvPr id="23" name="TextBox 22"/>
          <p:cNvSpPr txBox="1"/>
          <p:nvPr/>
        </p:nvSpPr>
        <p:spPr>
          <a:xfrm>
            <a:off x="6217920" y="2084832"/>
            <a:ext cx="4114800" cy="320040"/>
          </a:xfrm>
          <a:prstGeom prst="rect">
            <a:avLst/>
          </a:prstGeom>
          <a:noFill/>
        </p:spPr>
        <p:txBody>
          <a:bodyPr wrap="square">
            <a:spAutoFit/>
          </a:bodyPr>
          <a:lstStyle/>
          <a:p>
            <a:pPr algn="l"/>
            <a:r>
              <a:rPr sz="1600" b="1" i="0">
                <a:solidFill>
                  <a:srgbClr val="FFFFFF"/>
                </a:solidFill>
                <a:latin typeface="Calibri"/>
              </a:rPr>
              <a:t>AI Analysis</a:t>
            </a:r>
          </a:p>
        </p:txBody>
      </p:sp>
      <p:sp>
        <p:nvSpPr>
          <p:cNvPr id="24" name="TextBox 23"/>
          <p:cNvSpPr txBox="1"/>
          <p:nvPr/>
        </p:nvSpPr>
        <p:spPr>
          <a:xfrm>
            <a:off x="6217920" y="2395728"/>
            <a:ext cx="4114800" cy="274320"/>
          </a:xfrm>
          <a:prstGeom prst="rect">
            <a:avLst/>
          </a:prstGeom>
          <a:noFill/>
        </p:spPr>
        <p:txBody>
          <a:bodyPr wrap="square">
            <a:spAutoFit/>
          </a:bodyPr>
          <a:lstStyle/>
          <a:p>
            <a:pPr algn="l"/>
            <a:r>
              <a:rPr sz="1000" b="0" i="0">
                <a:solidFill>
                  <a:srgbClr val="8FD3AB"/>
                </a:solidFill>
                <a:latin typeface="Calibri"/>
              </a:rPr>
              <a:t>DenseNet121 deep learning</a:t>
            </a:r>
          </a:p>
        </p:txBody>
      </p:sp>
      <p:sp>
        <p:nvSpPr>
          <p:cNvPr id="25" name="TextBox 24"/>
          <p:cNvSpPr txBox="1"/>
          <p:nvPr/>
        </p:nvSpPr>
        <p:spPr>
          <a:xfrm>
            <a:off x="8412480" y="2880360"/>
            <a:ext cx="365760" cy="228600"/>
          </a:xfrm>
          <a:prstGeom prst="rect">
            <a:avLst/>
          </a:prstGeom>
          <a:noFill/>
        </p:spPr>
        <p:txBody>
          <a:bodyPr wrap="square">
            <a:spAutoFit/>
          </a:bodyPr>
          <a:lstStyle/>
          <a:p>
            <a:pPr algn="ctr"/>
            <a:r>
              <a:rPr sz="1400" b="0" i="0">
                <a:solidFill>
                  <a:srgbClr val="2F9E68"/>
                </a:solidFill>
                <a:latin typeface="Calibri"/>
              </a:rPr>
              <a:t>↓</a:t>
            </a:r>
          </a:p>
        </p:txBody>
      </p:sp>
      <p:sp>
        <p:nvSpPr>
          <p:cNvPr id="26" name="Rectangle 25"/>
          <p:cNvSpPr/>
          <p:nvPr/>
        </p:nvSpPr>
        <p:spPr>
          <a:xfrm>
            <a:off x="5577840" y="3017520"/>
            <a:ext cx="6126480" cy="82296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69280" y="3154680"/>
            <a:ext cx="457200" cy="548640"/>
          </a:xfrm>
          <a:prstGeom prst="rect">
            <a:avLst/>
          </a:prstGeom>
          <a:noFill/>
        </p:spPr>
        <p:txBody>
          <a:bodyPr wrap="square">
            <a:spAutoFit/>
          </a:bodyPr>
          <a:lstStyle/>
          <a:p>
            <a:pPr algn="l"/>
            <a:r>
              <a:rPr sz="2200" b="0" i="0">
                <a:solidFill>
                  <a:srgbClr val="FFFFFF"/>
                </a:solidFill>
                <a:latin typeface="Calibri"/>
              </a:rPr>
              <a:t>🏥</a:t>
            </a:r>
          </a:p>
        </p:txBody>
      </p:sp>
      <p:sp>
        <p:nvSpPr>
          <p:cNvPr id="28" name="TextBox 27"/>
          <p:cNvSpPr txBox="1"/>
          <p:nvPr/>
        </p:nvSpPr>
        <p:spPr>
          <a:xfrm>
            <a:off x="6217920" y="3090672"/>
            <a:ext cx="4114800" cy="320040"/>
          </a:xfrm>
          <a:prstGeom prst="rect">
            <a:avLst/>
          </a:prstGeom>
          <a:noFill/>
        </p:spPr>
        <p:txBody>
          <a:bodyPr wrap="square">
            <a:spAutoFit/>
          </a:bodyPr>
          <a:lstStyle/>
          <a:p>
            <a:pPr algn="l"/>
            <a:r>
              <a:rPr sz="1600" b="1" i="0">
                <a:solidFill>
                  <a:srgbClr val="FFFFFF"/>
                </a:solidFill>
                <a:latin typeface="Calibri"/>
              </a:rPr>
              <a:t>4 Hospitals</a:t>
            </a:r>
          </a:p>
        </p:txBody>
      </p:sp>
      <p:sp>
        <p:nvSpPr>
          <p:cNvPr id="29" name="TextBox 28"/>
          <p:cNvSpPr txBox="1"/>
          <p:nvPr/>
        </p:nvSpPr>
        <p:spPr>
          <a:xfrm>
            <a:off x="6217920" y="3401568"/>
            <a:ext cx="4114800" cy="274320"/>
          </a:xfrm>
          <a:prstGeom prst="rect">
            <a:avLst/>
          </a:prstGeom>
          <a:noFill/>
        </p:spPr>
        <p:txBody>
          <a:bodyPr wrap="square">
            <a:spAutoFit/>
          </a:bodyPr>
          <a:lstStyle/>
          <a:p>
            <a:pPr algn="l"/>
            <a:r>
              <a:rPr sz="1000" b="0" i="0">
                <a:solidFill>
                  <a:srgbClr val="8FD3AB"/>
                </a:solidFill>
                <a:latin typeface="Calibri"/>
              </a:rPr>
              <a:t>Federated local training</a:t>
            </a:r>
          </a:p>
        </p:txBody>
      </p:sp>
      <p:sp>
        <p:nvSpPr>
          <p:cNvPr id="30" name="TextBox 29"/>
          <p:cNvSpPr txBox="1"/>
          <p:nvPr/>
        </p:nvSpPr>
        <p:spPr>
          <a:xfrm>
            <a:off x="8412480" y="3886200"/>
            <a:ext cx="365760" cy="228600"/>
          </a:xfrm>
          <a:prstGeom prst="rect">
            <a:avLst/>
          </a:prstGeom>
          <a:noFill/>
        </p:spPr>
        <p:txBody>
          <a:bodyPr wrap="square">
            <a:spAutoFit/>
          </a:bodyPr>
          <a:lstStyle/>
          <a:p>
            <a:pPr algn="ctr"/>
            <a:r>
              <a:rPr sz="1400" b="0" i="0">
                <a:solidFill>
                  <a:srgbClr val="2F9E68"/>
                </a:solidFill>
                <a:latin typeface="Calibri"/>
              </a:rPr>
              <a:t>↓</a:t>
            </a:r>
          </a:p>
        </p:txBody>
      </p:sp>
      <p:sp>
        <p:nvSpPr>
          <p:cNvPr id="31" name="Rectangle 30"/>
          <p:cNvSpPr/>
          <p:nvPr/>
        </p:nvSpPr>
        <p:spPr>
          <a:xfrm>
            <a:off x="5577840" y="4023360"/>
            <a:ext cx="6126480" cy="82296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669280" y="4160520"/>
            <a:ext cx="457200" cy="548640"/>
          </a:xfrm>
          <a:prstGeom prst="rect">
            <a:avLst/>
          </a:prstGeom>
          <a:noFill/>
        </p:spPr>
        <p:txBody>
          <a:bodyPr wrap="square">
            <a:spAutoFit/>
          </a:bodyPr>
          <a:lstStyle/>
          <a:p>
            <a:pPr algn="l"/>
            <a:r>
              <a:rPr sz="2200" b="0" i="0">
                <a:solidFill>
                  <a:srgbClr val="FFFFFF"/>
                </a:solidFill>
                <a:latin typeface="Calibri"/>
              </a:rPr>
              <a:t>📊</a:t>
            </a:r>
          </a:p>
        </p:txBody>
      </p:sp>
      <p:sp>
        <p:nvSpPr>
          <p:cNvPr id="33" name="TextBox 32"/>
          <p:cNvSpPr txBox="1"/>
          <p:nvPr/>
        </p:nvSpPr>
        <p:spPr>
          <a:xfrm>
            <a:off x="6217920" y="4096512"/>
            <a:ext cx="4114800" cy="320040"/>
          </a:xfrm>
          <a:prstGeom prst="rect">
            <a:avLst/>
          </a:prstGeom>
          <a:noFill/>
        </p:spPr>
        <p:txBody>
          <a:bodyPr wrap="square">
            <a:spAutoFit/>
          </a:bodyPr>
          <a:lstStyle/>
          <a:p>
            <a:pPr algn="l"/>
            <a:r>
              <a:rPr sz="1600" b="1" i="0">
                <a:solidFill>
                  <a:srgbClr val="FFFFFF"/>
                </a:solidFill>
                <a:latin typeface="Calibri"/>
              </a:rPr>
              <a:t>FedAvg</a:t>
            </a:r>
          </a:p>
        </p:txBody>
      </p:sp>
      <p:sp>
        <p:nvSpPr>
          <p:cNvPr id="34" name="TextBox 33"/>
          <p:cNvSpPr txBox="1"/>
          <p:nvPr/>
        </p:nvSpPr>
        <p:spPr>
          <a:xfrm>
            <a:off x="6217920" y="4407408"/>
            <a:ext cx="4114800" cy="274320"/>
          </a:xfrm>
          <a:prstGeom prst="rect">
            <a:avLst/>
          </a:prstGeom>
          <a:noFill/>
        </p:spPr>
        <p:txBody>
          <a:bodyPr wrap="square">
            <a:spAutoFit/>
          </a:bodyPr>
          <a:lstStyle/>
          <a:p>
            <a:pPr algn="l"/>
            <a:r>
              <a:rPr sz="1000" b="0" i="0">
                <a:solidFill>
                  <a:srgbClr val="8FD3AB"/>
                </a:solidFill>
                <a:latin typeface="Calibri"/>
              </a:rPr>
              <a:t>Global model aggregation</a:t>
            </a:r>
          </a:p>
        </p:txBody>
      </p:sp>
      <p:sp>
        <p:nvSpPr>
          <p:cNvPr id="35" name="TextBox 34"/>
          <p:cNvSpPr txBox="1"/>
          <p:nvPr/>
        </p:nvSpPr>
        <p:spPr>
          <a:xfrm>
            <a:off x="8412480" y="4892040"/>
            <a:ext cx="365760" cy="228600"/>
          </a:xfrm>
          <a:prstGeom prst="rect">
            <a:avLst/>
          </a:prstGeom>
          <a:noFill/>
        </p:spPr>
        <p:txBody>
          <a:bodyPr wrap="square">
            <a:spAutoFit/>
          </a:bodyPr>
          <a:lstStyle/>
          <a:p>
            <a:pPr algn="ctr"/>
            <a:r>
              <a:rPr sz="1400" b="0" i="0">
                <a:solidFill>
                  <a:srgbClr val="2F9E68"/>
                </a:solidFill>
                <a:latin typeface="Calibri"/>
              </a:rPr>
              <a:t>↓</a:t>
            </a:r>
          </a:p>
        </p:txBody>
      </p:sp>
      <p:sp>
        <p:nvSpPr>
          <p:cNvPr id="36" name="Rectangle 35"/>
          <p:cNvSpPr/>
          <p:nvPr/>
        </p:nvSpPr>
        <p:spPr>
          <a:xfrm>
            <a:off x="5577840" y="5029200"/>
            <a:ext cx="6126480" cy="82296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0" y="5166360"/>
            <a:ext cx="457200" cy="548640"/>
          </a:xfrm>
          <a:prstGeom prst="rect">
            <a:avLst/>
          </a:prstGeom>
          <a:noFill/>
        </p:spPr>
        <p:txBody>
          <a:bodyPr wrap="square">
            <a:spAutoFit/>
          </a:bodyPr>
          <a:lstStyle/>
          <a:p>
            <a:pPr algn="l"/>
            <a:r>
              <a:rPr sz="2200" b="0" i="0">
                <a:solidFill>
                  <a:srgbClr val="FFFFFF"/>
                </a:solidFill>
                <a:latin typeface="Calibri"/>
              </a:rPr>
              <a:t>✅</a:t>
            </a:r>
          </a:p>
        </p:txBody>
      </p:sp>
      <p:sp>
        <p:nvSpPr>
          <p:cNvPr id="38" name="TextBox 37"/>
          <p:cNvSpPr txBox="1"/>
          <p:nvPr/>
        </p:nvSpPr>
        <p:spPr>
          <a:xfrm>
            <a:off x="6217920" y="5102352"/>
            <a:ext cx="4114800" cy="320040"/>
          </a:xfrm>
          <a:prstGeom prst="rect">
            <a:avLst/>
          </a:prstGeom>
          <a:noFill/>
        </p:spPr>
        <p:txBody>
          <a:bodyPr wrap="square">
            <a:spAutoFit/>
          </a:bodyPr>
          <a:lstStyle/>
          <a:p>
            <a:pPr algn="l"/>
            <a:r>
              <a:rPr sz="1600" b="1" i="0">
                <a:solidFill>
                  <a:srgbClr val="FFFFFF"/>
                </a:solidFill>
                <a:latin typeface="Calibri"/>
              </a:rPr>
              <a:t>Diagnosis</a:t>
            </a:r>
          </a:p>
        </p:txBody>
      </p:sp>
      <p:sp>
        <p:nvSpPr>
          <p:cNvPr id="39" name="TextBox 38"/>
          <p:cNvSpPr txBox="1"/>
          <p:nvPr/>
        </p:nvSpPr>
        <p:spPr>
          <a:xfrm>
            <a:off x="6217920" y="5413248"/>
            <a:ext cx="4114800" cy="274320"/>
          </a:xfrm>
          <a:prstGeom prst="rect">
            <a:avLst/>
          </a:prstGeom>
          <a:noFill/>
        </p:spPr>
        <p:txBody>
          <a:bodyPr wrap="square">
            <a:spAutoFit/>
          </a:bodyPr>
          <a:lstStyle/>
          <a:p>
            <a:pPr algn="l"/>
            <a:r>
              <a:rPr sz="1000" b="0" i="0">
                <a:solidFill>
                  <a:srgbClr val="8FD3AB"/>
                </a:solidFill>
                <a:latin typeface="Calibri"/>
              </a:rPr>
              <a:t>Disease prediction + Grad-CAM</a:t>
            </a:r>
          </a:p>
        </p:txBody>
      </p:sp>
      <p:pic>
        <p:nvPicPr>
          <p:cNvPr id="40" name="Picture 39" descr="00000013_003.png"/>
          <p:cNvPicPr>
            <a:picLocks noChangeAspect="1"/>
          </p:cNvPicPr>
          <p:nvPr/>
        </p:nvPicPr>
        <p:blipFill>
          <a:blip r:embed="rId2"/>
          <a:stretch>
            <a:fillRect/>
          </a:stretch>
        </p:blipFill>
        <p:spPr>
          <a:xfrm>
            <a:off x="10515600" y="4434840"/>
            <a:ext cx="1463040" cy="1463040"/>
          </a:xfrm>
          <a:prstGeom prst="rect">
            <a:avLst/>
          </a:prstGeom>
        </p:spPr>
      </p:pic>
      <p:sp>
        <p:nvSpPr>
          <p:cNvPr id="41" name="Rectangle 40"/>
          <p:cNvSpPr/>
          <p:nvPr/>
        </p:nvSpPr>
        <p:spPr>
          <a:xfrm>
            <a:off x="5577840" y="6126480"/>
            <a:ext cx="3200400" cy="457200"/>
          </a:xfrm>
          <a:prstGeom prst="roundRect">
            <a:avLst>
              <a:gd name="adj" fmla="val 0"/>
            </a:avLst>
          </a:prstGeom>
          <a:solidFill>
            <a:srgbClr val="1B6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77840" y="6144768"/>
            <a:ext cx="3200400" cy="420624"/>
          </a:xfrm>
          <a:prstGeom prst="rect">
            <a:avLst/>
          </a:prstGeom>
          <a:noFill/>
        </p:spPr>
        <p:txBody>
          <a:bodyPr wrap="square">
            <a:spAutoFit/>
          </a:bodyPr>
          <a:lstStyle/>
          <a:p>
            <a:pPr algn="ctr"/>
            <a:r>
              <a:rPr sz="900" b="0" i="0">
                <a:solidFill>
                  <a:srgbClr val="FFFFFF"/>
                </a:solidFill>
                <a:latin typeface="Calibri"/>
              </a:rPr>
              <a:t>NIH ChestX-ray14  •  14 Disease Classes  •  DenseNet121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9F6"/>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960120"/>
          </a:xfrm>
          <a:prstGeom prst="rect">
            <a:avLst/>
          </a:prstGeom>
          <a:solidFill>
            <a:srgbClr val="0F2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37160"/>
            <a:ext cx="8229600" cy="640080"/>
          </a:xfrm>
          <a:prstGeom prst="rect">
            <a:avLst/>
          </a:prstGeom>
          <a:noFill/>
        </p:spPr>
        <p:txBody>
          <a:bodyPr wrap="square">
            <a:spAutoFit/>
          </a:bodyPr>
          <a:lstStyle/>
          <a:p>
            <a:pPr algn="l"/>
            <a:r>
              <a:rPr sz="3000" b="1" i="0">
                <a:solidFill>
                  <a:srgbClr val="FFFFFF"/>
                </a:solidFill>
                <a:latin typeface="Calibri"/>
              </a:rPr>
              <a:t>The Problem We Are Solving</a:t>
            </a:r>
          </a:p>
        </p:txBody>
      </p:sp>
      <p:sp>
        <p:nvSpPr>
          <p:cNvPr id="5" name="TextBox 4"/>
          <p:cNvSpPr txBox="1"/>
          <p:nvPr/>
        </p:nvSpPr>
        <p:spPr>
          <a:xfrm>
            <a:off x="10515600" y="274320"/>
            <a:ext cx="1463040" cy="365760"/>
          </a:xfrm>
          <a:prstGeom prst="rect">
            <a:avLst/>
          </a:prstGeom>
          <a:noFill/>
        </p:spPr>
        <p:txBody>
          <a:bodyPr wrap="square">
            <a:spAutoFit/>
          </a:bodyPr>
          <a:lstStyle/>
          <a:p>
            <a:pPr algn="r"/>
            <a:r>
              <a:rPr sz="1000" b="0" i="0">
                <a:solidFill>
                  <a:srgbClr val="4DB683"/>
                </a:solidFill>
                <a:latin typeface="Calibri"/>
              </a:rPr>
              <a:t>SLIDE 02  /  07</a:t>
            </a:r>
          </a:p>
        </p:txBody>
      </p:sp>
      <p:sp>
        <p:nvSpPr>
          <p:cNvPr id="6" name="Rectangle 5"/>
          <p:cNvSpPr/>
          <p:nvPr/>
        </p:nvSpPr>
        <p:spPr>
          <a:xfrm>
            <a:off x="228600" y="1143000"/>
            <a:ext cx="4480560" cy="14630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252728"/>
            <a:ext cx="457200" cy="457200"/>
          </a:xfrm>
          <a:prstGeom prst="rect">
            <a:avLst/>
          </a:prstGeom>
          <a:noFill/>
        </p:spPr>
        <p:txBody>
          <a:bodyPr wrap="square">
            <a:spAutoFit/>
          </a:bodyPr>
          <a:lstStyle/>
          <a:p>
            <a:pPr algn="l"/>
            <a:r>
              <a:rPr sz="2200" b="0" i="0">
                <a:latin typeface="Calibri"/>
              </a:rPr>
              <a:t>📊</a:t>
            </a:r>
          </a:p>
        </p:txBody>
      </p:sp>
      <p:sp>
        <p:nvSpPr>
          <p:cNvPr id="8" name="TextBox 7"/>
          <p:cNvSpPr txBox="1"/>
          <p:nvPr/>
        </p:nvSpPr>
        <p:spPr>
          <a:xfrm>
            <a:off x="868680" y="1252728"/>
            <a:ext cx="3657600" cy="347472"/>
          </a:xfrm>
          <a:prstGeom prst="rect">
            <a:avLst/>
          </a:prstGeom>
          <a:noFill/>
        </p:spPr>
        <p:txBody>
          <a:bodyPr wrap="square">
            <a:spAutoFit/>
          </a:bodyPr>
          <a:lstStyle/>
          <a:p>
            <a:pPr algn="l"/>
            <a:r>
              <a:rPr sz="1400" b="1" i="0">
                <a:solidFill>
                  <a:srgbClr val="142621"/>
                </a:solidFill>
                <a:latin typeface="Calibri"/>
              </a:rPr>
              <a:t>Massive Data Demand</a:t>
            </a:r>
          </a:p>
        </p:txBody>
      </p:sp>
      <p:sp>
        <p:nvSpPr>
          <p:cNvPr id="9" name="TextBox 8"/>
          <p:cNvSpPr txBox="1"/>
          <p:nvPr/>
        </p:nvSpPr>
        <p:spPr>
          <a:xfrm>
            <a:off x="365760" y="1691640"/>
            <a:ext cx="4206240" cy="777240"/>
          </a:xfrm>
          <a:prstGeom prst="rect">
            <a:avLst/>
          </a:prstGeom>
          <a:noFill/>
        </p:spPr>
        <p:txBody>
          <a:bodyPr wrap="square">
            <a:spAutoFit/>
          </a:bodyPr>
          <a:lstStyle/>
          <a:p>
            <a:pPr algn="l"/>
            <a:r>
              <a:rPr sz="1100" b="0" i="0">
                <a:solidFill>
                  <a:srgbClr val="33473F"/>
                </a:solidFill>
                <a:latin typeface="Calibri"/>
              </a:rPr>
              <a:t>AI models for medical imaging need large, diverse datasets to generalize well.</a:t>
            </a:r>
          </a:p>
        </p:txBody>
      </p:sp>
      <p:sp>
        <p:nvSpPr>
          <p:cNvPr id="10" name="Rectangle 9"/>
          <p:cNvSpPr/>
          <p:nvPr/>
        </p:nvSpPr>
        <p:spPr>
          <a:xfrm>
            <a:off x="4892040" y="1143000"/>
            <a:ext cx="4480560" cy="14630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252728"/>
            <a:ext cx="457200" cy="457200"/>
          </a:xfrm>
          <a:prstGeom prst="rect">
            <a:avLst/>
          </a:prstGeom>
          <a:noFill/>
        </p:spPr>
        <p:txBody>
          <a:bodyPr wrap="square">
            <a:spAutoFit/>
          </a:bodyPr>
          <a:lstStyle/>
          <a:p>
            <a:pPr algn="l"/>
            <a:r>
              <a:rPr sz="2200" b="0" i="0">
                <a:latin typeface="Calibri"/>
              </a:rPr>
              <a:t>🔒</a:t>
            </a:r>
          </a:p>
        </p:txBody>
      </p:sp>
      <p:sp>
        <p:nvSpPr>
          <p:cNvPr id="12" name="TextBox 11"/>
          <p:cNvSpPr txBox="1"/>
          <p:nvPr/>
        </p:nvSpPr>
        <p:spPr>
          <a:xfrm>
            <a:off x="5532120" y="1252728"/>
            <a:ext cx="3657600" cy="347472"/>
          </a:xfrm>
          <a:prstGeom prst="rect">
            <a:avLst/>
          </a:prstGeom>
          <a:noFill/>
        </p:spPr>
        <p:txBody>
          <a:bodyPr wrap="square">
            <a:spAutoFit/>
          </a:bodyPr>
          <a:lstStyle/>
          <a:p>
            <a:pPr algn="l"/>
            <a:r>
              <a:rPr sz="1400" b="1" i="0">
                <a:solidFill>
                  <a:srgbClr val="142621"/>
                </a:solidFill>
                <a:latin typeface="Calibri"/>
              </a:rPr>
              <a:t>Patient Privacy</a:t>
            </a:r>
          </a:p>
        </p:txBody>
      </p:sp>
      <p:sp>
        <p:nvSpPr>
          <p:cNvPr id="13" name="TextBox 12"/>
          <p:cNvSpPr txBox="1"/>
          <p:nvPr/>
        </p:nvSpPr>
        <p:spPr>
          <a:xfrm>
            <a:off x="5029200" y="1691640"/>
            <a:ext cx="4206240" cy="777240"/>
          </a:xfrm>
          <a:prstGeom prst="rect">
            <a:avLst/>
          </a:prstGeom>
          <a:noFill/>
        </p:spPr>
        <p:txBody>
          <a:bodyPr wrap="square">
            <a:spAutoFit/>
          </a:bodyPr>
          <a:lstStyle/>
          <a:p>
            <a:pPr algn="l"/>
            <a:r>
              <a:rPr sz="1100" b="0" i="0">
                <a:solidFill>
                  <a:srgbClr val="33473F"/>
                </a:solidFill>
                <a:latin typeface="Calibri"/>
              </a:rPr>
              <a:t>Medical X-ray images are highly sensitive — they cannot be freely shared.</a:t>
            </a:r>
          </a:p>
        </p:txBody>
      </p:sp>
      <p:sp>
        <p:nvSpPr>
          <p:cNvPr id="14" name="Rectangle 13"/>
          <p:cNvSpPr/>
          <p:nvPr/>
        </p:nvSpPr>
        <p:spPr>
          <a:xfrm>
            <a:off x="228600" y="2743200"/>
            <a:ext cx="4480560" cy="14630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852928"/>
            <a:ext cx="457200" cy="457200"/>
          </a:xfrm>
          <a:prstGeom prst="rect">
            <a:avLst/>
          </a:prstGeom>
          <a:noFill/>
        </p:spPr>
        <p:txBody>
          <a:bodyPr wrap="square">
            <a:spAutoFit/>
          </a:bodyPr>
          <a:lstStyle/>
          <a:p>
            <a:pPr algn="l"/>
            <a:r>
              <a:rPr sz="2200" b="0" i="0">
                <a:latin typeface="Calibri"/>
              </a:rPr>
              <a:t>🏥</a:t>
            </a:r>
          </a:p>
        </p:txBody>
      </p:sp>
      <p:sp>
        <p:nvSpPr>
          <p:cNvPr id="16" name="TextBox 15"/>
          <p:cNvSpPr txBox="1"/>
          <p:nvPr/>
        </p:nvSpPr>
        <p:spPr>
          <a:xfrm>
            <a:off x="868680" y="2852928"/>
            <a:ext cx="3657600" cy="347472"/>
          </a:xfrm>
          <a:prstGeom prst="rect">
            <a:avLst/>
          </a:prstGeom>
          <a:noFill/>
        </p:spPr>
        <p:txBody>
          <a:bodyPr wrap="square">
            <a:spAutoFit/>
          </a:bodyPr>
          <a:lstStyle/>
          <a:p>
            <a:pPr algn="l"/>
            <a:r>
              <a:rPr sz="1400" b="1" i="0">
                <a:solidFill>
                  <a:srgbClr val="142621"/>
                </a:solidFill>
                <a:latin typeface="Calibri"/>
              </a:rPr>
              <a:t>Institutional Silos</a:t>
            </a:r>
          </a:p>
        </p:txBody>
      </p:sp>
      <p:sp>
        <p:nvSpPr>
          <p:cNvPr id="17" name="TextBox 16"/>
          <p:cNvSpPr txBox="1"/>
          <p:nvPr/>
        </p:nvSpPr>
        <p:spPr>
          <a:xfrm>
            <a:off x="365760" y="3291840"/>
            <a:ext cx="4206240" cy="777240"/>
          </a:xfrm>
          <a:prstGeom prst="rect">
            <a:avLst/>
          </a:prstGeom>
          <a:noFill/>
        </p:spPr>
        <p:txBody>
          <a:bodyPr wrap="square">
            <a:spAutoFit/>
          </a:bodyPr>
          <a:lstStyle/>
          <a:p>
            <a:pPr algn="l"/>
            <a:r>
              <a:rPr sz="1100" b="0" i="0">
                <a:solidFill>
                  <a:srgbClr val="33473F"/>
                </a:solidFill>
                <a:latin typeface="Calibri"/>
              </a:rPr>
              <a:t>Individual hospitals may not have enough data to train strong models alone.</a:t>
            </a:r>
          </a:p>
        </p:txBody>
      </p:sp>
      <p:sp>
        <p:nvSpPr>
          <p:cNvPr id="18" name="Rectangle 17"/>
          <p:cNvSpPr/>
          <p:nvPr/>
        </p:nvSpPr>
        <p:spPr>
          <a:xfrm>
            <a:off x="4892040" y="2743200"/>
            <a:ext cx="4480560" cy="14630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2852928"/>
            <a:ext cx="457200" cy="457200"/>
          </a:xfrm>
          <a:prstGeom prst="rect">
            <a:avLst/>
          </a:prstGeom>
          <a:noFill/>
        </p:spPr>
        <p:txBody>
          <a:bodyPr wrap="square">
            <a:spAutoFit/>
          </a:bodyPr>
          <a:lstStyle/>
          <a:p>
            <a:pPr algn="l"/>
            <a:r>
              <a:rPr sz="2200" b="0" i="0">
                <a:latin typeface="Calibri"/>
              </a:rPr>
              <a:t>⚠️</a:t>
            </a:r>
          </a:p>
        </p:txBody>
      </p:sp>
      <p:sp>
        <p:nvSpPr>
          <p:cNvPr id="20" name="TextBox 19"/>
          <p:cNvSpPr txBox="1"/>
          <p:nvPr/>
        </p:nvSpPr>
        <p:spPr>
          <a:xfrm>
            <a:off x="5532120" y="2852928"/>
            <a:ext cx="3657600" cy="347472"/>
          </a:xfrm>
          <a:prstGeom prst="rect">
            <a:avLst/>
          </a:prstGeom>
          <a:noFill/>
        </p:spPr>
        <p:txBody>
          <a:bodyPr wrap="square">
            <a:spAutoFit/>
          </a:bodyPr>
          <a:lstStyle/>
          <a:p>
            <a:pPr algn="l"/>
            <a:r>
              <a:rPr sz="1400" b="1" i="0">
                <a:solidFill>
                  <a:srgbClr val="142621"/>
                </a:solidFill>
                <a:latin typeface="Calibri"/>
              </a:rPr>
              <a:t>Centralization Risk</a:t>
            </a:r>
          </a:p>
        </p:txBody>
      </p:sp>
      <p:sp>
        <p:nvSpPr>
          <p:cNvPr id="21" name="TextBox 20"/>
          <p:cNvSpPr txBox="1"/>
          <p:nvPr/>
        </p:nvSpPr>
        <p:spPr>
          <a:xfrm>
            <a:off x="5029200" y="3291840"/>
            <a:ext cx="4206240" cy="777240"/>
          </a:xfrm>
          <a:prstGeom prst="rect">
            <a:avLst/>
          </a:prstGeom>
          <a:noFill/>
        </p:spPr>
        <p:txBody>
          <a:bodyPr wrap="square">
            <a:spAutoFit/>
          </a:bodyPr>
          <a:lstStyle/>
          <a:p>
            <a:pPr algn="l"/>
            <a:r>
              <a:rPr sz="1100" b="0" i="0">
                <a:solidFill>
                  <a:srgbClr val="33473F"/>
                </a:solidFill>
                <a:latin typeface="Calibri"/>
              </a:rPr>
              <a:t>Centralizing raw medical data creates critical privacy and security vulnerabilities.</a:t>
            </a:r>
          </a:p>
        </p:txBody>
      </p:sp>
      <p:sp>
        <p:nvSpPr>
          <p:cNvPr id="22" name="TextBox 21"/>
          <p:cNvSpPr txBox="1"/>
          <p:nvPr/>
        </p:nvSpPr>
        <p:spPr>
          <a:xfrm>
            <a:off x="9509760" y="1188720"/>
            <a:ext cx="2468880" cy="274320"/>
          </a:xfrm>
          <a:prstGeom prst="rect">
            <a:avLst/>
          </a:prstGeom>
          <a:noFill/>
        </p:spPr>
        <p:txBody>
          <a:bodyPr wrap="square">
            <a:spAutoFit/>
          </a:bodyPr>
          <a:lstStyle/>
          <a:p>
            <a:pPr algn="ctr"/>
            <a:r>
              <a:rPr sz="1000" b="1" i="0">
                <a:solidFill>
                  <a:srgbClr val="64796F"/>
                </a:solidFill>
                <a:latin typeface="Calibri"/>
              </a:rPr>
              <a:t>Local Data (Siloed)</a:t>
            </a:r>
          </a:p>
        </p:txBody>
      </p:sp>
      <p:sp>
        <p:nvSpPr>
          <p:cNvPr id="23" name="Rectangle 22"/>
          <p:cNvSpPr/>
          <p:nvPr/>
        </p:nvSpPr>
        <p:spPr>
          <a:xfrm>
            <a:off x="9509760" y="1554480"/>
            <a:ext cx="2468880" cy="47548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0" y="1645920"/>
            <a:ext cx="2468880" cy="320040"/>
          </a:xfrm>
          <a:prstGeom prst="rect">
            <a:avLst/>
          </a:prstGeom>
          <a:noFill/>
        </p:spPr>
        <p:txBody>
          <a:bodyPr wrap="square">
            <a:spAutoFit/>
          </a:bodyPr>
          <a:lstStyle/>
          <a:p>
            <a:pPr algn="ctr"/>
            <a:r>
              <a:rPr sz="1300" b="1" i="0">
                <a:solidFill>
                  <a:srgbClr val="FFFFFF"/>
                </a:solidFill>
                <a:latin typeface="Calibri"/>
              </a:rPr>
              <a:t>Hospital A</a:t>
            </a:r>
          </a:p>
        </p:txBody>
      </p:sp>
      <p:sp>
        <p:nvSpPr>
          <p:cNvPr id="25" name="Rectangle 24"/>
          <p:cNvSpPr/>
          <p:nvPr/>
        </p:nvSpPr>
        <p:spPr>
          <a:xfrm>
            <a:off x="9509760" y="2148840"/>
            <a:ext cx="2468880" cy="475488"/>
          </a:xfrm>
          <a:prstGeom prst="roundRect">
            <a:avLst>
              <a:gd name="adj" fmla="val 0"/>
            </a:avLst>
          </a:prstGeom>
          <a:solidFill>
            <a:srgbClr val="6FC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09760" y="2240280"/>
            <a:ext cx="2468880" cy="320040"/>
          </a:xfrm>
          <a:prstGeom prst="rect">
            <a:avLst/>
          </a:prstGeom>
          <a:noFill/>
        </p:spPr>
        <p:txBody>
          <a:bodyPr wrap="square">
            <a:spAutoFit/>
          </a:bodyPr>
          <a:lstStyle/>
          <a:p>
            <a:pPr algn="ctr"/>
            <a:r>
              <a:rPr sz="1300" b="1" i="0">
                <a:solidFill>
                  <a:srgbClr val="FFFFFF"/>
                </a:solidFill>
                <a:latin typeface="Calibri"/>
              </a:rPr>
              <a:t>Hospital B</a:t>
            </a:r>
          </a:p>
        </p:txBody>
      </p:sp>
      <p:sp>
        <p:nvSpPr>
          <p:cNvPr id="27" name="Rectangle 26"/>
          <p:cNvSpPr/>
          <p:nvPr/>
        </p:nvSpPr>
        <p:spPr>
          <a:xfrm>
            <a:off x="9509760" y="2743200"/>
            <a:ext cx="2468880" cy="475488"/>
          </a:xfrm>
          <a:prstGeom prst="roundRect">
            <a:avLst>
              <a:gd name="adj" fmla="val 0"/>
            </a:avLst>
          </a:prstGeom>
          <a:solidFill>
            <a:srgbClr val="3F7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509760" y="2834640"/>
            <a:ext cx="2468880" cy="320040"/>
          </a:xfrm>
          <a:prstGeom prst="rect">
            <a:avLst/>
          </a:prstGeom>
          <a:noFill/>
        </p:spPr>
        <p:txBody>
          <a:bodyPr wrap="square">
            <a:spAutoFit/>
          </a:bodyPr>
          <a:lstStyle/>
          <a:p>
            <a:pPr algn="ctr"/>
            <a:r>
              <a:rPr sz="1300" b="1" i="0">
                <a:solidFill>
                  <a:srgbClr val="FFFFFF"/>
                </a:solidFill>
                <a:latin typeface="Calibri"/>
              </a:rPr>
              <a:t>Hospital C</a:t>
            </a:r>
          </a:p>
        </p:txBody>
      </p:sp>
      <p:sp>
        <p:nvSpPr>
          <p:cNvPr id="29" name="Rectangle 28"/>
          <p:cNvSpPr/>
          <p:nvPr/>
        </p:nvSpPr>
        <p:spPr>
          <a:xfrm>
            <a:off x="9509760" y="3337560"/>
            <a:ext cx="2468880" cy="475488"/>
          </a:xfrm>
          <a:prstGeom prst="roundRect">
            <a:avLst>
              <a:gd name="adj" fmla="val 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09760" y="3429000"/>
            <a:ext cx="2468880" cy="320040"/>
          </a:xfrm>
          <a:prstGeom prst="rect">
            <a:avLst/>
          </a:prstGeom>
          <a:noFill/>
        </p:spPr>
        <p:txBody>
          <a:bodyPr wrap="square">
            <a:spAutoFit/>
          </a:bodyPr>
          <a:lstStyle/>
          <a:p>
            <a:pPr algn="ctr"/>
            <a:r>
              <a:rPr sz="1300" b="1" i="0">
                <a:solidFill>
                  <a:srgbClr val="FFFFFF"/>
                </a:solidFill>
                <a:latin typeface="Calibri"/>
              </a:rPr>
              <a:t>Hospital D</a:t>
            </a:r>
          </a:p>
        </p:txBody>
      </p:sp>
      <p:sp>
        <p:nvSpPr>
          <p:cNvPr id="31" name="TextBox 30"/>
          <p:cNvSpPr txBox="1"/>
          <p:nvPr/>
        </p:nvSpPr>
        <p:spPr>
          <a:xfrm>
            <a:off x="10332720" y="4023360"/>
            <a:ext cx="914400" cy="365760"/>
          </a:xfrm>
          <a:prstGeom prst="rect">
            <a:avLst/>
          </a:prstGeom>
          <a:noFill/>
        </p:spPr>
        <p:txBody>
          <a:bodyPr wrap="square">
            <a:spAutoFit/>
          </a:bodyPr>
          <a:lstStyle/>
          <a:p>
            <a:pPr algn="ctr"/>
            <a:r>
              <a:rPr sz="2000" b="0" i="0">
                <a:solidFill>
                  <a:srgbClr val="D64545"/>
                </a:solidFill>
                <a:latin typeface="Calibri"/>
              </a:rPr>
              <a:t>↓</a:t>
            </a:r>
          </a:p>
        </p:txBody>
      </p:sp>
      <p:sp>
        <p:nvSpPr>
          <p:cNvPr id="32" name="Rectangle 31"/>
          <p:cNvSpPr/>
          <p:nvPr/>
        </p:nvSpPr>
        <p:spPr>
          <a:xfrm>
            <a:off x="9509760" y="4434840"/>
            <a:ext cx="2468880" cy="502920"/>
          </a:xfrm>
          <a:prstGeom prst="roundRect">
            <a:avLst>
              <a:gd name="adj" fmla="val 0"/>
            </a:avLst>
          </a:prstGeom>
          <a:solidFill>
            <a:srgbClr val="D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09760" y="4480560"/>
            <a:ext cx="2468880" cy="384048"/>
          </a:xfrm>
          <a:prstGeom prst="rect">
            <a:avLst/>
          </a:prstGeom>
          <a:noFill/>
        </p:spPr>
        <p:txBody>
          <a:bodyPr wrap="square">
            <a:spAutoFit/>
          </a:bodyPr>
          <a:lstStyle/>
          <a:p>
            <a:pPr algn="ctr"/>
            <a:r>
              <a:rPr sz="1200" b="1" i="0">
                <a:solidFill>
                  <a:srgbClr val="FFFFFF"/>
                </a:solidFill>
                <a:latin typeface="Calibri"/>
              </a:rPr>
              <a:t>Privacy Barrier</a:t>
            </a:r>
          </a:p>
        </p:txBody>
      </p:sp>
      <p:sp>
        <p:nvSpPr>
          <p:cNvPr id="34" name="Rectangle 33"/>
          <p:cNvSpPr/>
          <p:nvPr/>
        </p:nvSpPr>
        <p:spPr>
          <a:xfrm>
            <a:off x="228600" y="5989320"/>
            <a:ext cx="9144000" cy="640080"/>
          </a:xfrm>
          <a:prstGeom prst="roundRect">
            <a:avLst>
              <a:gd name="adj" fmla="val 0"/>
            </a:avLst>
          </a:prstGeom>
          <a:solidFill>
            <a:srgbClr val="0F2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0040" y="6035040"/>
            <a:ext cx="8961120" cy="548640"/>
          </a:xfrm>
          <a:prstGeom prst="rect">
            <a:avLst/>
          </a:prstGeom>
          <a:noFill/>
        </p:spPr>
        <p:txBody>
          <a:bodyPr wrap="square">
            <a:spAutoFit/>
          </a:bodyPr>
          <a:lstStyle/>
          <a:p>
            <a:pPr algn="ctr"/>
            <a:r>
              <a:rPr sz="1500" b="1" i="1">
                <a:solidFill>
                  <a:srgbClr val="8FD3AB"/>
                </a:solidFill>
                <a:latin typeface="Calibri"/>
              </a:rPr>
              <a:t>"Can hospitals collaborate to build better AI without sharing raw medical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9F6"/>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E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09728"/>
            <a:ext cx="11430000" cy="731520"/>
          </a:xfrm>
          <a:prstGeom prst="rect">
            <a:avLst/>
          </a:prstGeom>
          <a:noFill/>
        </p:spPr>
        <p:txBody>
          <a:bodyPr wrap="square">
            <a:spAutoFit/>
          </a:bodyPr>
          <a:lstStyle/>
          <a:p>
            <a:pPr algn="l"/>
            <a:r>
              <a:rPr sz="2400" b="1" i="0">
                <a:solidFill>
                  <a:srgbClr val="FFFFFF"/>
                </a:solidFill>
                <a:latin typeface="Calibri"/>
              </a:rPr>
              <a:t>FedMed AI: Collaborative Intelligence Without Centralizing Data</a:t>
            </a:r>
          </a:p>
        </p:txBody>
      </p:sp>
      <p:sp>
        <p:nvSpPr>
          <p:cNvPr id="4" name="TextBox 3"/>
          <p:cNvSpPr txBox="1"/>
          <p:nvPr/>
        </p:nvSpPr>
        <p:spPr>
          <a:xfrm>
            <a:off x="10515600" y="274320"/>
            <a:ext cx="1463040" cy="365760"/>
          </a:xfrm>
          <a:prstGeom prst="rect">
            <a:avLst/>
          </a:prstGeom>
          <a:noFill/>
        </p:spPr>
        <p:txBody>
          <a:bodyPr wrap="square">
            <a:spAutoFit/>
          </a:bodyPr>
          <a:lstStyle/>
          <a:p>
            <a:pPr algn="r"/>
            <a:r>
              <a:rPr sz="1000" b="0" i="0">
                <a:solidFill>
                  <a:srgbClr val="4DB683"/>
                </a:solidFill>
                <a:latin typeface="Calibri"/>
              </a:rPr>
              <a:t>SLIDE 03  /  07</a:t>
            </a:r>
          </a:p>
        </p:txBody>
      </p:sp>
      <p:sp>
        <p:nvSpPr>
          <p:cNvPr id="5" name="Rectangle 4"/>
          <p:cNvSpPr/>
          <p:nvPr/>
        </p:nvSpPr>
        <p:spPr>
          <a:xfrm>
            <a:off x="0" y="0"/>
            <a:ext cx="73152" cy="68580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097280"/>
            <a:ext cx="2286000" cy="137160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097280"/>
            <a:ext cx="2286000" cy="164592"/>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280160"/>
            <a:ext cx="640080" cy="457200"/>
          </a:xfrm>
          <a:prstGeom prst="rect">
            <a:avLst/>
          </a:prstGeom>
          <a:noFill/>
        </p:spPr>
        <p:txBody>
          <a:bodyPr wrap="square">
            <a:spAutoFit/>
          </a:bodyPr>
          <a:lstStyle/>
          <a:p>
            <a:pPr algn="l"/>
            <a:r>
              <a:rPr sz="2200" b="0" i="0">
                <a:latin typeface="Calibri"/>
              </a:rPr>
              <a:t>🏥</a:t>
            </a:r>
          </a:p>
        </p:txBody>
      </p:sp>
      <p:sp>
        <p:nvSpPr>
          <p:cNvPr id="9" name="TextBox 8"/>
          <p:cNvSpPr txBox="1"/>
          <p:nvPr/>
        </p:nvSpPr>
        <p:spPr>
          <a:xfrm>
            <a:off x="228600" y="1755648"/>
            <a:ext cx="2286000" cy="292608"/>
          </a:xfrm>
          <a:prstGeom prst="rect">
            <a:avLst/>
          </a:prstGeom>
          <a:noFill/>
        </p:spPr>
        <p:txBody>
          <a:bodyPr wrap="square">
            <a:spAutoFit/>
          </a:bodyPr>
          <a:lstStyle/>
          <a:p>
            <a:pPr algn="ctr"/>
            <a:r>
              <a:rPr sz="1300" b="1" i="0">
                <a:solidFill>
                  <a:srgbClr val="142621"/>
                </a:solidFill>
                <a:latin typeface="Calibri"/>
              </a:rPr>
              <a:t>Hospital A</a:t>
            </a:r>
          </a:p>
        </p:txBody>
      </p:sp>
      <p:sp>
        <p:nvSpPr>
          <p:cNvPr id="10" name="TextBox 9"/>
          <p:cNvSpPr txBox="1"/>
          <p:nvPr/>
        </p:nvSpPr>
        <p:spPr>
          <a:xfrm>
            <a:off x="228600" y="2029968"/>
            <a:ext cx="2286000" cy="228600"/>
          </a:xfrm>
          <a:prstGeom prst="rect">
            <a:avLst/>
          </a:prstGeom>
          <a:noFill/>
        </p:spPr>
        <p:txBody>
          <a:bodyPr wrap="square">
            <a:spAutoFit/>
          </a:bodyPr>
          <a:lstStyle/>
          <a:p>
            <a:pPr algn="ctr"/>
            <a:r>
              <a:rPr sz="900" b="0" i="0">
                <a:solidFill>
                  <a:srgbClr val="64796F"/>
                </a:solidFill>
                <a:latin typeface="Calibri"/>
              </a:rPr>
              <a:t>Local X-ray Data</a:t>
            </a:r>
          </a:p>
        </p:txBody>
      </p:sp>
      <p:sp>
        <p:nvSpPr>
          <p:cNvPr id="11" name="TextBox 10"/>
          <p:cNvSpPr txBox="1"/>
          <p:nvPr/>
        </p:nvSpPr>
        <p:spPr>
          <a:xfrm>
            <a:off x="228600" y="2240280"/>
            <a:ext cx="2286000" cy="201168"/>
          </a:xfrm>
          <a:prstGeom prst="rect">
            <a:avLst/>
          </a:prstGeom>
          <a:noFill/>
        </p:spPr>
        <p:txBody>
          <a:bodyPr wrap="square">
            <a:spAutoFit/>
          </a:bodyPr>
          <a:lstStyle/>
          <a:p>
            <a:pPr algn="ctr"/>
            <a:r>
              <a:rPr sz="900" b="1" i="0">
                <a:solidFill>
                  <a:srgbClr val="2F9E68"/>
                </a:solidFill>
                <a:latin typeface="Calibri"/>
              </a:rPr>
              <a:t>Local Training</a:t>
            </a:r>
          </a:p>
        </p:txBody>
      </p:sp>
      <p:sp>
        <p:nvSpPr>
          <p:cNvPr id="12" name="TextBox 11"/>
          <p:cNvSpPr txBox="1"/>
          <p:nvPr/>
        </p:nvSpPr>
        <p:spPr>
          <a:xfrm>
            <a:off x="1280160" y="2468880"/>
            <a:ext cx="274320" cy="320040"/>
          </a:xfrm>
          <a:prstGeom prst="rect">
            <a:avLst/>
          </a:prstGeom>
          <a:noFill/>
        </p:spPr>
        <p:txBody>
          <a:bodyPr wrap="square">
            <a:spAutoFit/>
          </a:bodyPr>
          <a:lstStyle/>
          <a:p>
            <a:pPr algn="ctr"/>
            <a:r>
              <a:rPr sz="1600" b="0" i="0">
                <a:solidFill>
                  <a:srgbClr val="64796F"/>
                </a:solidFill>
                <a:latin typeface="Calibri"/>
              </a:rPr>
              <a:t>↓</a:t>
            </a:r>
          </a:p>
        </p:txBody>
      </p:sp>
      <p:sp>
        <p:nvSpPr>
          <p:cNvPr id="13" name="Rectangle 12"/>
          <p:cNvSpPr/>
          <p:nvPr/>
        </p:nvSpPr>
        <p:spPr>
          <a:xfrm>
            <a:off x="2651760" y="1097280"/>
            <a:ext cx="2286000" cy="137160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651760" y="1097280"/>
            <a:ext cx="2286000" cy="164592"/>
          </a:xfrm>
          <a:prstGeom prst="roundRect">
            <a:avLst>
              <a:gd name="adj" fmla="val 0"/>
            </a:avLst>
          </a:prstGeom>
          <a:solidFill>
            <a:srgbClr val="6FC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74720" y="1280160"/>
            <a:ext cx="640080" cy="457200"/>
          </a:xfrm>
          <a:prstGeom prst="rect">
            <a:avLst/>
          </a:prstGeom>
          <a:noFill/>
        </p:spPr>
        <p:txBody>
          <a:bodyPr wrap="square">
            <a:spAutoFit/>
          </a:bodyPr>
          <a:lstStyle/>
          <a:p>
            <a:pPr algn="l"/>
            <a:r>
              <a:rPr sz="2200" b="0" i="0">
                <a:latin typeface="Calibri"/>
              </a:rPr>
              <a:t>🏥</a:t>
            </a:r>
          </a:p>
        </p:txBody>
      </p:sp>
      <p:sp>
        <p:nvSpPr>
          <p:cNvPr id="16" name="TextBox 15"/>
          <p:cNvSpPr txBox="1"/>
          <p:nvPr/>
        </p:nvSpPr>
        <p:spPr>
          <a:xfrm>
            <a:off x="2651760" y="1755648"/>
            <a:ext cx="2286000" cy="292608"/>
          </a:xfrm>
          <a:prstGeom prst="rect">
            <a:avLst/>
          </a:prstGeom>
          <a:noFill/>
        </p:spPr>
        <p:txBody>
          <a:bodyPr wrap="square">
            <a:spAutoFit/>
          </a:bodyPr>
          <a:lstStyle/>
          <a:p>
            <a:pPr algn="ctr"/>
            <a:r>
              <a:rPr sz="1300" b="1" i="0">
                <a:solidFill>
                  <a:srgbClr val="142621"/>
                </a:solidFill>
                <a:latin typeface="Calibri"/>
              </a:rPr>
              <a:t>Hospital B</a:t>
            </a:r>
          </a:p>
        </p:txBody>
      </p:sp>
      <p:sp>
        <p:nvSpPr>
          <p:cNvPr id="17" name="TextBox 16"/>
          <p:cNvSpPr txBox="1"/>
          <p:nvPr/>
        </p:nvSpPr>
        <p:spPr>
          <a:xfrm>
            <a:off x="2651760" y="2029968"/>
            <a:ext cx="2286000" cy="228600"/>
          </a:xfrm>
          <a:prstGeom prst="rect">
            <a:avLst/>
          </a:prstGeom>
          <a:noFill/>
        </p:spPr>
        <p:txBody>
          <a:bodyPr wrap="square">
            <a:spAutoFit/>
          </a:bodyPr>
          <a:lstStyle/>
          <a:p>
            <a:pPr algn="ctr"/>
            <a:r>
              <a:rPr sz="900" b="0" i="0">
                <a:solidFill>
                  <a:srgbClr val="64796F"/>
                </a:solidFill>
                <a:latin typeface="Calibri"/>
              </a:rPr>
              <a:t>Local X-ray Data</a:t>
            </a:r>
          </a:p>
        </p:txBody>
      </p:sp>
      <p:sp>
        <p:nvSpPr>
          <p:cNvPr id="18" name="TextBox 17"/>
          <p:cNvSpPr txBox="1"/>
          <p:nvPr/>
        </p:nvSpPr>
        <p:spPr>
          <a:xfrm>
            <a:off x="2651760" y="2240280"/>
            <a:ext cx="2286000" cy="201168"/>
          </a:xfrm>
          <a:prstGeom prst="rect">
            <a:avLst/>
          </a:prstGeom>
          <a:noFill/>
        </p:spPr>
        <p:txBody>
          <a:bodyPr wrap="square">
            <a:spAutoFit/>
          </a:bodyPr>
          <a:lstStyle/>
          <a:p>
            <a:pPr algn="ctr"/>
            <a:r>
              <a:rPr sz="900" b="1" i="0">
                <a:solidFill>
                  <a:srgbClr val="6FC8A8"/>
                </a:solidFill>
                <a:latin typeface="Calibri"/>
              </a:rPr>
              <a:t>Local Training</a:t>
            </a:r>
          </a:p>
        </p:txBody>
      </p:sp>
      <p:sp>
        <p:nvSpPr>
          <p:cNvPr id="19" name="TextBox 18"/>
          <p:cNvSpPr txBox="1"/>
          <p:nvPr/>
        </p:nvSpPr>
        <p:spPr>
          <a:xfrm>
            <a:off x="3703320" y="2468880"/>
            <a:ext cx="274320" cy="320040"/>
          </a:xfrm>
          <a:prstGeom prst="rect">
            <a:avLst/>
          </a:prstGeom>
          <a:noFill/>
        </p:spPr>
        <p:txBody>
          <a:bodyPr wrap="square">
            <a:spAutoFit/>
          </a:bodyPr>
          <a:lstStyle/>
          <a:p>
            <a:pPr algn="ctr"/>
            <a:r>
              <a:rPr sz="1600" b="0" i="0">
                <a:solidFill>
                  <a:srgbClr val="64796F"/>
                </a:solidFill>
                <a:latin typeface="Calibri"/>
              </a:rPr>
              <a:t>↓</a:t>
            </a:r>
          </a:p>
        </p:txBody>
      </p:sp>
      <p:sp>
        <p:nvSpPr>
          <p:cNvPr id="20" name="Rectangle 19"/>
          <p:cNvSpPr/>
          <p:nvPr/>
        </p:nvSpPr>
        <p:spPr>
          <a:xfrm>
            <a:off x="5074920" y="1097280"/>
            <a:ext cx="2286000" cy="137160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74920" y="1097280"/>
            <a:ext cx="2286000" cy="164592"/>
          </a:xfrm>
          <a:prstGeom prst="roundRect">
            <a:avLst>
              <a:gd name="adj" fmla="val 0"/>
            </a:avLst>
          </a:prstGeom>
          <a:solidFill>
            <a:srgbClr val="3F7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97880" y="1280160"/>
            <a:ext cx="640080" cy="457200"/>
          </a:xfrm>
          <a:prstGeom prst="rect">
            <a:avLst/>
          </a:prstGeom>
          <a:noFill/>
        </p:spPr>
        <p:txBody>
          <a:bodyPr wrap="square">
            <a:spAutoFit/>
          </a:bodyPr>
          <a:lstStyle/>
          <a:p>
            <a:pPr algn="l"/>
            <a:r>
              <a:rPr sz="2200" b="0" i="0">
                <a:latin typeface="Calibri"/>
              </a:rPr>
              <a:t>🏥</a:t>
            </a:r>
          </a:p>
        </p:txBody>
      </p:sp>
      <p:sp>
        <p:nvSpPr>
          <p:cNvPr id="23" name="TextBox 22"/>
          <p:cNvSpPr txBox="1"/>
          <p:nvPr/>
        </p:nvSpPr>
        <p:spPr>
          <a:xfrm>
            <a:off x="5074920" y="1755648"/>
            <a:ext cx="2286000" cy="292608"/>
          </a:xfrm>
          <a:prstGeom prst="rect">
            <a:avLst/>
          </a:prstGeom>
          <a:noFill/>
        </p:spPr>
        <p:txBody>
          <a:bodyPr wrap="square">
            <a:spAutoFit/>
          </a:bodyPr>
          <a:lstStyle/>
          <a:p>
            <a:pPr algn="ctr"/>
            <a:r>
              <a:rPr sz="1300" b="1" i="0">
                <a:solidFill>
                  <a:srgbClr val="142621"/>
                </a:solidFill>
                <a:latin typeface="Calibri"/>
              </a:rPr>
              <a:t>Hospital C</a:t>
            </a:r>
          </a:p>
        </p:txBody>
      </p:sp>
      <p:sp>
        <p:nvSpPr>
          <p:cNvPr id="24" name="TextBox 23"/>
          <p:cNvSpPr txBox="1"/>
          <p:nvPr/>
        </p:nvSpPr>
        <p:spPr>
          <a:xfrm>
            <a:off x="5074920" y="2029968"/>
            <a:ext cx="2286000" cy="228600"/>
          </a:xfrm>
          <a:prstGeom prst="rect">
            <a:avLst/>
          </a:prstGeom>
          <a:noFill/>
        </p:spPr>
        <p:txBody>
          <a:bodyPr wrap="square">
            <a:spAutoFit/>
          </a:bodyPr>
          <a:lstStyle/>
          <a:p>
            <a:pPr algn="ctr"/>
            <a:r>
              <a:rPr sz="900" b="0" i="0">
                <a:solidFill>
                  <a:srgbClr val="64796F"/>
                </a:solidFill>
                <a:latin typeface="Calibri"/>
              </a:rPr>
              <a:t>Local X-ray Data</a:t>
            </a:r>
          </a:p>
        </p:txBody>
      </p:sp>
      <p:sp>
        <p:nvSpPr>
          <p:cNvPr id="25" name="TextBox 24"/>
          <p:cNvSpPr txBox="1"/>
          <p:nvPr/>
        </p:nvSpPr>
        <p:spPr>
          <a:xfrm>
            <a:off x="5074920" y="2240280"/>
            <a:ext cx="2286000" cy="201168"/>
          </a:xfrm>
          <a:prstGeom prst="rect">
            <a:avLst/>
          </a:prstGeom>
          <a:noFill/>
        </p:spPr>
        <p:txBody>
          <a:bodyPr wrap="square">
            <a:spAutoFit/>
          </a:bodyPr>
          <a:lstStyle/>
          <a:p>
            <a:pPr algn="ctr"/>
            <a:r>
              <a:rPr sz="900" b="1" i="0">
                <a:solidFill>
                  <a:srgbClr val="3F7FD9"/>
                </a:solidFill>
                <a:latin typeface="Calibri"/>
              </a:rPr>
              <a:t>Local Training</a:t>
            </a:r>
          </a:p>
        </p:txBody>
      </p:sp>
      <p:sp>
        <p:nvSpPr>
          <p:cNvPr id="26" name="TextBox 25"/>
          <p:cNvSpPr txBox="1"/>
          <p:nvPr/>
        </p:nvSpPr>
        <p:spPr>
          <a:xfrm>
            <a:off x="6126480" y="2468880"/>
            <a:ext cx="274320" cy="320040"/>
          </a:xfrm>
          <a:prstGeom prst="rect">
            <a:avLst/>
          </a:prstGeom>
          <a:noFill/>
        </p:spPr>
        <p:txBody>
          <a:bodyPr wrap="square">
            <a:spAutoFit/>
          </a:bodyPr>
          <a:lstStyle/>
          <a:p>
            <a:pPr algn="ctr"/>
            <a:r>
              <a:rPr sz="1600" b="0" i="0">
                <a:solidFill>
                  <a:srgbClr val="64796F"/>
                </a:solidFill>
                <a:latin typeface="Calibri"/>
              </a:rPr>
              <a:t>↓</a:t>
            </a:r>
          </a:p>
        </p:txBody>
      </p:sp>
      <p:sp>
        <p:nvSpPr>
          <p:cNvPr id="27" name="Rectangle 26"/>
          <p:cNvSpPr/>
          <p:nvPr/>
        </p:nvSpPr>
        <p:spPr>
          <a:xfrm>
            <a:off x="7498079" y="1097280"/>
            <a:ext cx="2286000" cy="137160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498079" y="1097280"/>
            <a:ext cx="2286000" cy="164592"/>
          </a:xfrm>
          <a:prstGeom prst="roundRect">
            <a:avLst>
              <a:gd name="adj" fmla="val 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39" y="1280160"/>
            <a:ext cx="640080" cy="457200"/>
          </a:xfrm>
          <a:prstGeom prst="rect">
            <a:avLst/>
          </a:prstGeom>
          <a:noFill/>
        </p:spPr>
        <p:txBody>
          <a:bodyPr wrap="square">
            <a:spAutoFit/>
          </a:bodyPr>
          <a:lstStyle/>
          <a:p>
            <a:pPr algn="l"/>
            <a:r>
              <a:rPr sz="2200" b="0" i="0">
                <a:latin typeface="Calibri"/>
              </a:rPr>
              <a:t>🏥</a:t>
            </a:r>
          </a:p>
        </p:txBody>
      </p:sp>
      <p:sp>
        <p:nvSpPr>
          <p:cNvPr id="30" name="TextBox 29"/>
          <p:cNvSpPr txBox="1"/>
          <p:nvPr/>
        </p:nvSpPr>
        <p:spPr>
          <a:xfrm>
            <a:off x="7498079" y="1755648"/>
            <a:ext cx="2286000" cy="292608"/>
          </a:xfrm>
          <a:prstGeom prst="rect">
            <a:avLst/>
          </a:prstGeom>
          <a:noFill/>
        </p:spPr>
        <p:txBody>
          <a:bodyPr wrap="square">
            <a:spAutoFit/>
          </a:bodyPr>
          <a:lstStyle/>
          <a:p>
            <a:pPr algn="ctr"/>
            <a:r>
              <a:rPr sz="1300" b="1" i="0">
                <a:solidFill>
                  <a:srgbClr val="142621"/>
                </a:solidFill>
                <a:latin typeface="Calibri"/>
              </a:rPr>
              <a:t>Hospital D</a:t>
            </a:r>
          </a:p>
        </p:txBody>
      </p:sp>
      <p:sp>
        <p:nvSpPr>
          <p:cNvPr id="31" name="TextBox 30"/>
          <p:cNvSpPr txBox="1"/>
          <p:nvPr/>
        </p:nvSpPr>
        <p:spPr>
          <a:xfrm>
            <a:off x="7498079" y="2029968"/>
            <a:ext cx="2286000" cy="228600"/>
          </a:xfrm>
          <a:prstGeom prst="rect">
            <a:avLst/>
          </a:prstGeom>
          <a:noFill/>
        </p:spPr>
        <p:txBody>
          <a:bodyPr wrap="square">
            <a:spAutoFit/>
          </a:bodyPr>
          <a:lstStyle/>
          <a:p>
            <a:pPr algn="ctr"/>
            <a:r>
              <a:rPr sz="900" b="0" i="0">
                <a:solidFill>
                  <a:srgbClr val="64796F"/>
                </a:solidFill>
                <a:latin typeface="Calibri"/>
              </a:rPr>
              <a:t>Local X-ray Data</a:t>
            </a:r>
          </a:p>
        </p:txBody>
      </p:sp>
      <p:sp>
        <p:nvSpPr>
          <p:cNvPr id="32" name="TextBox 31"/>
          <p:cNvSpPr txBox="1"/>
          <p:nvPr/>
        </p:nvSpPr>
        <p:spPr>
          <a:xfrm>
            <a:off x="7498079" y="2240280"/>
            <a:ext cx="2286000" cy="201168"/>
          </a:xfrm>
          <a:prstGeom prst="rect">
            <a:avLst/>
          </a:prstGeom>
          <a:noFill/>
        </p:spPr>
        <p:txBody>
          <a:bodyPr wrap="square">
            <a:spAutoFit/>
          </a:bodyPr>
          <a:lstStyle/>
          <a:p>
            <a:pPr algn="ctr"/>
            <a:r>
              <a:rPr sz="900" b="1" i="0">
                <a:solidFill>
                  <a:srgbClr val="E8A33D"/>
                </a:solidFill>
                <a:latin typeface="Calibri"/>
              </a:rPr>
              <a:t>Local Training</a:t>
            </a:r>
          </a:p>
        </p:txBody>
      </p:sp>
      <p:sp>
        <p:nvSpPr>
          <p:cNvPr id="33" name="TextBox 32"/>
          <p:cNvSpPr txBox="1"/>
          <p:nvPr/>
        </p:nvSpPr>
        <p:spPr>
          <a:xfrm>
            <a:off x="8549639" y="2468880"/>
            <a:ext cx="274320" cy="320040"/>
          </a:xfrm>
          <a:prstGeom prst="rect">
            <a:avLst/>
          </a:prstGeom>
          <a:noFill/>
        </p:spPr>
        <p:txBody>
          <a:bodyPr wrap="square">
            <a:spAutoFit/>
          </a:bodyPr>
          <a:lstStyle/>
          <a:p>
            <a:pPr algn="ctr"/>
            <a:r>
              <a:rPr sz="1600" b="0" i="0">
                <a:solidFill>
                  <a:srgbClr val="64796F"/>
                </a:solidFill>
                <a:latin typeface="Calibri"/>
              </a:rPr>
              <a:t>↓</a:t>
            </a:r>
          </a:p>
        </p:txBody>
      </p:sp>
      <p:sp>
        <p:nvSpPr>
          <p:cNvPr id="34" name="TextBox 33"/>
          <p:cNvSpPr txBox="1"/>
          <p:nvPr/>
        </p:nvSpPr>
        <p:spPr>
          <a:xfrm>
            <a:off x="9966960" y="1463040"/>
            <a:ext cx="2011680" cy="320040"/>
          </a:xfrm>
          <a:prstGeom prst="rect">
            <a:avLst/>
          </a:prstGeom>
          <a:noFill/>
        </p:spPr>
        <p:txBody>
          <a:bodyPr wrap="square">
            <a:spAutoFit/>
          </a:bodyPr>
          <a:lstStyle/>
          <a:p>
            <a:pPr algn="ctr"/>
            <a:r>
              <a:rPr sz="1000" b="1" i="0">
                <a:solidFill>
                  <a:srgbClr val="D64545"/>
                </a:solidFill>
                <a:latin typeface="Calibri"/>
              </a:rPr>
              <a:t>❌ Raw images NEVER leave</a:t>
            </a:r>
          </a:p>
        </p:txBody>
      </p:sp>
      <p:sp>
        <p:nvSpPr>
          <p:cNvPr id="35" name="TextBox 34"/>
          <p:cNvSpPr txBox="1"/>
          <p:nvPr/>
        </p:nvSpPr>
        <p:spPr>
          <a:xfrm>
            <a:off x="9966960" y="1828800"/>
            <a:ext cx="2011680" cy="320040"/>
          </a:xfrm>
          <a:prstGeom prst="rect">
            <a:avLst/>
          </a:prstGeom>
          <a:noFill/>
        </p:spPr>
        <p:txBody>
          <a:bodyPr wrap="square">
            <a:spAutoFit/>
          </a:bodyPr>
          <a:lstStyle/>
          <a:p>
            <a:pPr algn="ctr"/>
            <a:r>
              <a:rPr sz="1000" b="1" i="0">
                <a:solidFill>
                  <a:srgbClr val="227D54"/>
                </a:solidFill>
                <a:latin typeface="Calibri"/>
              </a:rPr>
              <a:t>✅ Only model weights shared</a:t>
            </a:r>
          </a:p>
        </p:txBody>
      </p:sp>
      <p:sp>
        <p:nvSpPr>
          <p:cNvPr id="36" name="Rectangle 35"/>
          <p:cNvSpPr/>
          <p:nvPr/>
        </p:nvSpPr>
        <p:spPr>
          <a:xfrm>
            <a:off x="3200400" y="2971800"/>
            <a:ext cx="5760720" cy="1005840"/>
          </a:xfrm>
          <a:prstGeom prst="roundRect">
            <a:avLst>
              <a:gd name="adj" fmla="val 0"/>
            </a:avLst>
          </a:prstGeom>
          <a:solidFill>
            <a:srgbClr val="0F2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00400" y="3081528"/>
            <a:ext cx="5760720" cy="411480"/>
          </a:xfrm>
          <a:prstGeom prst="rect">
            <a:avLst/>
          </a:prstGeom>
          <a:noFill/>
        </p:spPr>
        <p:txBody>
          <a:bodyPr wrap="square">
            <a:spAutoFit/>
          </a:bodyPr>
          <a:lstStyle/>
          <a:p>
            <a:pPr algn="ctr"/>
            <a:r>
              <a:rPr sz="1800" b="1" i="0">
                <a:solidFill>
                  <a:srgbClr val="FFFFFF"/>
                </a:solidFill>
                <a:latin typeface="Calibri"/>
              </a:rPr>
              <a:t>⚡ Federated Averaging (FedAvg)</a:t>
            </a:r>
          </a:p>
        </p:txBody>
      </p:sp>
      <p:sp>
        <p:nvSpPr>
          <p:cNvPr id="38" name="TextBox 37"/>
          <p:cNvSpPr txBox="1"/>
          <p:nvPr/>
        </p:nvSpPr>
        <p:spPr>
          <a:xfrm>
            <a:off x="3200400" y="3493007"/>
            <a:ext cx="5760720" cy="320040"/>
          </a:xfrm>
          <a:prstGeom prst="rect">
            <a:avLst/>
          </a:prstGeom>
          <a:noFill/>
        </p:spPr>
        <p:txBody>
          <a:bodyPr wrap="square">
            <a:spAutoFit/>
          </a:bodyPr>
          <a:lstStyle/>
          <a:p>
            <a:pPr algn="ctr"/>
            <a:r>
              <a:rPr sz="1100" b="0" i="0">
                <a:solidFill>
                  <a:srgbClr val="8FD3AB"/>
                </a:solidFill>
                <a:latin typeface="Calibri"/>
              </a:rPr>
              <a:t>Central server aggregates model weights from all hospitals</a:t>
            </a:r>
          </a:p>
        </p:txBody>
      </p:sp>
      <p:sp>
        <p:nvSpPr>
          <p:cNvPr id="39" name="TextBox 38"/>
          <p:cNvSpPr txBox="1"/>
          <p:nvPr/>
        </p:nvSpPr>
        <p:spPr>
          <a:xfrm>
            <a:off x="0" y="3291840"/>
            <a:ext cx="12188952" cy="365760"/>
          </a:xfrm>
          <a:prstGeom prst="rect">
            <a:avLst/>
          </a:prstGeom>
          <a:noFill/>
        </p:spPr>
        <p:txBody>
          <a:bodyPr wrap="square">
            <a:spAutoFit/>
          </a:bodyPr>
          <a:lstStyle/>
          <a:p>
            <a:pPr algn="ctr"/>
            <a:r>
              <a:rPr sz="1400" b="0" i="0">
                <a:solidFill>
                  <a:srgbClr val="4DB683"/>
                </a:solidFill>
                <a:latin typeface="Calibri"/>
              </a:rPr>
              <a:t>→</a:t>
            </a:r>
          </a:p>
        </p:txBody>
      </p:sp>
      <p:sp>
        <p:nvSpPr>
          <p:cNvPr id="40" name="TextBox 39"/>
          <p:cNvSpPr txBox="1"/>
          <p:nvPr/>
        </p:nvSpPr>
        <p:spPr>
          <a:xfrm>
            <a:off x="0" y="3291840"/>
            <a:ext cx="12188952" cy="365760"/>
          </a:xfrm>
          <a:prstGeom prst="rect">
            <a:avLst/>
          </a:prstGeom>
          <a:noFill/>
        </p:spPr>
        <p:txBody>
          <a:bodyPr wrap="square">
            <a:spAutoFit/>
          </a:bodyPr>
          <a:lstStyle/>
          <a:p>
            <a:pPr algn="ctr"/>
            <a:r>
              <a:rPr sz="1400" b="0" i="0">
                <a:solidFill>
                  <a:srgbClr val="4DB683"/>
                </a:solidFill>
                <a:latin typeface="Calibri"/>
              </a:rPr>
              <a:t>→</a:t>
            </a:r>
          </a:p>
        </p:txBody>
      </p:sp>
      <p:sp>
        <p:nvSpPr>
          <p:cNvPr id="41" name="TextBox 40"/>
          <p:cNvSpPr txBox="1"/>
          <p:nvPr/>
        </p:nvSpPr>
        <p:spPr>
          <a:xfrm>
            <a:off x="0" y="3291840"/>
            <a:ext cx="12188952" cy="365760"/>
          </a:xfrm>
          <a:prstGeom prst="rect">
            <a:avLst/>
          </a:prstGeom>
          <a:noFill/>
        </p:spPr>
        <p:txBody>
          <a:bodyPr wrap="square">
            <a:spAutoFit/>
          </a:bodyPr>
          <a:lstStyle/>
          <a:p>
            <a:pPr algn="ctr"/>
            <a:r>
              <a:rPr sz="1400" b="0" i="0">
                <a:solidFill>
                  <a:srgbClr val="4DB683"/>
                </a:solidFill>
                <a:latin typeface="Calibri"/>
              </a:rPr>
              <a:t>→</a:t>
            </a:r>
          </a:p>
        </p:txBody>
      </p:sp>
      <p:sp>
        <p:nvSpPr>
          <p:cNvPr id="42" name="TextBox 41"/>
          <p:cNvSpPr txBox="1"/>
          <p:nvPr/>
        </p:nvSpPr>
        <p:spPr>
          <a:xfrm>
            <a:off x="0" y="3291840"/>
            <a:ext cx="12188952" cy="365760"/>
          </a:xfrm>
          <a:prstGeom prst="rect">
            <a:avLst/>
          </a:prstGeom>
          <a:noFill/>
        </p:spPr>
        <p:txBody>
          <a:bodyPr wrap="square">
            <a:spAutoFit/>
          </a:bodyPr>
          <a:lstStyle/>
          <a:p>
            <a:pPr algn="ctr"/>
            <a:r>
              <a:rPr sz="1400" b="0" i="0">
                <a:solidFill>
                  <a:srgbClr val="4DB683"/>
                </a:solidFill>
                <a:latin typeface="Calibri"/>
              </a:rPr>
              <a:t>→</a:t>
            </a:r>
          </a:p>
        </p:txBody>
      </p:sp>
      <p:sp>
        <p:nvSpPr>
          <p:cNvPr id="43" name="TextBox 42"/>
          <p:cNvSpPr txBox="1"/>
          <p:nvPr/>
        </p:nvSpPr>
        <p:spPr>
          <a:xfrm>
            <a:off x="5943600" y="3995928"/>
            <a:ext cx="457200" cy="320040"/>
          </a:xfrm>
          <a:prstGeom prst="rect">
            <a:avLst/>
          </a:prstGeom>
          <a:noFill/>
        </p:spPr>
        <p:txBody>
          <a:bodyPr wrap="square">
            <a:spAutoFit/>
          </a:bodyPr>
          <a:lstStyle/>
          <a:p>
            <a:pPr algn="ctr"/>
            <a:r>
              <a:rPr sz="1600" b="0" i="0">
                <a:solidFill>
                  <a:srgbClr val="2F9E68"/>
                </a:solidFill>
                <a:latin typeface="Calibri"/>
              </a:rPr>
              <a:t>↓</a:t>
            </a:r>
          </a:p>
        </p:txBody>
      </p:sp>
      <p:sp>
        <p:nvSpPr>
          <p:cNvPr id="44" name="Rectangle 43"/>
          <p:cNvSpPr/>
          <p:nvPr/>
        </p:nvSpPr>
        <p:spPr>
          <a:xfrm>
            <a:off x="4114800" y="4297680"/>
            <a:ext cx="3931920" cy="822960"/>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114800" y="4389120"/>
            <a:ext cx="3931920" cy="457200"/>
          </a:xfrm>
          <a:prstGeom prst="rect">
            <a:avLst/>
          </a:prstGeom>
          <a:noFill/>
        </p:spPr>
        <p:txBody>
          <a:bodyPr wrap="square">
            <a:spAutoFit/>
          </a:bodyPr>
          <a:lstStyle/>
          <a:p>
            <a:pPr algn="ctr"/>
            <a:r>
              <a:rPr sz="1600" b="1" i="0">
                <a:solidFill>
                  <a:srgbClr val="FFFFFF"/>
                </a:solidFill>
                <a:latin typeface="Calibri"/>
              </a:rPr>
              <a:t>🌐  Global Model (DenseNet121)</a:t>
            </a:r>
          </a:p>
        </p:txBody>
      </p:sp>
      <p:sp>
        <p:nvSpPr>
          <p:cNvPr id="46" name="TextBox 45"/>
          <p:cNvSpPr txBox="1"/>
          <p:nvPr/>
        </p:nvSpPr>
        <p:spPr>
          <a:xfrm>
            <a:off x="4114800" y="4828032"/>
            <a:ext cx="3931920" cy="256032"/>
          </a:xfrm>
          <a:prstGeom prst="rect">
            <a:avLst/>
          </a:prstGeom>
          <a:noFill/>
        </p:spPr>
        <p:txBody>
          <a:bodyPr wrap="square">
            <a:spAutoFit/>
          </a:bodyPr>
          <a:lstStyle/>
          <a:p>
            <a:pPr algn="ctr"/>
            <a:r>
              <a:rPr sz="900" b="0" i="0">
                <a:solidFill>
                  <a:srgbClr val="FFFFFF"/>
                </a:solidFill>
                <a:latin typeface="Calibri"/>
              </a:rPr>
              <a:t>Distributed back → Better predictions at all hospitals</a:t>
            </a:r>
          </a:p>
        </p:txBody>
      </p:sp>
      <p:sp>
        <p:nvSpPr>
          <p:cNvPr id="47" name="TextBox 46"/>
          <p:cNvSpPr txBox="1"/>
          <p:nvPr/>
        </p:nvSpPr>
        <p:spPr>
          <a:xfrm>
            <a:off x="5943600" y="5138928"/>
            <a:ext cx="457200" cy="320040"/>
          </a:xfrm>
          <a:prstGeom prst="rect">
            <a:avLst/>
          </a:prstGeom>
          <a:noFill/>
        </p:spPr>
        <p:txBody>
          <a:bodyPr wrap="square">
            <a:spAutoFit/>
          </a:bodyPr>
          <a:lstStyle/>
          <a:p>
            <a:pPr algn="ctr"/>
            <a:r>
              <a:rPr sz="1600" b="0" i="0">
                <a:solidFill>
                  <a:srgbClr val="2F9E68"/>
                </a:solidFill>
                <a:latin typeface="Calibri"/>
              </a:rPr>
              <a:t>↓</a:t>
            </a:r>
          </a:p>
        </p:txBody>
      </p:sp>
      <p:sp>
        <p:nvSpPr>
          <p:cNvPr id="48" name="Rectangle 47"/>
          <p:cNvSpPr/>
          <p:nvPr/>
        </p:nvSpPr>
        <p:spPr>
          <a:xfrm>
            <a:off x="2560320" y="5349240"/>
            <a:ext cx="2194560" cy="640080"/>
          </a:xfrm>
          <a:prstGeom prst="roundRect">
            <a:avLst>
              <a:gd name="adj" fmla="val 0"/>
            </a:avLst>
          </a:prstGeom>
          <a:solidFill>
            <a:srgbClr val="D7F0E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60320" y="5458968"/>
            <a:ext cx="2194560" cy="411480"/>
          </a:xfrm>
          <a:prstGeom prst="rect">
            <a:avLst/>
          </a:prstGeom>
          <a:noFill/>
        </p:spPr>
        <p:txBody>
          <a:bodyPr wrap="square">
            <a:spAutoFit/>
          </a:bodyPr>
          <a:lstStyle/>
          <a:p>
            <a:pPr algn="ctr"/>
            <a:r>
              <a:rPr sz="1300" b="1" i="0">
                <a:solidFill>
                  <a:srgbClr val="1B6E4A"/>
                </a:solidFill>
                <a:latin typeface="Calibri"/>
              </a:rPr>
              <a:t>🔍 Disease Prediction</a:t>
            </a:r>
          </a:p>
        </p:txBody>
      </p:sp>
      <p:sp>
        <p:nvSpPr>
          <p:cNvPr id="50" name="Rectangle 49"/>
          <p:cNvSpPr/>
          <p:nvPr/>
        </p:nvSpPr>
        <p:spPr>
          <a:xfrm>
            <a:off x="5212080" y="5349240"/>
            <a:ext cx="2194560" cy="640080"/>
          </a:xfrm>
          <a:prstGeom prst="roundRect">
            <a:avLst>
              <a:gd name="adj" fmla="val 0"/>
            </a:avLst>
          </a:prstGeom>
          <a:solidFill>
            <a:srgbClr val="D7F0E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5458968"/>
            <a:ext cx="2194560" cy="411480"/>
          </a:xfrm>
          <a:prstGeom prst="rect">
            <a:avLst/>
          </a:prstGeom>
          <a:noFill/>
        </p:spPr>
        <p:txBody>
          <a:bodyPr wrap="square">
            <a:spAutoFit/>
          </a:bodyPr>
          <a:lstStyle/>
          <a:p>
            <a:pPr algn="ctr"/>
            <a:r>
              <a:rPr sz="1300" b="1" i="0">
                <a:solidFill>
                  <a:srgbClr val="1B6E4A"/>
                </a:solidFill>
                <a:latin typeface="Calibri"/>
              </a:rPr>
              <a:t>🗺️ Grad-CAM</a:t>
            </a:r>
          </a:p>
        </p:txBody>
      </p:sp>
      <p:sp>
        <p:nvSpPr>
          <p:cNvPr id="52" name="Rectangle 51"/>
          <p:cNvSpPr/>
          <p:nvPr/>
        </p:nvSpPr>
        <p:spPr>
          <a:xfrm>
            <a:off x="7863840" y="5349240"/>
            <a:ext cx="2194560" cy="640080"/>
          </a:xfrm>
          <a:prstGeom prst="roundRect">
            <a:avLst>
              <a:gd name="adj" fmla="val 0"/>
            </a:avLst>
          </a:prstGeom>
          <a:solidFill>
            <a:srgbClr val="D7F0E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63840" y="5458968"/>
            <a:ext cx="2194560" cy="411480"/>
          </a:xfrm>
          <a:prstGeom prst="rect">
            <a:avLst/>
          </a:prstGeom>
          <a:noFill/>
        </p:spPr>
        <p:txBody>
          <a:bodyPr wrap="square">
            <a:spAutoFit/>
          </a:bodyPr>
          <a:lstStyle/>
          <a:p>
            <a:pPr algn="ctr"/>
            <a:r>
              <a:rPr sz="1300" b="1" i="0">
                <a:solidFill>
                  <a:srgbClr val="1B6E4A"/>
                </a:solidFill>
                <a:latin typeface="Calibri"/>
              </a:rPr>
              <a:t>📈 Confidence Score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621"/>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63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137160"/>
            <a:ext cx="9144000" cy="640080"/>
          </a:xfrm>
          <a:prstGeom prst="rect">
            <a:avLst/>
          </a:prstGeom>
          <a:noFill/>
        </p:spPr>
        <p:txBody>
          <a:bodyPr wrap="square">
            <a:spAutoFit/>
          </a:bodyPr>
          <a:lstStyle/>
          <a:p>
            <a:pPr algn="l"/>
            <a:r>
              <a:rPr sz="3200" b="1" i="0">
                <a:solidFill>
                  <a:srgbClr val="FFFFFF"/>
                </a:solidFill>
                <a:latin typeface="Calibri"/>
              </a:rPr>
              <a:t>How FedMed AI Works</a:t>
            </a:r>
          </a:p>
        </p:txBody>
      </p:sp>
      <p:sp>
        <p:nvSpPr>
          <p:cNvPr id="4" name="TextBox 3"/>
          <p:cNvSpPr txBox="1"/>
          <p:nvPr/>
        </p:nvSpPr>
        <p:spPr>
          <a:xfrm>
            <a:off x="10515600" y="274320"/>
            <a:ext cx="1463040" cy="365760"/>
          </a:xfrm>
          <a:prstGeom prst="rect">
            <a:avLst/>
          </a:prstGeom>
          <a:noFill/>
        </p:spPr>
        <p:txBody>
          <a:bodyPr wrap="square">
            <a:spAutoFit/>
          </a:bodyPr>
          <a:lstStyle/>
          <a:p>
            <a:pPr algn="r"/>
            <a:r>
              <a:rPr sz="1000" b="0" i="0">
                <a:solidFill>
                  <a:srgbClr val="4DB683"/>
                </a:solidFill>
                <a:latin typeface="Calibri"/>
              </a:rPr>
              <a:t>SLIDE 04  /  07</a:t>
            </a:r>
          </a:p>
        </p:txBody>
      </p:sp>
      <p:sp>
        <p:nvSpPr>
          <p:cNvPr id="5" name="Rectangle 4"/>
          <p:cNvSpPr/>
          <p:nvPr/>
        </p:nvSpPr>
        <p:spPr>
          <a:xfrm>
            <a:off x="0" y="0"/>
            <a:ext cx="73152" cy="68580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97280"/>
            <a:ext cx="1508760" cy="118872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2880" y="1188720"/>
            <a:ext cx="1508760" cy="365760"/>
          </a:xfrm>
          <a:prstGeom prst="rect">
            <a:avLst/>
          </a:prstGeom>
          <a:noFill/>
        </p:spPr>
        <p:txBody>
          <a:bodyPr wrap="square">
            <a:spAutoFit/>
          </a:bodyPr>
          <a:lstStyle/>
          <a:p>
            <a:pPr algn="ctr"/>
            <a:r>
              <a:rPr sz="2000" b="0" i="0">
                <a:latin typeface="Calibri"/>
              </a:rPr>
              <a:t>🫁</a:t>
            </a:r>
          </a:p>
        </p:txBody>
      </p:sp>
      <p:sp>
        <p:nvSpPr>
          <p:cNvPr id="8" name="TextBox 7"/>
          <p:cNvSpPr txBox="1"/>
          <p:nvPr/>
        </p:nvSpPr>
        <p:spPr>
          <a:xfrm>
            <a:off x="182880" y="1554480"/>
            <a:ext cx="1508760" cy="384048"/>
          </a:xfrm>
          <a:prstGeom prst="rect">
            <a:avLst/>
          </a:prstGeom>
          <a:noFill/>
        </p:spPr>
        <p:txBody>
          <a:bodyPr wrap="square">
            <a:spAutoFit/>
          </a:bodyPr>
          <a:lstStyle/>
          <a:p>
            <a:pPr algn="ctr"/>
            <a:r>
              <a:rPr sz="1100" b="1" i="0">
                <a:solidFill>
                  <a:srgbClr val="FFFFFF"/>
                </a:solidFill>
                <a:latin typeface="Calibri"/>
              </a:rPr>
              <a:t>Chest X-Ray</a:t>
            </a:r>
          </a:p>
        </p:txBody>
      </p:sp>
      <p:sp>
        <p:nvSpPr>
          <p:cNvPr id="9" name="TextBox 8"/>
          <p:cNvSpPr txBox="1"/>
          <p:nvPr/>
        </p:nvSpPr>
        <p:spPr>
          <a:xfrm>
            <a:off x="182880" y="1938528"/>
            <a:ext cx="1508760" cy="274320"/>
          </a:xfrm>
          <a:prstGeom prst="rect">
            <a:avLst/>
          </a:prstGeom>
          <a:noFill/>
        </p:spPr>
        <p:txBody>
          <a:bodyPr wrap="square">
            <a:spAutoFit/>
          </a:bodyPr>
          <a:lstStyle/>
          <a:p>
            <a:pPr algn="ctr"/>
            <a:r>
              <a:rPr sz="800" b="0" i="0">
                <a:solidFill>
                  <a:srgbClr val="4DB683"/>
                </a:solidFill>
                <a:latin typeface="Calibri"/>
              </a:rPr>
              <a:t>224×224 px</a:t>
            </a:r>
          </a:p>
        </p:txBody>
      </p:sp>
      <p:sp>
        <p:nvSpPr>
          <p:cNvPr id="10" name="TextBox 9"/>
          <p:cNvSpPr txBox="1"/>
          <p:nvPr/>
        </p:nvSpPr>
        <p:spPr>
          <a:xfrm>
            <a:off x="1728216" y="1508760"/>
            <a:ext cx="146304" cy="365760"/>
          </a:xfrm>
          <a:prstGeom prst="rect">
            <a:avLst/>
          </a:prstGeom>
          <a:noFill/>
        </p:spPr>
        <p:txBody>
          <a:bodyPr wrap="square">
            <a:spAutoFit/>
          </a:bodyPr>
          <a:lstStyle/>
          <a:p>
            <a:pPr algn="l"/>
            <a:r>
              <a:rPr sz="1400" b="0" i="0">
                <a:solidFill>
                  <a:srgbClr val="4DB683"/>
                </a:solidFill>
                <a:latin typeface="Calibri"/>
              </a:rPr>
              <a:t>→</a:t>
            </a:r>
          </a:p>
        </p:txBody>
      </p:sp>
      <p:sp>
        <p:nvSpPr>
          <p:cNvPr id="11" name="Rectangle 10"/>
          <p:cNvSpPr/>
          <p:nvPr/>
        </p:nvSpPr>
        <p:spPr>
          <a:xfrm>
            <a:off x="1874520" y="1097280"/>
            <a:ext cx="1508760" cy="118872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74520" y="1188720"/>
            <a:ext cx="1508760" cy="365760"/>
          </a:xfrm>
          <a:prstGeom prst="rect">
            <a:avLst/>
          </a:prstGeom>
          <a:noFill/>
        </p:spPr>
        <p:txBody>
          <a:bodyPr wrap="square">
            <a:spAutoFit/>
          </a:bodyPr>
          <a:lstStyle/>
          <a:p>
            <a:pPr algn="ctr"/>
            <a:r>
              <a:rPr sz="2000" b="0" i="0">
                <a:latin typeface="Calibri"/>
              </a:rPr>
              <a:t>⚙️</a:t>
            </a:r>
          </a:p>
        </p:txBody>
      </p:sp>
      <p:sp>
        <p:nvSpPr>
          <p:cNvPr id="13" name="TextBox 12"/>
          <p:cNvSpPr txBox="1"/>
          <p:nvPr/>
        </p:nvSpPr>
        <p:spPr>
          <a:xfrm>
            <a:off x="1874520" y="1554480"/>
            <a:ext cx="1508760" cy="384048"/>
          </a:xfrm>
          <a:prstGeom prst="rect">
            <a:avLst/>
          </a:prstGeom>
          <a:noFill/>
        </p:spPr>
        <p:txBody>
          <a:bodyPr wrap="square">
            <a:spAutoFit/>
          </a:bodyPr>
          <a:lstStyle/>
          <a:p>
            <a:pPr algn="ctr"/>
            <a:r>
              <a:rPr sz="1100" b="1" i="0">
                <a:solidFill>
                  <a:srgbClr val="FFFFFF"/>
                </a:solidFill>
                <a:latin typeface="Calibri"/>
              </a:rPr>
              <a:t>Preprocessing</a:t>
            </a:r>
          </a:p>
        </p:txBody>
      </p:sp>
      <p:sp>
        <p:nvSpPr>
          <p:cNvPr id="14" name="TextBox 13"/>
          <p:cNvSpPr txBox="1"/>
          <p:nvPr/>
        </p:nvSpPr>
        <p:spPr>
          <a:xfrm>
            <a:off x="1874520" y="1938528"/>
            <a:ext cx="1508760" cy="274320"/>
          </a:xfrm>
          <a:prstGeom prst="rect">
            <a:avLst/>
          </a:prstGeom>
          <a:noFill/>
        </p:spPr>
        <p:txBody>
          <a:bodyPr wrap="square">
            <a:spAutoFit/>
          </a:bodyPr>
          <a:lstStyle/>
          <a:p>
            <a:pPr algn="ctr"/>
            <a:r>
              <a:rPr sz="800" b="0" i="0">
                <a:solidFill>
                  <a:srgbClr val="4DB683"/>
                </a:solidFill>
                <a:latin typeface="Calibri"/>
              </a:rPr>
              <a:t>Normalize + Augment</a:t>
            </a:r>
          </a:p>
        </p:txBody>
      </p:sp>
      <p:sp>
        <p:nvSpPr>
          <p:cNvPr id="15" name="TextBox 14"/>
          <p:cNvSpPr txBox="1"/>
          <p:nvPr/>
        </p:nvSpPr>
        <p:spPr>
          <a:xfrm>
            <a:off x="3419856" y="1508760"/>
            <a:ext cx="146304" cy="365760"/>
          </a:xfrm>
          <a:prstGeom prst="rect">
            <a:avLst/>
          </a:prstGeom>
          <a:noFill/>
        </p:spPr>
        <p:txBody>
          <a:bodyPr wrap="square">
            <a:spAutoFit/>
          </a:bodyPr>
          <a:lstStyle/>
          <a:p>
            <a:pPr algn="l"/>
            <a:r>
              <a:rPr sz="1400" b="0" i="0">
                <a:solidFill>
                  <a:srgbClr val="4DB683"/>
                </a:solidFill>
                <a:latin typeface="Calibri"/>
              </a:rPr>
              <a:t>→</a:t>
            </a:r>
          </a:p>
        </p:txBody>
      </p:sp>
      <p:sp>
        <p:nvSpPr>
          <p:cNvPr id="16" name="Rectangle 15"/>
          <p:cNvSpPr/>
          <p:nvPr/>
        </p:nvSpPr>
        <p:spPr>
          <a:xfrm>
            <a:off x="3566160" y="1097280"/>
            <a:ext cx="1508760" cy="118872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66160" y="1188720"/>
            <a:ext cx="1508760" cy="365760"/>
          </a:xfrm>
          <a:prstGeom prst="rect">
            <a:avLst/>
          </a:prstGeom>
          <a:noFill/>
        </p:spPr>
        <p:txBody>
          <a:bodyPr wrap="square">
            <a:spAutoFit/>
          </a:bodyPr>
          <a:lstStyle/>
          <a:p>
            <a:pPr algn="ctr"/>
            <a:r>
              <a:rPr sz="2000" b="0" i="0">
                <a:latin typeface="Calibri"/>
              </a:rPr>
              <a:t>🧠</a:t>
            </a:r>
          </a:p>
        </p:txBody>
      </p:sp>
      <p:sp>
        <p:nvSpPr>
          <p:cNvPr id="18" name="TextBox 17"/>
          <p:cNvSpPr txBox="1"/>
          <p:nvPr/>
        </p:nvSpPr>
        <p:spPr>
          <a:xfrm>
            <a:off x="3566160" y="1554480"/>
            <a:ext cx="1508760" cy="384048"/>
          </a:xfrm>
          <a:prstGeom prst="rect">
            <a:avLst/>
          </a:prstGeom>
          <a:noFill/>
        </p:spPr>
        <p:txBody>
          <a:bodyPr wrap="square">
            <a:spAutoFit/>
          </a:bodyPr>
          <a:lstStyle/>
          <a:p>
            <a:pPr algn="ctr"/>
            <a:r>
              <a:rPr sz="1100" b="1" i="0">
                <a:solidFill>
                  <a:srgbClr val="FFFFFF"/>
                </a:solidFill>
                <a:latin typeface="Calibri"/>
              </a:rPr>
              <a:t>DenseNet121</a:t>
            </a:r>
          </a:p>
        </p:txBody>
      </p:sp>
      <p:sp>
        <p:nvSpPr>
          <p:cNvPr id="19" name="TextBox 18"/>
          <p:cNvSpPr txBox="1"/>
          <p:nvPr/>
        </p:nvSpPr>
        <p:spPr>
          <a:xfrm>
            <a:off x="3566160" y="1938528"/>
            <a:ext cx="1508760" cy="274320"/>
          </a:xfrm>
          <a:prstGeom prst="rect">
            <a:avLst/>
          </a:prstGeom>
          <a:noFill/>
        </p:spPr>
        <p:txBody>
          <a:bodyPr wrap="square">
            <a:spAutoFit/>
          </a:bodyPr>
          <a:lstStyle/>
          <a:p>
            <a:pPr algn="ctr"/>
            <a:r>
              <a:rPr sz="800" b="0" i="0">
                <a:solidFill>
                  <a:srgbClr val="4DB683"/>
                </a:solidFill>
                <a:latin typeface="Calibri"/>
              </a:rPr>
              <a:t>Transfer Learning</a:t>
            </a:r>
          </a:p>
        </p:txBody>
      </p:sp>
      <p:sp>
        <p:nvSpPr>
          <p:cNvPr id="20" name="TextBox 19"/>
          <p:cNvSpPr txBox="1"/>
          <p:nvPr/>
        </p:nvSpPr>
        <p:spPr>
          <a:xfrm>
            <a:off x="5111496" y="1508760"/>
            <a:ext cx="146304" cy="365760"/>
          </a:xfrm>
          <a:prstGeom prst="rect">
            <a:avLst/>
          </a:prstGeom>
          <a:noFill/>
        </p:spPr>
        <p:txBody>
          <a:bodyPr wrap="square">
            <a:spAutoFit/>
          </a:bodyPr>
          <a:lstStyle/>
          <a:p>
            <a:pPr algn="l"/>
            <a:r>
              <a:rPr sz="1400" b="0" i="0">
                <a:solidFill>
                  <a:srgbClr val="4DB683"/>
                </a:solidFill>
                <a:latin typeface="Calibri"/>
              </a:rPr>
              <a:t>→</a:t>
            </a:r>
          </a:p>
        </p:txBody>
      </p:sp>
      <p:sp>
        <p:nvSpPr>
          <p:cNvPr id="21" name="Rectangle 20"/>
          <p:cNvSpPr/>
          <p:nvPr/>
        </p:nvSpPr>
        <p:spPr>
          <a:xfrm>
            <a:off x="5257800" y="1097280"/>
            <a:ext cx="1508760" cy="118872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57800" y="1188720"/>
            <a:ext cx="1508760" cy="365760"/>
          </a:xfrm>
          <a:prstGeom prst="rect">
            <a:avLst/>
          </a:prstGeom>
          <a:noFill/>
        </p:spPr>
        <p:txBody>
          <a:bodyPr wrap="square">
            <a:spAutoFit/>
          </a:bodyPr>
          <a:lstStyle/>
          <a:p>
            <a:pPr algn="ctr"/>
            <a:r>
              <a:rPr sz="2000" b="0" i="0">
                <a:latin typeface="Calibri"/>
              </a:rPr>
              <a:t>🏷️</a:t>
            </a:r>
          </a:p>
        </p:txBody>
      </p:sp>
      <p:sp>
        <p:nvSpPr>
          <p:cNvPr id="23" name="TextBox 22"/>
          <p:cNvSpPr txBox="1"/>
          <p:nvPr/>
        </p:nvSpPr>
        <p:spPr>
          <a:xfrm>
            <a:off x="5257800" y="1554480"/>
            <a:ext cx="1508760" cy="384048"/>
          </a:xfrm>
          <a:prstGeom prst="rect">
            <a:avLst/>
          </a:prstGeom>
          <a:noFill/>
        </p:spPr>
        <p:txBody>
          <a:bodyPr wrap="square">
            <a:spAutoFit/>
          </a:bodyPr>
          <a:lstStyle/>
          <a:p>
            <a:pPr algn="ctr"/>
            <a:r>
              <a:rPr sz="1100" b="1" i="0">
                <a:solidFill>
                  <a:srgbClr val="FFFFFF"/>
                </a:solidFill>
                <a:latin typeface="Calibri"/>
              </a:rPr>
              <a:t>Multi-label
Output</a:t>
            </a:r>
          </a:p>
        </p:txBody>
      </p:sp>
      <p:sp>
        <p:nvSpPr>
          <p:cNvPr id="24" name="TextBox 23"/>
          <p:cNvSpPr txBox="1"/>
          <p:nvPr/>
        </p:nvSpPr>
        <p:spPr>
          <a:xfrm>
            <a:off x="5257800" y="1938528"/>
            <a:ext cx="1508760" cy="274320"/>
          </a:xfrm>
          <a:prstGeom prst="rect">
            <a:avLst/>
          </a:prstGeom>
          <a:noFill/>
        </p:spPr>
        <p:txBody>
          <a:bodyPr wrap="square">
            <a:spAutoFit/>
          </a:bodyPr>
          <a:lstStyle/>
          <a:p>
            <a:pPr algn="ctr"/>
            <a:r>
              <a:rPr sz="800" b="0" i="0">
                <a:solidFill>
                  <a:srgbClr val="4DB683"/>
                </a:solidFill>
                <a:latin typeface="Calibri"/>
              </a:rPr>
              <a:t>14 Disease Classes</a:t>
            </a:r>
          </a:p>
        </p:txBody>
      </p:sp>
      <p:sp>
        <p:nvSpPr>
          <p:cNvPr id="25" name="TextBox 24"/>
          <p:cNvSpPr txBox="1"/>
          <p:nvPr/>
        </p:nvSpPr>
        <p:spPr>
          <a:xfrm>
            <a:off x="6803136" y="1508760"/>
            <a:ext cx="146304" cy="365760"/>
          </a:xfrm>
          <a:prstGeom prst="rect">
            <a:avLst/>
          </a:prstGeom>
          <a:noFill/>
        </p:spPr>
        <p:txBody>
          <a:bodyPr wrap="square">
            <a:spAutoFit/>
          </a:bodyPr>
          <a:lstStyle/>
          <a:p>
            <a:pPr algn="l"/>
            <a:r>
              <a:rPr sz="1400" b="0" i="0">
                <a:solidFill>
                  <a:srgbClr val="4DB683"/>
                </a:solidFill>
                <a:latin typeface="Calibri"/>
              </a:rPr>
              <a:t>→</a:t>
            </a:r>
          </a:p>
        </p:txBody>
      </p:sp>
      <p:sp>
        <p:nvSpPr>
          <p:cNvPr id="26" name="Rectangle 25"/>
          <p:cNvSpPr/>
          <p:nvPr/>
        </p:nvSpPr>
        <p:spPr>
          <a:xfrm>
            <a:off x="6949440" y="1097280"/>
            <a:ext cx="1508760" cy="118872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49440" y="1188720"/>
            <a:ext cx="1508760" cy="365760"/>
          </a:xfrm>
          <a:prstGeom prst="rect">
            <a:avLst/>
          </a:prstGeom>
          <a:noFill/>
        </p:spPr>
        <p:txBody>
          <a:bodyPr wrap="square">
            <a:spAutoFit/>
          </a:bodyPr>
          <a:lstStyle/>
          <a:p>
            <a:pPr algn="ctr"/>
            <a:r>
              <a:rPr sz="2000" b="0" i="0">
                <a:latin typeface="Calibri"/>
              </a:rPr>
              <a:t>🤝</a:t>
            </a:r>
          </a:p>
        </p:txBody>
      </p:sp>
      <p:sp>
        <p:nvSpPr>
          <p:cNvPr id="28" name="TextBox 27"/>
          <p:cNvSpPr txBox="1"/>
          <p:nvPr/>
        </p:nvSpPr>
        <p:spPr>
          <a:xfrm>
            <a:off x="6949440" y="1554480"/>
            <a:ext cx="1508760" cy="384048"/>
          </a:xfrm>
          <a:prstGeom prst="rect">
            <a:avLst/>
          </a:prstGeom>
          <a:noFill/>
        </p:spPr>
        <p:txBody>
          <a:bodyPr wrap="square">
            <a:spAutoFit/>
          </a:bodyPr>
          <a:lstStyle/>
          <a:p>
            <a:pPr algn="ctr"/>
            <a:r>
              <a:rPr sz="1100" b="1" i="0">
                <a:solidFill>
                  <a:srgbClr val="FFFFFF"/>
                </a:solidFill>
                <a:latin typeface="Calibri"/>
              </a:rPr>
              <a:t>FedAvg</a:t>
            </a:r>
          </a:p>
        </p:txBody>
      </p:sp>
      <p:sp>
        <p:nvSpPr>
          <p:cNvPr id="29" name="TextBox 28"/>
          <p:cNvSpPr txBox="1"/>
          <p:nvPr/>
        </p:nvSpPr>
        <p:spPr>
          <a:xfrm>
            <a:off x="6949440" y="1938528"/>
            <a:ext cx="1508760" cy="274320"/>
          </a:xfrm>
          <a:prstGeom prst="rect">
            <a:avLst/>
          </a:prstGeom>
          <a:noFill/>
        </p:spPr>
        <p:txBody>
          <a:bodyPr wrap="square">
            <a:spAutoFit/>
          </a:bodyPr>
          <a:lstStyle/>
          <a:p>
            <a:pPr algn="ctr"/>
            <a:r>
              <a:rPr sz="800" b="0" i="0">
                <a:solidFill>
                  <a:srgbClr val="4DB683"/>
                </a:solidFill>
                <a:latin typeface="Calibri"/>
              </a:rPr>
              <a:t>5–10 FL Rounds</a:t>
            </a:r>
          </a:p>
        </p:txBody>
      </p:sp>
      <p:sp>
        <p:nvSpPr>
          <p:cNvPr id="30" name="TextBox 29"/>
          <p:cNvSpPr txBox="1"/>
          <p:nvPr/>
        </p:nvSpPr>
        <p:spPr>
          <a:xfrm>
            <a:off x="8494776" y="1508760"/>
            <a:ext cx="146304" cy="365760"/>
          </a:xfrm>
          <a:prstGeom prst="rect">
            <a:avLst/>
          </a:prstGeom>
          <a:noFill/>
        </p:spPr>
        <p:txBody>
          <a:bodyPr wrap="square">
            <a:spAutoFit/>
          </a:bodyPr>
          <a:lstStyle/>
          <a:p>
            <a:pPr algn="l"/>
            <a:r>
              <a:rPr sz="1400" b="0" i="0">
                <a:solidFill>
                  <a:srgbClr val="4DB683"/>
                </a:solidFill>
                <a:latin typeface="Calibri"/>
              </a:rPr>
              <a:t>→</a:t>
            </a:r>
          </a:p>
        </p:txBody>
      </p:sp>
      <p:sp>
        <p:nvSpPr>
          <p:cNvPr id="31" name="Rectangle 30"/>
          <p:cNvSpPr/>
          <p:nvPr/>
        </p:nvSpPr>
        <p:spPr>
          <a:xfrm>
            <a:off x="8641080" y="1097280"/>
            <a:ext cx="1508760" cy="118872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1080" y="1188720"/>
            <a:ext cx="1508760" cy="365760"/>
          </a:xfrm>
          <a:prstGeom prst="rect">
            <a:avLst/>
          </a:prstGeom>
          <a:noFill/>
        </p:spPr>
        <p:txBody>
          <a:bodyPr wrap="square">
            <a:spAutoFit/>
          </a:bodyPr>
          <a:lstStyle/>
          <a:p>
            <a:pPr algn="ctr"/>
            <a:r>
              <a:rPr sz="2000" b="0" i="0">
                <a:latin typeface="Calibri"/>
              </a:rPr>
              <a:t>🌐</a:t>
            </a:r>
          </a:p>
        </p:txBody>
      </p:sp>
      <p:sp>
        <p:nvSpPr>
          <p:cNvPr id="33" name="TextBox 32"/>
          <p:cNvSpPr txBox="1"/>
          <p:nvPr/>
        </p:nvSpPr>
        <p:spPr>
          <a:xfrm>
            <a:off x="8641080" y="1554480"/>
            <a:ext cx="1508760" cy="384048"/>
          </a:xfrm>
          <a:prstGeom prst="rect">
            <a:avLst/>
          </a:prstGeom>
          <a:noFill/>
        </p:spPr>
        <p:txBody>
          <a:bodyPr wrap="square">
            <a:spAutoFit/>
          </a:bodyPr>
          <a:lstStyle/>
          <a:p>
            <a:pPr algn="ctr"/>
            <a:r>
              <a:rPr sz="1100" b="1" i="0">
                <a:solidFill>
                  <a:srgbClr val="FFFFFF"/>
                </a:solidFill>
                <a:latin typeface="Calibri"/>
              </a:rPr>
              <a:t>Global Model</a:t>
            </a:r>
          </a:p>
        </p:txBody>
      </p:sp>
      <p:sp>
        <p:nvSpPr>
          <p:cNvPr id="34" name="TextBox 33"/>
          <p:cNvSpPr txBox="1"/>
          <p:nvPr/>
        </p:nvSpPr>
        <p:spPr>
          <a:xfrm>
            <a:off x="8641080" y="1938528"/>
            <a:ext cx="1508760" cy="274320"/>
          </a:xfrm>
          <a:prstGeom prst="rect">
            <a:avLst/>
          </a:prstGeom>
          <a:noFill/>
        </p:spPr>
        <p:txBody>
          <a:bodyPr wrap="square">
            <a:spAutoFit/>
          </a:bodyPr>
          <a:lstStyle/>
          <a:p>
            <a:pPr algn="ctr"/>
            <a:r>
              <a:rPr sz="800" b="0" i="0">
                <a:solidFill>
                  <a:srgbClr val="4DB683"/>
                </a:solidFill>
                <a:latin typeface="Calibri"/>
              </a:rPr>
              <a:t>Aggregated Weights</a:t>
            </a:r>
          </a:p>
        </p:txBody>
      </p:sp>
      <p:sp>
        <p:nvSpPr>
          <p:cNvPr id="35" name="TextBox 34"/>
          <p:cNvSpPr txBox="1"/>
          <p:nvPr/>
        </p:nvSpPr>
        <p:spPr>
          <a:xfrm>
            <a:off x="10186416" y="1508760"/>
            <a:ext cx="146304" cy="365760"/>
          </a:xfrm>
          <a:prstGeom prst="rect">
            <a:avLst/>
          </a:prstGeom>
          <a:noFill/>
        </p:spPr>
        <p:txBody>
          <a:bodyPr wrap="square">
            <a:spAutoFit/>
          </a:bodyPr>
          <a:lstStyle/>
          <a:p>
            <a:pPr algn="l"/>
            <a:r>
              <a:rPr sz="1400" b="0" i="0">
                <a:solidFill>
                  <a:srgbClr val="4DB683"/>
                </a:solidFill>
                <a:latin typeface="Calibri"/>
              </a:rPr>
              <a:t>→</a:t>
            </a:r>
          </a:p>
        </p:txBody>
      </p:sp>
      <p:sp>
        <p:nvSpPr>
          <p:cNvPr id="36" name="Rectangle 35"/>
          <p:cNvSpPr/>
          <p:nvPr/>
        </p:nvSpPr>
        <p:spPr>
          <a:xfrm>
            <a:off x="10332720" y="1097280"/>
            <a:ext cx="1508760" cy="1188720"/>
          </a:xfrm>
          <a:prstGeom prst="roundRect">
            <a:avLst>
              <a:gd name="adj" fmla="val 0"/>
            </a:avLst>
          </a:prstGeom>
          <a:solidFill>
            <a:srgbClr val="1A3528"/>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332720" y="1188720"/>
            <a:ext cx="1508760" cy="365760"/>
          </a:xfrm>
          <a:prstGeom prst="rect">
            <a:avLst/>
          </a:prstGeom>
          <a:noFill/>
        </p:spPr>
        <p:txBody>
          <a:bodyPr wrap="square">
            <a:spAutoFit/>
          </a:bodyPr>
          <a:lstStyle/>
          <a:p>
            <a:pPr algn="ctr"/>
            <a:r>
              <a:rPr sz="2000" b="0" i="0">
                <a:latin typeface="Calibri"/>
              </a:rPr>
              <a:t>🗺️</a:t>
            </a:r>
          </a:p>
        </p:txBody>
      </p:sp>
      <p:sp>
        <p:nvSpPr>
          <p:cNvPr id="38" name="TextBox 37"/>
          <p:cNvSpPr txBox="1"/>
          <p:nvPr/>
        </p:nvSpPr>
        <p:spPr>
          <a:xfrm>
            <a:off x="10332720" y="1554480"/>
            <a:ext cx="1508760" cy="384048"/>
          </a:xfrm>
          <a:prstGeom prst="rect">
            <a:avLst/>
          </a:prstGeom>
          <a:noFill/>
        </p:spPr>
        <p:txBody>
          <a:bodyPr wrap="square">
            <a:spAutoFit/>
          </a:bodyPr>
          <a:lstStyle/>
          <a:p>
            <a:pPr algn="ctr"/>
            <a:r>
              <a:rPr sz="1100" b="1" i="0">
                <a:solidFill>
                  <a:srgbClr val="FFFFFF"/>
                </a:solidFill>
                <a:latin typeface="Calibri"/>
              </a:rPr>
              <a:t>Grad-CAM</a:t>
            </a:r>
          </a:p>
        </p:txBody>
      </p:sp>
      <p:sp>
        <p:nvSpPr>
          <p:cNvPr id="39" name="TextBox 38"/>
          <p:cNvSpPr txBox="1"/>
          <p:nvPr/>
        </p:nvSpPr>
        <p:spPr>
          <a:xfrm>
            <a:off x="10332720" y="1938528"/>
            <a:ext cx="1508760" cy="274320"/>
          </a:xfrm>
          <a:prstGeom prst="rect">
            <a:avLst/>
          </a:prstGeom>
          <a:noFill/>
        </p:spPr>
        <p:txBody>
          <a:bodyPr wrap="square">
            <a:spAutoFit/>
          </a:bodyPr>
          <a:lstStyle/>
          <a:p>
            <a:pPr algn="ctr"/>
            <a:r>
              <a:rPr sz="800" b="0" i="0">
                <a:solidFill>
                  <a:srgbClr val="4DB683"/>
                </a:solidFill>
                <a:latin typeface="Calibri"/>
              </a:rPr>
              <a:t>Explainability</a:t>
            </a:r>
          </a:p>
        </p:txBody>
      </p:sp>
      <p:sp>
        <p:nvSpPr>
          <p:cNvPr id="40" name="Rectangle 39"/>
          <p:cNvSpPr/>
          <p:nvPr/>
        </p:nvSpPr>
        <p:spPr>
          <a:xfrm>
            <a:off x="228600" y="2514600"/>
            <a:ext cx="1828800" cy="1417320"/>
          </a:xfrm>
          <a:prstGeom prst="roundRect">
            <a:avLst>
              <a:gd name="adj" fmla="val 0"/>
            </a:avLst>
          </a:prstGeom>
          <a:solidFill>
            <a:srgbClr val="162E2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228600" y="2514600"/>
            <a:ext cx="1828800" cy="201168"/>
          </a:xfrm>
          <a:prstGeom prst="roundRect">
            <a:avLst>
              <a:gd name="adj" fmla="val 0"/>
            </a:avLst>
          </a:prstGeom>
          <a:solidFill>
            <a:srgbClr val="3F7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28600" y="2743200"/>
            <a:ext cx="1828800" cy="292608"/>
          </a:xfrm>
          <a:prstGeom prst="rect">
            <a:avLst/>
          </a:prstGeom>
          <a:noFill/>
        </p:spPr>
        <p:txBody>
          <a:bodyPr wrap="square">
            <a:spAutoFit/>
          </a:bodyPr>
          <a:lstStyle/>
          <a:p>
            <a:pPr algn="ctr"/>
            <a:r>
              <a:rPr sz="1200" b="1" i="0">
                <a:solidFill>
                  <a:srgbClr val="FFFFFF"/>
                </a:solidFill>
                <a:latin typeface="Calibri"/>
              </a:rPr>
              <a:t>Dataset</a:t>
            </a:r>
          </a:p>
        </p:txBody>
      </p:sp>
      <p:sp>
        <p:nvSpPr>
          <p:cNvPr id="43" name="TextBox 42"/>
          <p:cNvSpPr txBox="1"/>
          <p:nvPr/>
        </p:nvSpPr>
        <p:spPr>
          <a:xfrm>
            <a:off x="228600" y="3063240"/>
            <a:ext cx="1828800" cy="731520"/>
          </a:xfrm>
          <a:prstGeom prst="rect">
            <a:avLst/>
          </a:prstGeom>
          <a:noFill/>
        </p:spPr>
        <p:txBody>
          <a:bodyPr wrap="square">
            <a:spAutoFit/>
          </a:bodyPr>
          <a:lstStyle/>
          <a:p>
            <a:pPr algn="ctr"/>
            <a:r>
              <a:rPr sz="900" b="0" i="0">
                <a:solidFill>
                  <a:srgbClr val="8FD3AB"/>
                </a:solidFill>
                <a:latin typeface="Calibri"/>
              </a:rPr>
              <a:t>NIH ChestX-ray14
~14,000 images (reduced)</a:t>
            </a:r>
          </a:p>
        </p:txBody>
      </p:sp>
      <p:sp>
        <p:nvSpPr>
          <p:cNvPr id="44" name="Rectangle 43"/>
          <p:cNvSpPr/>
          <p:nvPr/>
        </p:nvSpPr>
        <p:spPr>
          <a:xfrm>
            <a:off x="2194560" y="2514600"/>
            <a:ext cx="1828800" cy="1417320"/>
          </a:xfrm>
          <a:prstGeom prst="roundRect">
            <a:avLst>
              <a:gd name="adj" fmla="val 0"/>
            </a:avLst>
          </a:prstGeom>
          <a:solidFill>
            <a:srgbClr val="162E2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2194560" y="2514600"/>
            <a:ext cx="1828800" cy="20116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194560" y="2743200"/>
            <a:ext cx="1828800" cy="292608"/>
          </a:xfrm>
          <a:prstGeom prst="rect">
            <a:avLst/>
          </a:prstGeom>
          <a:noFill/>
        </p:spPr>
        <p:txBody>
          <a:bodyPr wrap="square">
            <a:spAutoFit/>
          </a:bodyPr>
          <a:lstStyle/>
          <a:p>
            <a:pPr algn="ctr"/>
            <a:r>
              <a:rPr sz="1200" b="1" i="0">
                <a:solidFill>
                  <a:srgbClr val="FFFFFF"/>
                </a:solidFill>
                <a:latin typeface="Calibri"/>
              </a:rPr>
              <a:t>Model</a:t>
            </a:r>
          </a:p>
        </p:txBody>
      </p:sp>
      <p:sp>
        <p:nvSpPr>
          <p:cNvPr id="47" name="TextBox 46"/>
          <p:cNvSpPr txBox="1"/>
          <p:nvPr/>
        </p:nvSpPr>
        <p:spPr>
          <a:xfrm>
            <a:off x="2194560" y="3063240"/>
            <a:ext cx="1828800" cy="731520"/>
          </a:xfrm>
          <a:prstGeom prst="rect">
            <a:avLst/>
          </a:prstGeom>
          <a:noFill/>
        </p:spPr>
        <p:txBody>
          <a:bodyPr wrap="square">
            <a:spAutoFit/>
          </a:bodyPr>
          <a:lstStyle/>
          <a:p>
            <a:pPr algn="ctr"/>
            <a:r>
              <a:rPr sz="900" b="0" i="0">
                <a:solidFill>
                  <a:srgbClr val="8FD3AB"/>
                </a:solidFill>
                <a:latin typeface="Calibri"/>
              </a:rPr>
              <a:t>DenseNet121
ImageNet pre-trained</a:t>
            </a:r>
          </a:p>
        </p:txBody>
      </p:sp>
      <p:sp>
        <p:nvSpPr>
          <p:cNvPr id="48" name="Rectangle 47"/>
          <p:cNvSpPr/>
          <p:nvPr/>
        </p:nvSpPr>
        <p:spPr>
          <a:xfrm>
            <a:off x="4160520" y="2514600"/>
            <a:ext cx="1828800" cy="1417320"/>
          </a:xfrm>
          <a:prstGeom prst="roundRect">
            <a:avLst>
              <a:gd name="adj" fmla="val 0"/>
            </a:avLst>
          </a:prstGeom>
          <a:solidFill>
            <a:srgbClr val="162E2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160520" y="2514600"/>
            <a:ext cx="1828800" cy="201168"/>
          </a:xfrm>
          <a:prstGeom prst="roundRect">
            <a:avLst>
              <a:gd name="adj" fmla="val 0"/>
            </a:avLst>
          </a:prstGeom>
          <a:solidFill>
            <a:srgbClr val="6FC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60520" y="2743200"/>
            <a:ext cx="1828800" cy="292608"/>
          </a:xfrm>
          <a:prstGeom prst="rect">
            <a:avLst/>
          </a:prstGeom>
          <a:noFill/>
        </p:spPr>
        <p:txBody>
          <a:bodyPr wrap="square">
            <a:spAutoFit/>
          </a:bodyPr>
          <a:lstStyle/>
          <a:p>
            <a:pPr algn="ctr"/>
            <a:r>
              <a:rPr sz="1200" b="1" i="0">
                <a:solidFill>
                  <a:srgbClr val="FFFFFF"/>
                </a:solidFill>
                <a:latin typeface="Calibri"/>
              </a:rPr>
              <a:t>Training</a:t>
            </a:r>
          </a:p>
        </p:txBody>
      </p:sp>
      <p:sp>
        <p:nvSpPr>
          <p:cNvPr id="51" name="TextBox 50"/>
          <p:cNvSpPr txBox="1"/>
          <p:nvPr/>
        </p:nvSpPr>
        <p:spPr>
          <a:xfrm>
            <a:off x="4160520" y="3063240"/>
            <a:ext cx="1828800" cy="731520"/>
          </a:xfrm>
          <a:prstGeom prst="rect">
            <a:avLst/>
          </a:prstGeom>
          <a:noFill/>
        </p:spPr>
        <p:txBody>
          <a:bodyPr wrap="square">
            <a:spAutoFit/>
          </a:bodyPr>
          <a:lstStyle/>
          <a:p>
            <a:pPr algn="ctr"/>
            <a:r>
              <a:rPr sz="900" b="0" i="0">
                <a:solidFill>
                  <a:srgbClr val="8FD3AB"/>
                </a:solidFill>
                <a:latin typeface="Calibri"/>
              </a:rPr>
              <a:t>Local epochs: 3/round
FL rounds: 5–10</a:t>
            </a:r>
          </a:p>
        </p:txBody>
      </p:sp>
      <p:sp>
        <p:nvSpPr>
          <p:cNvPr id="52" name="Rectangle 51"/>
          <p:cNvSpPr/>
          <p:nvPr/>
        </p:nvSpPr>
        <p:spPr>
          <a:xfrm>
            <a:off x="228600" y="4023360"/>
            <a:ext cx="1828800" cy="1417320"/>
          </a:xfrm>
          <a:prstGeom prst="roundRect">
            <a:avLst>
              <a:gd name="adj" fmla="val 0"/>
            </a:avLst>
          </a:prstGeom>
          <a:solidFill>
            <a:srgbClr val="162E2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228600" y="4023360"/>
            <a:ext cx="1828800" cy="201168"/>
          </a:xfrm>
          <a:prstGeom prst="roundRect">
            <a:avLst>
              <a:gd name="adj" fmla="val 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28600" y="4251960"/>
            <a:ext cx="1828800" cy="292608"/>
          </a:xfrm>
          <a:prstGeom prst="rect">
            <a:avLst/>
          </a:prstGeom>
          <a:noFill/>
        </p:spPr>
        <p:txBody>
          <a:bodyPr wrap="square">
            <a:spAutoFit/>
          </a:bodyPr>
          <a:lstStyle/>
          <a:p>
            <a:pPr algn="ctr"/>
            <a:r>
              <a:rPr sz="1200" b="1" i="0">
                <a:solidFill>
                  <a:srgbClr val="FFFFFF"/>
                </a:solidFill>
                <a:latin typeface="Calibri"/>
              </a:rPr>
              <a:t>Loss/Opt</a:t>
            </a:r>
          </a:p>
        </p:txBody>
      </p:sp>
      <p:sp>
        <p:nvSpPr>
          <p:cNvPr id="55" name="TextBox 54"/>
          <p:cNvSpPr txBox="1"/>
          <p:nvPr/>
        </p:nvSpPr>
        <p:spPr>
          <a:xfrm>
            <a:off x="228600" y="4572000"/>
            <a:ext cx="1828800" cy="731520"/>
          </a:xfrm>
          <a:prstGeom prst="rect">
            <a:avLst/>
          </a:prstGeom>
          <a:noFill/>
        </p:spPr>
        <p:txBody>
          <a:bodyPr wrap="square">
            <a:spAutoFit/>
          </a:bodyPr>
          <a:lstStyle/>
          <a:p>
            <a:pPr algn="ctr"/>
            <a:r>
              <a:rPr sz="900" b="0" i="0">
                <a:solidFill>
                  <a:srgbClr val="8FD3AB"/>
                </a:solidFill>
                <a:latin typeface="Calibri"/>
              </a:rPr>
              <a:t>Binary CrossEntropy
Adam optimizer</a:t>
            </a:r>
          </a:p>
        </p:txBody>
      </p:sp>
      <p:sp>
        <p:nvSpPr>
          <p:cNvPr id="56" name="Rectangle 55"/>
          <p:cNvSpPr/>
          <p:nvPr/>
        </p:nvSpPr>
        <p:spPr>
          <a:xfrm>
            <a:off x="2194560" y="4023360"/>
            <a:ext cx="1828800" cy="1417320"/>
          </a:xfrm>
          <a:prstGeom prst="roundRect">
            <a:avLst>
              <a:gd name="adj" fmla="val 0"/>
            </a:avLst>
          </a:prstGeom>
          <a:solidFill>
            <a:srgbClr val="162E2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2194560" y="4023360"/>
            <a:ext cx="1828800" cy="201168"/>
          </a:xfrm>
          <a:prstGeom prst="roundRect">
            <a:avLst>
              <a:gd name="adj" fmla="val 0"/>
            </a:avLst>
          </a:prstGeom>
          <a:solidFill>
            <a:srgbClr val="4DB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194560" y="4251960"/>
            <a:ext cx="1828800" cy="292608"/>
          </a:xfrm>
          <a:prstGeom prst="rect">
            <a:avLst/>
          </a:prstGeom>
          <a:noFill/>
        </p:spPr>
        <p:txBody>
          <a:bodyPr wrap="square">
            <a:spAutoFit/>
          </a:bodyPr>
          <a:lstStyle/>
          <a:p>
            <a:pPr algn="ctr"/>
            <a:r>
              <a:rPr sz="1200" b="1" i="0">
                <a:solidFill>
                  <a:srgbClr val="FFFFFF"/>
                </a:solidFill>
                <a:latin typeface="Calibri"/>
              </a:rPr>
              <a:t>Output</a:t>
            </a:r>
          </a:p>
        </p:txBody>
      </p:sp>
      <p:sp>
        <p:nvSpPr>
          <p:cNvPr id="59" name="TextBox 58"/>
          <p:cNvSpPr txBox="1"/>
          <p:nvPr/>
        </p:nvSpPr>
        <p:spPr>
          <a:xfrm>
            <a:off x="2194560" y="4572000"/>
            <a:ext cx="1828800" cy="731520"/>
          </a:xfrm>
          <a:prstGeom prst="rect">
            <a:avLst/>
          </a:prstGeom>
          <a:noFill/>
        </p:spPr>
        <p:txBody>
          <a:bodyPr wrap="square">
            <a:spAutoFit/>
          </a:bodyPr>
          <a:lstStyle/>
          <a:p>
            <a:pPr algn="ctr"/>
            <a:r>
              <a:rPr sz="900" b="0" i="0">
                <a:solidFill>
                  <a:srgbClr val="8FD3AB"/>
                </a:solidFill>
                <a:latin typeface="Calibri"/>
              </a:rPr>
              <a:t>Sigmoid activation
Multi-label per image</a:t>
            </a:r>
          </a:p>
        </p:txBody>
      </p:sp>
      <p:sp>
        <p:nvSpPr>
          <p:cNvPr id="60" name="Rectangle 59"/>
          <p:cNvSpPr/>
          <p:nvPr/>
        </p:nvSpPr>
        <p:spPr>
          <a:xfrm>
            <a:off x="4160520" y="4023360"/>
            <a:ext cx="1828800" cy="1417320"/>
          </a:xfrm>
          <a:prstGeom prst="roundRect">
            <a:avLst>
              <a:gd name="adj" fmla="val 0"/>
            </a:avLst>
          </a:prstGeom>
          <a:solidFill>
            <a:srgbClr val="162E2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160520" y="4023360"/>
            <a:ext cx="1828800" cy="201168"/>
          </a:xfrm>
          <a:prstGeom prst="roundRect">
            <a:avLst>
              <a:gd name="adj" fmla="val 0"/>
            </a:avLst>
          </a:prstGeom>
          <a:solidFill>
            <a:srgbClr val="D6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160520" y="4251960"/>
            <a:ext cx="1828800" cy="292608"/>
          </a:xfrm>
          <a:prstGeom prst="rect">
            <a:avLst/>
          </a:prstGeom>
          <a:noFill/>
        </p:spPr>
        <p:txBody>
          <a:bodyPr wrap="square">
            <a:spAutoFit/>
          </a:bodyPr>
          <a:lstStyle/>
          <a:p>
            <a:pPr algn="ctr"/>
            <a:r>
              <a:rPr sz="1200" b="1" i="0">
                <a:solidFill>
                  <a:srgbClr val="FFFFFF"/>
                </a:solidFill>
                <a:latin typeface="Calibri"/>
              </a:rPr>
              <a:t>Privacy</a:t>
            </a:r>
          </a:p>
        </p:txBody>
      </p:sp>
      <p:sp>
        <p:nvSpPr>
          <p:cNvPr id="63" name="TextBox 62"/>
          <p:cNvSpPr txBox="1"/>
          <p:nvPr/>
        </p:nvSpPr>
        <p:spPr>
          <a:xfrm>
            <a:off x="4160520" y="4572000"/>
            <a:ext cx="1828800" cy="731520"/>
          </a:xfrm>
          <a:prstGeom prst="rect">
            <a:avLst/>
          </a:prstGeom>
          <a:noFill/>
        </p:spPr>
        <p:txBody>
          <a:bodyPr wrap="square">
            <a:spAutoFit/>
          </a:bodyPr>
          <a:lstStyle/>
          <a:p>
            <a:pPr algn="ctr"/>
            <a:r>
              <a:rPr sz="900" b="0" i="0">
                <a:solidFill>
                  <a:srgbClr val="8FD3AB"/>
                </a:solidFill>
                <a:latin typeface="Calibri"/>
              </a:rPr>
              <a:t>No raw images shared
Weights only via FedAvg</a:t>
            </a:r>
          </a:p>
        </p:txBody>
      </p:sp>
      <p:sp>
        <p:nvSpPr>
          <p:cNvPr id="64" name="Rectangle 63"/>
          <p:cNvSpPr/>
          <p:nvPr/>
        </p:nvSpPr>
        <p:spPr>
          <a:xfrm>
            <a:off x="6080760" y="2514600"/>
            <a:ext cx="5897880" cy="4114800"/>
          </a:xfrm>
          <a:prstGeom prst="roundRect">
            <a:avLst>
              <a:gd name="adj" fmla="val 0"/>
            </a:avLst>
          </a:prstGeom>
          <a:solidFill>
            <a:srgbClr val="162E22"/>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63640" y="2651760"/>
            <a:ext cx="5532120" cy="347472"/>
          </a:xfrm>
          <a:prstGeom prst="rect">
            <a:avLst/>
          </a:prstGeom>
          <a:noFill/>
        </p:spPr>
        <p:txBody>
          <a:bodyPr wrap="square">
            <a:spAutoFit/>
          </a:bodyPr>
          <a:lstStyle/>
          <a:p>
            <a:pPr algn="l"/>
            <a:r>
              <a:rPr sz="1500" b="1" i="0">
                <a:solidFill>
                  <a:srgbClr val="FFFFFF"/>
                </a:solidFill>
                <a:latin typeface="Calibri"/>
              </a:rPr>
              <a:t>Federated Learning Architecture</a:t>
            </a:r>
          </a:p>
        </p:txBody>
      </p:sp>
      <p:sp>
        <p:nvSpPr>
          <p:cNvPr id="66" name="Rectangle 65"/>
          <p:cNvSpPr/>
          <p:nvPr/>
        </p:nvSpPr>
        <p:spPr>
          <a:xfrm>
            <a:off x="6263640" y="3108960"/>
            <a:ext cx="292608" cy="29260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63640" y="3108960"/>
            <a:ext cx="292608" cy="292608"/>
          </a:xfrm>
          <a:prstGeom prst="rect">
            <a:avLst/>
          </a:prstGeom>
          <a:noFill/>
        </p:spPr>
        <p:txBody>
          <a:bodyPr wrap="square">
            <a:spAutoFit/>
          </a:bodyPr>
          <a:lstStyle/>
          <a:p>
            <a:pPr algn="ctr"/>
            <a:r>
              <a:rPr sz="900" b="1" i="0">
                <a:solidFill>
                  <a:srgbClr val="FFFFFF"/>
                </a:solidFill>
                <a:latin typeface="Calibri"/>
              </a:rPr>
              <a:t>1.</a:t>
            </a:r>
          </a:p>
        </p:txBody>
      </p:sp>
      <p:sp>
        <p:nvSpPr>
          <p:cNvPr id="68" name="TextBox 67"/>
          <p:cNvSpPr txBox="1"/>
          <p:nvPr/>
        </p:nvSpPr>
        <p:spPr>
          <a:xfrm>
            <a:off x="6647688" y="3108960"/>
            <a:ext cx="5120640" cy="347472"/>
          </a:xfrm>
          <a:prstGeom prst="rect">
            <a:avLst/>
          </a:prstGeom>
          <a:noFill/>
        </p:spPr>
        <p:txBody>
          <a:bodyPr wrap="square">
            <a:spAutoFit/>
          </a:bodyPr>
          <a:lstStyle/>
          <a:p>
            <a:pPr algn="l"/>
            <a:r>
              <a:rPr sz="1000" b="0" i="0">
                <a:solidFill>
                  <a:srgbClr val="8FD3AB"/>
                </a:solidFill>
                <a:latin typeface="Calibri"/>
              </a:rPr>
              <a:t>Global model initialized, weights broadcast to all 4 hospitals</a:t>
            </a:r>
          </a:p>
        </p:txBody>
      </p:sp>
      <p:sp>
        <p:nvSpPr>
          <p:cNvPr id="69" name="Rectangle 68"/>
          <p:cNvSpPr/>
          <p:nvPr/>
        </p:nvSpPr>
        <p:spPr>
          <a:xfrm>
            <a:off x="6263640" y="3584448"/>
            <a:ext cx="292608" cy="29260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263640" y="3584448"/>
            <a:ext cx="292608" cy="292608"/>
          </a:xfrm>
          <a:prstGeom prst="rect">
            <a:avLst/>
          </a:prstGeom>
          <a:noFill/>
        </p:spPr>
        <p:txBody>
          <a:bodyPr wrap="square">
            <a:spAutoFit/>
          </a:bodyPr>
          <a:lstStyle/>
          <a:p>
            <a:pPr algn="ctr"/>
            <a:r>
              <a:rPr sz="900" b="1" i="0">
                <a:solidFill>
                  <a:srgbClr val="FFFFFF"/>
                </a:solidFill>
                <a:latin typeface="Calibri"/>
              </a:rPr>
              <a:t>2.</a:t>
            </a:r>
          </a:p>
        </p:txBody>
      </p:sp>
      <p:sp>
        <p:nvSpPr>
          <p:cNvPr id="71" name="TextBox 70"/>
          <p:cNvSpPr txBox="1"/>
          <p:nvPr/>
        </p:nvSpPr>
        <p:spPr>
          <a:xfrm>
            <a:off x="6647688" y="3584448"/>
            <a:ext cx="5120640" cy="347472"/>
          </a:xfrm>
          <a:prstGeom prst="rect">
            <a:avLst/>
          </a:prstGeom>
          <a:noFill/>
        </p:spPr>
        <p:txBody>
          <a:bodyPr wrap="square">
            <a:spAutoFit/>
          </a:bodyPr>
          <a:lstStyle/>
          <a:p>
            <a:pPr algn="l"/>
            <a:r>
              <a:rPr sz="1000" b="0" i="0">
                <a:solidFill>
                  <a:srgbClr val="8FD3AB"/>
                </a:solidFill>
                <a:latin typeface="Calibri"/>
              </a:rPr>
              <a:t>Each hospital trains locally on its private X-ray subset (3 epochs)</a:t>
            </a:r>
          </a:p>
        </p:txBody>
      </p:sp>
      <p:sp>
        <p:nvSpPr>
          <p:cNvPr id="72" name="Rectangle 71"/>
          <p:cNvSpPr/>
          <p:nvPr/>
        </p:nvSpPr>
        <p:spPr>
          <a:xfrm>
            <a:off x="6263640" y="4059936"/>
            <a:ext cx="292608" cy="29260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63640" y="4059936"/>
            <a:ext cx="292608" cy="292608"/>
          </a:xfrm>
          <a:prstGeom prst="rect">
            <a:avLst/>
          </a:prstGeom>
          <a:noFill/>
        </p:spPr>
        <p:txBody>
          <a:bodyPr wrap="square">
            <a:spAutoFit/>
          </a:bodyPr>
          <a:lstStyle/>
          <a:p>
            <a:pPr algn="ctr"/>
            <a:r>
              <a:rPr sz="900" b="1" i="0">
                <a:solidFill>
                  <a:srgbClr val="FFFFFF"/>
                </a:solidFill>
                <a:latin typeface="Calibri"/>
              </a:rPr>
              <a:t>3.</a:t>
            </a:r>
          </a:p>
        </p:txBody>
      </p:sp>
      <p:sp>
        <p:nvSpPr>
          <p:cNvPr id="74" name="TextBox 73"/>
          <p:cNvSpPr txBox="1"/>
          <p:nvPr/>
        </p:nvSpPr>
        <p:spPr>
          <a:xfrm>
            <a:off x="6647688" y="4059936"/>
            <a:ext cx="5120640" cy="347472"/>
          </a:xfrm>
          <a:prstGeom prst="rect">
            <a:avLst/>
          </a:prstGeom>
          <a:noFill/>
        </p:spPr>
        <p:txBody>
          <a:bodyPr wrap="square">
            <a:spAutoFit/>
          </a:bodyPr>
          <a:lstStyle/>
          <a:p>
            <a:pPr algn="l"/>
            <a:r>
              <a:rPr sz="1000" b="0" i="0">
                <a:solidFill>
                  <a:srgbClr val="8FD3AB"/>
                </a:solidFill>
                <a:latin typeface="Calibri"/>
              </a:rPr>
              <a:t>Local weight updates sent to central aggregation server</a:t>
            </a:r>
          </a:p>
        </p:txBody>
      </p:sp>
      <p:sp>
        <p:nvSpPr>
          <p:cNvPr id="75" name="Rectangle 74"/>
          <p:cNvSpPr/>
          <p:nvPr/>
        </p:nvSpPr>
        <p:spPr>
          <a:xfrm>
            <a:off x="6263640" y="4535424"/>
            <a:ext cx="292608" cy="29260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63640" y="4535424"/>
            <a:ext cx="292608" cy="292608"/>
          </a:xfrm>
          <a:prstGeom prst="rect">
            <a:avLst/>
          </a:prstGeom>
          <a:noFill/>
        </p:spPr>
        <p:txBody>
          <a:bodyPr wrap="square">
            <a:spAutoFit/>
          </a:bodyPr>
          <a:lstStyle/>
          <a:p>
            <a:pPr algn="ctr"/>
            <a:r>
              <a:rPr sz="900" b="1" i="0">
                <a:solidFill>
                  <a:srgbClr val="FFFFFF"/>
                </a:solidFill>
                <a:latin typeface="Calibri"/>
              </a:rPr>
              <a:t>4.</a:t>
            </a:r>
          </a:p>
        </p:txBody>
      </p:sp>
      <p:sp>
        <p:nvSpPr>
          <p:cNvPr id="77" name="TextBox 76"/>
          <p:cNvSpPr txBox="1"/>
          <p:nvPr/>
        </p:nvSpPr>
        <p:spPr>
          <a:xfrm>
            <a:off x="6647688" y="4535424"/>
            <a:ext cx="5120640" cy="347472"/>
          </a:xfrm>
          <a:prstGeom prst="rect">
            <a:avLst/>
          </a:prstGeom>
          <a:noFill/>
        </p:spPr>
        <p:txBody>
          <a:bodyPr wrap="square">
            <a:spAutoFit/>
          </a:bodyPr>
          <a:lstStyle/>
          <a:p>
            <a:pPr algn="l"/>
            <a:r>
              <a:rPr sz="1000" b="0" i="0">
                <a:solidFill>
                  <a:srgbClr val="8FD3AB"/>
                </a:solidFill>
                <a:latin typeface="Calibri"/>
              </a:rPr>
              <a:t>FedAvg computes weighted average of all hospital weights</a:t>
            </a:r>
          </a:p>
        </p:txBody>
      </p:sp>
      <p:sp>
        <p:nvSpPr>
          <p:cNvPr id="78" name="Rectangle 77"/>
          <p:cNvSpPr/>
          <p:nvPr/>
        </p:nvSpPr>
        <p:spPr>
          <a:xfrm>
            <a:off x="6263640" y="5010912"/>
            <a:ext cx="292608" cy="29260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263640" y="5010912"/>
            <a:ext cx="292608" cy="292608"/>
          </a:xfrm>
          <a:prstGeom prst="rect">
            <a:avLst/>
          </a:prstGeom>
          <a:noFill/>
        </p:spPr>
        <p:txBody>
          <a:bodyPr wrap="square">
            <a:spAutoFit/>
          </a:bodyPr>
          <a:lstStyle/>
          <a:p>
            <a:pPr algn="ctr"/>
            <a:r>
              <a:rPr sz="900" b="1" i="0">
                <a:solidFill>
                  <a:srgbClr val="FFFFFF"/>
                </a:solidFill>
                <a:latin typeface="Calibri"/>
              </a:rPr>
              <a:t>5.</a:t>
            </a:r>
          </a:p>
        </p:txBody>
      </p:sp>
      <p:sp>
        <p:nvSpPr>
          <p:cNvPr id="80" name="TextBox 79"/>
          <p:cNvSpPr txBox="1"/>
          <p:nvPr/>
        </p:nvSpPr>
        <p:spPr>
          <a:xfrm>
            <a:off x="6647688" y="5010912"/>
            <a:ext cx="5120640" cy="347472"/>
          </a:xfrm>
          <a:prstGeom prst="rect">
            <a:avLst/>
          </a:prstGeom>
          <a:noFill/>
        </p:spPr>
        <p:txBody>
          <a:bodyPr wrap="square">
            <a:spAutoFit/>
          </a:bodyPr>
          <a:lstStyle/>
          <a:p>
            <a:pPr algn="l"/>
            <a:r>
              <a:rPr sz="1000" b="0" i="0">
                <a:solidFill>
                  <a:srgbClr val="8FD3AB"/>
                </a:solidFill>
                <a:latin typeface="Calibri"/>
              </a:rPr>
              <a:t>New global model deployed back to all hospitals</a:t>
            </a:r>
          </a:p>
        </p:txBody>
      </p:sp>
      <p:sp>
        <p:nvSpPr>
          <p:cNvPr id="81" name="Rectangle 80"/>
          <p:cNvSpPr/>
          <p:nvPr/>
        </p:nvSpPr>
        <p:spPr>
          <a:xfrm>
            <a:off x="6263640" y="5486400"/>
            <a:ext cx="292608" cy="29260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263640" y="5486400"/>
            <a:ext cx="292608" cy="292608"/>
          </a:xfrm>
          <a:prstGeom prst="rect">
            <a:avLst/>
          </a:prstGeom>
          <a:noFill/>
        </p:spPr>
        <p:txBody>
          <a:bodyPr wrap="square">
            <a:spAutoFit/>
          </a:bodyPr>
          <a:lstStyle/>
          <a:p>
            <a:pPr algn="ctr"/>
            <a:r>
              <a:rPr sz="900" b="1" i="0">
                <a:solidFill>
                  <a:srgbClr val="FFFFFF"/>
                </a:solidFill>
                <a:latin typeface="Calibri"/>
              </a:rPr>
              <a:t>6.</a:t>
            </a:r>
          </a:p>
        </p:txBody>
      </p:sp>
      <p:sp>
        <p:nvSpPr>
          <p:cNvPr id="83" name="TextBox 82"/>
          <p:cNvSpPr txBox="1"/>
          <p:nvPr/>
        </p:nvSpPr>
        <p:spPr>
          <a:xfrm>
            <a:off x="6647688" y="5486400"/>
            <a:ext cx="5120640" cy="347472"/>
          </a:xfrm>
          <a:prstGeom prst="rect">
            <a:avLst/>
          </a:prstGeom>
          <a:noFill/>
        </p:spPr>
        <p:txBody>
          <a:bodyPr wrap="square">
            <a:spAutoFit/>
          </a:bodyPr>
          <a:lstStyle/>
          <a:p>
            <a:pPr algn="l"/>
            <a:r>
              <a:rPr sz="1000" b="0" i="0">
                <a:solidFill>
                  <a:srgbClr val="8FD3AB"/>
                </a:solidFill>
                <a:latin typeface="Calibri"/>
              </a:rPr>
              <a:t>Repeat for 5–10 communication rounds</a:t>
            </a:r>
          </a:p>
        </p:txBody>
      </p:sp>
      <p:sp>
        <p:nvSpPr>
          <p:cNvPr id="84" name="Rectangle 83"/>
          <p:cNvSpPr/>
          <p:nvPr/>
        </p:nvSpPr>
        <p:spPr>
          <a:xfrm>
            <a:off x="6263640" y="5961888"/>
            <a:ext cx="292608" cy="29260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263640" y="5961888"/>
            <a:ext cx="292608" cy="292608"/>
          </a:xfrm>
          <a:prstGeom prst="rect">
            <a:avLst/>
          </a:prstGeom>
          <a:noFill/>
        </p:spPr>
        <p:txBody>
          <a:bodyPr wrap="square">
            <a:spAutoFit/>
          </a:bodyPr>
          <a:lstStyle/>
          <a:p>
            <a:pPr algn="ctr"/>
            <a:r>
              <a:rPr sz="900" b="1" i="0">
                <a:solidFill>
                  <a:srgbClr val="FFFFFF"/>
                </a:solidFill>
                <a:latin typeface="Calibri"/>
              </a:rPr>
              <a:t>7.</a:t>
            </a:r>
          </a:p>
        </p:txBody>
      </p:sp>
      <p:sp>
        <p:nvSpPr>
          <p:cNvPr id="86" name="TextBox 85"/>
          <p:cNvSpPr txBox="1"/>
          <p:nvPr/>
        </p:nvSpPr>
        <p:spPr>
          <a:xfrm>
            <a:off x="6647688" y="5961888"/>
            <a:ext cx="5120640" cy="347472"/>
          </a:xfrm>
          <a:prstGeom prst="rect">
            <a:avLst/>
          </a:prstGeom>
          <a:noFill/>
        </p:spPr>
        <p:txBody>
          <a:bodyPr wrap="square">
            <a:spAutoFit/>
          </a:bodyPr>
          <a:lstStyle/>
          <a:p>
            <a:pPr algn="l"/>
            <a:r>
              <a:rPr sz="1000" b="0" i="0">
                <a:solidFill>
                  <a:srgbClr val="8FD3AB"/>
                </a:solidFill>
                <a:latin typeface="Calibri"/>
              </a:rPr>
              <a:t>Final model evaluated on held-out test splits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9F6"/>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227D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10058400" cy="640080"/>
          </a:xfrm>
          <a:prstGeom prst="rect">
            <a:avLst/>
          </a:prstGeom>
          <a:noFill/>
        </p:spPr>
        <p:txBody>
          <a:bodyPr wrap="square">
            <a:spAutoFit/>
          </a:bodyPr>
          <a:lstStyle/>
          <a:p>
            <a:pPr algn="l"/>
            <a:r>
              <a:rPr sz="3000" b="1" i="0">
                <a:solidFill>
                  <a:srgbClr val="FFFFFF"/>
                </a:solidFill>
                <a:latin typeface="Calibri"/>
              </a:rPr>
              <a:t>From Model to Usable AI System</a:t>
            </a:r>
          </a:p>
        </p:txBody>
      </p:sp>
      <p:sp>
        <p:nvSpPr>
          <p:cNvPr id="4" name="TextBox 3"/>
          <p:cNvSpPr txBox="1"/>
          <p:nvPr/>
        </p:nvSpPr>
        <p:spPr>
          <a:xfrm>
            <a:off x="10515600" y="182880"/>
            <a:ext cx="1463040" cy="365760"/>
          </a:xfrm>
          <a:prstGeom prst="rect">
            <a:avLst/>
          </a:prstGeom>
          <a:noFill/>
        </p:spPr>
        <p:txBody>
          <a:bodyPr wrap="square">
            <a:spAutoFit/>
          </a:bodyPr>
          <a:lstStyle/>
          <a:p>
            <a:pPr algn="r"/>
            <a:r>
              <a:rPr sz="1000" b="0" i="0">
                <a:solidFill>
                  <a:srgbClr val="FFFFFF"/>
                </a:solidFill>
                <a:latin typeface="Calibri"/>
              </a:rPr>
              <a:t>SLIDE 05  /  07</a:t>
            </a:r>
          </a:p>
        </p:txBody>
      </p:sp>
      <p:sp>
        <p:nvSpPr>
          <p:cNvPr id="5" name="Rectangle 4"/>
          <p:cNvSpPr/>
          <p:nvPr/>
        </p:nvSpPr>
        <p:spPr>
          <a:xfrm>
            <a:off x="0" y="0"/>
            <a:ext cx="73152" cy="68580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914400"/>
            <a:ext cx="5852160" cy="393192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ashboard_1786403160479.png"/>
          <p:cNvPicPr>
            <a:picLocks noChangeAspect="1"/>
          </p:cNvPicPr>
          <p:nvPr/>
        </p:nvPicPr>
        <p:blipFill>
          <a:blip r:embed="rId2"/>
          <a:stretch>
            <a:fillRect/>
          </a:stretch>
        </p:blipFill>
        <p:spPr>
          <a:xfrm>
            <a:off x="182880" y="960120"/>
            <a:ext cx="5760720" cy="3840480"/>
          </a:xfrm>
          <a:prstGeom prst="rect">
            <a:avLst/>
          </a:prstGeom>
        </p:spPr>
      </p:pic>
      <p:sp>
        <p:nvSpPr>
          <p:cNvPr id="8" name="Rectangle 7"/>
          <p:cNvSpPr/>
          <p:nvPr/>
        </p:nvSpPr>
        <p:spPr>
          <a:xfrm>
            <a:off x="137160" y="4828032"/>
            <a:ext cx="5852160" cy="292608"/>
          </a:xfrm>
          <a:prstGeom prst="roundRect">
            <a:avLst>
              <a:gd name="adj" fmla="val 0"/>
            </a:avLst>
          </a:prstGeom>
          <a:solidFill>
            <a:srgbClr val="0F2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28600" y="4846320"/>
            <a:ext cx="5669280" cy="256032"/>
          </a:xfrm>
          <a:prstGeom prst="rect">
            <a:avLst/>
          </a:prstGeom>
          <a:noFill/>
        </p:spPr>
        <p:txBody>
          <a:bodyPr wrap="square">
            <a:spAutoFit/>
          </a:bodyPr>
          <a:lstStyle/>
          <a:p>
            <a:pPr algn="l"/>
            <a:r>
              <a:rPr sz="900" b="1" i="0">
                <a:solidFill>
                  <a:srgbClr val="FFFFFF"/>
                </a:solidFill>
                <a:latin typeface="Calibri"/>
              </a:rPr>
              <a:t>🏠  Clinical Dashboard — Overview with KPIs, predictions &amp; FL status</a:t>
            </a:r>
          </a:p>
        </p:txBody>
      </p:sp>
      <p:sp>
        <p:nvSpPr>
          <p:cNvPr id="10" name="Rectangle 9"/>
          <p:cNvSpPr/>
          <p:nvPr/>
        </p:nvSpPr>
        <p:spPr>
          <a:xfrm>
            <a:off x="6126480" y="914400"/>
            <a:ext cx="2971800" cy="19202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in_page_1786402889139.png"/>
          <p:cNvPicPr>
            <a:picLocks noChangeAspect="1"/>
          </p:cNvPicPr>
          <p:nvPr/>
        </p:nvPicPr>
        <p:blipFill>
          <a:blip r:embed="rId3"/>
          <a:stretch>
            <a:fillRect/>
          </a:stretch>
        </p:blipFill>
        <p:spPr>
          <a:xfrm>
            <a:off x="6172200" y="960120"/>
            <a:ext cx="2880360" cy="1600200"/>
          </a:xfrm>
          <a:prstGeom prst="rect">
            <a:avLst/>
          </a:prstGeom>
        </p:spPr>
      </p:pic>
      <p:sp>
        <p:nvSpPr>
          <p:cNvPr id="12" name="TextBox 11"/>
          <p:cNvSpPr txBox="1"/>
          <p:nvPr/>
        </p:nvSpPr>
        <p:spPr>
          <a:xfrm>
            <a:off x="6126480" y="2578608"/>
            <a:ext cx="2971800" cy="256032"/>
          </a:xfrm>
          <a:prstGeom prst="rect">
            <a:avLst/>
          </a:prstGeom>
          <a:noFill/>
        </p:spPr>
        <p:txBody>
          <a:bodyPr wrap="square">
            <a:spAutoFit/>
          </a:bodyPr>
          <a:lstStyle/>
          <a:p>
            <a:pPr algn="l"/>
            <a:r>
              <a:rPr sz="800" b="0" i="0">
                <a:solidFill>
                  <a:srgbClr val="33473F"/>
                </a:solidFill>
                <a:latin typeface="Calibri"/>
              </a:rPr>
              <a:t>🔐  Doctor Login — Hospital node authentication</a:t>
            </a:r>
          </a:p>
        </p:txBody>
      </p:sp>
      <p:sp>
        <p:nvSpPr>
          <p:cNvPr id="13" name="Rectangle 12"/>
          <p:cNvSpPr/>
          <p:nvPr/>
        </p:nvSpPr>
        <p:spPr>
          <a:xfrm>
            <a:off x="9189720" y="914400"/>
            <a:ext cx="2971800" cy="19202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pload_predict_1786403188926.png"/>
          <p:cNvPicPr>
            <a:picLocks noChangeAspect="1"/>
          </p:cNvPicPr>
          <p:nvPr/>
        </p:nvPicPr>
        <p:blipFill>
          <a:blip r:embed="rId4"/>
          <a:stretch>
            <a:fillRect/>
          </a:stretch>
        </p:blipFill>
        <p:spPr>
          <a:xfrm>
            <a:off x="9235440" y="960120"/>
            <a:ext cx="2880360" cy="1600200"/>
          </a:xfrm>
          <a:prstGeom prst="rect">
            <a:avLst/>
          </a:prstGeom>
        </p:spPr>
      </p:pic>
      <p:sp>
        <p:nvSpPr>
          <p:cNvPr id="15" name="TextBox 14"/>
          <p:cNvSpPr txBox="1"/>
          <p:nvPr/>
        </p:nvSpPr>
        <p:spPr>
          <a:xfrm>
            <a:off x="9189720" y="2578608"/>
            <a:ext cx="2971800" cy="256032"/>
          </a:xfrm>
          <a:prstGeom prst="rect">
            <a:avLst/>
          </a:prstGeom>
          <a:noFill/>
        </p:spPr>
        <p:txBody>
          <a:bodyPr wrap="square">
            <a:spAutoFit/>
          </a:bodyPr>
          <a:lstStyle/>
          <a:p>
            <a:pPr algn="l"/>
            <a:r>
              <a:rPr sz="800" b="0" i="0">
                <a:solidFill>
                  <a:srgbClr val="33473F"/>
                </a:solidFill>
                <a:latin typeface="Calibri"/>
              </a:rPr>
              <a:t>📤  Upload &amp; Predict — Drag-drop X-ray analysis</a:t>
            </a:r>
          </a:p>
        </p:txBody>
      </p:sp>
      <p:sp>
        <p:nvSpPr>
          <p:cNvPr id="16" name="Rectangle 15"/>
          <p:cNvSpPr/>
          <p:nvPr/>
        </p:nvSpPr>
        <p:spPr>
          <a:xfrm>
            <a:off x="6126480" y="2743200"/>
            <a:ext cx="2971800" cy="19202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l_monitor_1786403207975.png"/>
          <p:cNvPicPr>
            <a:picLocks noChangeAspect="1"/>
          </p:cNvPicPr>
          <p:nvPr/>
        </p:nvPicPr>
        <p:blipFill>
          <a:blip r:embed="rId5"/>
          <a:stretch>
            <a:fillRect/>
          </a:stretch>
        </p:blipFill>
        <p:spPr>
          <a:xfrm>
            <a:off x="6172200" y="2788920"/>
            <a:ext cx="2880360" cy="1600200"/>
          </a:xfrm>
          <a:prstGeom prst="rect">
            <a:avLst/>
          </a:prstGeom>
        </p:spPr>
      </p:pic>
      <p:sp>
        <p:nvSpPr>
          <p:cNvPr id="18" name="TextBox 17"/>
          <p:cNvSpPr txBox="1"/>
          <p:nvPr/>
        </p:nvSpPr>
        <p:spPr>
          <a:xfrm>
            <a:off x="6126480" y="4407408"/>
            <a:ext cx="2971800" cy="256032"/>
          </a:xfrm>
          <a:prstGeom prst="rect">
            <a:avLst/>
          </a:prstGeom>
          <a:noFill/>
        </p:spPr>
        <p:txBody>
          <a:bodyPr wrap="square">
            <a:spAutoFit/>
          </a:bodyPr>
          <a:lstStyle/>
          <a:p>
            <a:pPr algn="l"/>
            <a:r>
              <a:rPr sz="800" b="0" i="0">
                <a:solidFill>
                  <a:srgbClr val="33473F"/>
                </a:solidFill>
                <a:latin typeface="Calibri"/>
              </a:rPr>
              <a:t>🌐  FL Monitor — Hospital training status &amp; AUC</a:t>
            </a:r>
          </a:p>
        </p:txBody>
      </p:sp>
      <p:sp>
        <p:nvSpPr>
          <p:cNvPr id="19" name="Rectangle 18"/>
          <p:cNvSpPr/>
          <p:nvPr/>
        </p:nvSpPr>
        <p:spPr>
          <a:xfrm>
            <a:off x="9189720" y="2743200"/>
            <a:ext cx="2971800" cy="19202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disease_statistics_1786403242193.png"/>
          <p:cNvPicPr>
            <a:picLocks noChangeAspect="1"/>
          </p:cNvPicPr>
          <p:nvPr/>
        </p:nvPicPr>
        <p:blipFill>
          <a:blip r:embed="rId6"/>
          <a:stretch>
            <a:fillRect/>
          </a:stretch>
        </p:blipFill>
        <p:spPr>
          <a:xfrm>
            <a:off x="9235440" y="2788920"/>
            <a:ext cx="2880360" cy="1600200"/>
          </a:xfrm>
          <a:prstGeom prst="rect">
            <a:avLst/>
          </a:prstGeom>
        </p:spPr>
      </p:pic>
      <p:sp>
        <p:nvSpPr>
          <p:cNvPr id="21" name="TextBox 20"/>
          <p:cNvSpPr txBox="1"/>
          <p:nvPr/>
        </p:nvSpPr>
        <p:spPr>
          <a:xfrm>
            <a:off x="9189720" y="4407408"/>
            <a:ext cx="2971800" cy="256032"/>
          </a:xfrm>
          <a:prstGeom prst="rect">
            <a:avLst/>
          </a:prstGeom>
          <a:noFill/>
        </p:spPr>
        <p:txBody>
          <a:bodyPr wrap="square">
            <a:spAutoFit/>
          </a:bodyPr>
          <a:lstStyle/>
          <a:p>
            <a:pPr algn="l"/>
            <a:r>
              <a:rPr sz="800" b="0" i="0">
                <a:solidFill>
                  <a:srgbClr val="33473F"/>
                </a:solidFill>
                <a:latin typeface="Calibri"/>
              </a:rPr>
              <a:t>📊  Disease Statistics — Distribution analytics</a:t>
            </a:r>
          </a:p>
        </p:txBody>
      </p:sp>
      <p:sp>
        <p:nvSpPr>
          <p:cNvPr id="22" name="Rectangle 21"/>
          <p:cNvSpPr/>
          <p:nvPr/>
        </p:nvSpPr>
        <p:spPr>
          <a:xfrm>
            <a:off x="137160" y="5715000"/>
            <a:ext cx="11887200" cy="502920"/>
          </a:xfrm>
          <a:prstGeom prst="roundRect">
            <a:avLst>
              <a:gd name="adj" fmla="val 0"/>
            </a:avLst>
          </a:prstGeom>
          <a:solidFill>
            <a:srgbClr val="0F2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8600" y="5733288"/>
            <a:ext cx="11704320" cy="411480"/>
          </a:xfrm>
          <a:prstGeom prst="rect">
            <a:avLst/>
          </a:prstGeom>
          <a:noFill/>
        </p:spPr>
        <p:txBody>
          <a:bodyPr wrap="square">
            <a:spAutoFit/>
          </a:bodyPr>
          <a:lstStyle/>
          <a:p>
            <a:pPr algn="ctr"/>
            <a:r>
              <a:rPr sz="1000" b="0" i="0">
                <a:solidFill>
                  <a:srgbClr val="8FD3AB"/>
                </a:solidFill>
                <a:latin typeface="Calibri"/>
              </a:rPr>
              <a:t>Tech Stack:  HTML5  ·  CSS3  ·  Vanilla JS  ·  Chart.js  ·  Flask REST API  ·  TensorFlow/Keras  ·  python-joblib  ·  Render + GitHub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9F6"/>
        </a:solidFill>
        <a:effectLst/>
      </p:bgPr>
    </p:bg>
    <p:spTree>
      <p:nvGrpSpPr>
        <p:cNvPr id="1" name=""/>
        <p:cNvGrpSpPr/>
        <p:nvPr/>
      </p:nvGrpSpPr>
      <p:grpSpPr/>
      <p:sp>
        <p:nvSpPr>
          <p:cNvPr id="2" name="Rectangle 1"/>
          <p:cNvSpPr/>
          <p:nvPr/>
        </p:nvSpPr>
        <p:spPr>
          <a:xfrm>
            <a:off x="0" y="0"/>
            <a:ext cx="12188952" cy="822960"/>
          </a:xfrm>
          <a:prstGeom prst="rect">
            <a:avLst/>
          </a:prstGeom>
          <a:solidFill>
            <a:srgbClr val="0F2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91440"/>
            <a:ext cx="10058400" cy="640080"/>
          </a:xfrm>
          <a:prstGeom prst="rect">
            <a:avLst/>
          </a:prstGeom>
          <a:noFill/>
        </p:spPr>
        <p:txBody>
          <a:bodyPr wrap="square">
            <a:spAutoFit/>
          </a:bodyPr>
          <a:lstStyle/>
          <a:p>
            <a:pPr algn="l"/>
            <a:r>
              <a:rPr sz="3000" b="1" i="0">
                <a:solidFill>
                  <a:srgbClr val="FFFFFF"/>
                </a:solidFill>
                <a:latin typeface="Calibri"/>
              </a:rPr>
              <a:t>Results: What the System Delivers</a:t>
            </a:r>
          </a:p>
        </p:txBody>
      </p:sp>
      <p:sp>
        <p:nvSpPr>
          <p:cNvPr id="4" name="TextBox 3"/>
          <p:cNvSpPr txBox="1"/>
          <p:nvPr/>
        </p:nvSpPr>
        <p:spPr>
          <a:xfrm>
            <a:off x="10515600" y="182880"/>
            <a:ext cx="1463040" cy="365760"/>
          </a:xfrm>
          <a:prstGeom prst="rect">
            <a:avLst/>
          </a:prstGeom>
          <a:noFill/>
        </p:spPr>
        <p:txBody>
          <a:bodyPr wrap="square">
            <a:spAutoFit/>
          </a:bodyPr>
          <a:lstStyle/>
          <a:p>
            <a:pPr algn="r"/>
            <a:r>
              <a:rPr sz="1000" b="0" i="0">
                <a:solidFill>
                  <a:srgbClr val="4DB683"/>
                </a:solidFill>
                <a:latin typeface="Calibri"/>
              </a:rPr>
              <a:t>SLIDE 06  /  07</a:t>
            </a:r>
          </a:p>
        </p:txBody>
      </p:sp>
      <p:sp>
        <p:nvSpPr>
          <p:cNvPr id="5" name="Rectangle 4"/>
          <p:cNvSpPr/>
          <p:nvPr/>
        </p:nvSpPr>
        <p:spPr>
          <a:xfrm>
            <a:off x="0" y="0"/>
            <a:ext cx="73152" cy="68580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914400"/>
            <a:ext cx="2651760" cy="10058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914400"/>
            <a:ext cx="2651760" cy="137160"/>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069848"/>
            <a:ext cx="2651760" cy="457200"/>
          </a:xfrm>
          <a:prstGeom prst="rect">
            <a:avLst/>
          </a:prstGeom>
          <a:noFill/>
        </p:spPr>
        <p:txBody>
          <a:bodyPr wrap="square">
            <a:spAutoFit/>
          </a:bodyPr>
          <a:lstStyle/>
          <a:p>
            <a:pPr algn="ctr"/>
            <a:r>
              <a:rPr sz="2800" b="1" i="0">
                <a:solidFill>
                  <a:srgbClr val="2F9E68"/>
                </a:solidFill>
                <a:latin typeface="Calibri"/>
              </a:rPr>
              <a:t>~0.93</a:t>
            </a:r>
          </a:p>
        </p:txBody>
      </p:sp>
      <p:sp>
        <p:nvSpPr>
          <p:cNvPr id="9" name="TextBox 8"/>
          <p:cNvSpPr txBox="1"/>
          <p:nvPr/>
        </p:nvSpPr>
        <p:spPr>
          <a:xfrm>
            <a:off x="228600" y="1554480"/>
            <a:ext cx="2651760" cy="274320"/>
          </a:xfrm>
          <a:prstGeom prst="rect">
            <a:avLst/>
          </a:prstGeom>
          <a:noFill/>
        </p:spPr>
        <p:txBody>
          <a:bodyPr wrap="square">
            <a:spAutoFit/>
          </a:bodyPr>
          <a:lstStyle/>
          <a:p>
            <a:pPr algn="ctr"/>
            <a:r>
              <a:rPr sz="1000" b="0" i="0">
                <a:solidFill>
                  <a:srgbClr val="64796F"/>
                </a:solidFill>
                <a:latin typeface="Calibri"/>
              </a:rPr>
              <a:t>Global AUC</a:t>
            </a:r>
          </a:p>
        </p:txBody>
      </p:sp>
      <p:sp>
        <p:nvSpPr>
          <p:cNvPr id="10" name="Rectangle 9"/>
          <p:cNvSpPr/>
          <p:nvPr/>
        </p:nvSpPr>
        <p:spPr>
          <a:xfrm>
            <a:off x="3017520" y="914400"/>
            <a:ext cx="2651760" cy="10058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017520" y="914400"/>
            <a:ext cx="2651760" cy="137160"/>
          </a:xfrm>
          <a:prstGeom prst="roundRect">
            <a:avLst>
              <a:gd name="adj" fmla="val 0"/>
            </a:avLst>
          </a:prstGeom>
          <a:solidFill>
            <a:srgbClr val="6FC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17520" y="1069848"/>
            <a:ext cx="2651760" cy="457200"/>
          </a:xfrm>
          <a:prstGeom prst="rect">
            <a:avLst/>
          </a:prstGeom>
          <a:noFill/>
        </p:spPr>
        <p:txBody>
          <a:bodyPr wrap="square">
            <a:spAutoFit/>
          </a:bodyPr>
          <a:lstStyle/>
          <a:p>
            <a:pPr algn="ctr"/>
            <a:r>
              <a:rPr sz="2800" b="1" i="0">
                <a:solidFill>
                  <a:srgbClr val="6FC8A8"/>
                </a:solidFill>
                <a:latin typeface="Calibri"/>
              </a:rPr>
              <a:t>~91.5%</a:t>
            </a:r>
          </a:p>
        </p:txBody>
      </p:sp>
      <p:sp>
        <p:nvSpPr>
          <p:cNvPr id="13" name="TextBox 12"/>
          <p:cNvSpPr txBox="1"/>
          <p:nvPr/>
        </p:nvSpPr>
        <p:spPr>
          <a:xfrm>
            <a:off x="3017520" y="1554480"/>
            <a:ext cx="2651760" cy="274320"/>
          </a:xfrm>
          <a:prstGeom prst="rect">
            <a:avLst/>
          </a:prstGeom>
          <a:noFill/>
        </p:spPr>
        <p:txBody>
          <a:bodyPr wrap="square">
            <a:spAutoFit/>
          </a:bodyPr>
          <a:lstStyle/>
          <a:p>
            <a:pPr algn="ctr"/>
            <a:r>
              <a:rPr sz="1000" b="0" i="0">
                <a:solidFill>
                  <a:srgbClr val="64796F"/>
                </a:solidFill>
                <a:latin typeface="Calibri"/>
              </a:rPr>
              <a:t>Classification Acc.</a:t>
            </a:r>
          </a:p>
        </p:txBody>
      </p:sp>
      <p:sp>
        <p:nvSpPr>
          <p:cNvPr id="14" name="Rectangle 13"/>
          <p:cNvSpPr/>
          <p:nvPr/>
        </p:nvSpPr>
        <p:spPr>
          <a:xfrm>
            <a:off x="5806440" y="914400"/>
            <a:ext cx="2651760" cy="10058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06440" y="914400"/>
            <a:ext cx="2651760" cy="137160"/>
          </a:xfrm>
          <a:prstGeom prst="roundRect">
            <a:avLst>
              <a:gd name="adj" fmla="val 0"/>
            </a:avLst>
          </a:prstGeom>
          <a:solidFill>
            <a:srgbClr val="3F7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1069848"/>
            <a:ext cx="2651760" cy="457200"/>
          </a:xfrm>
          <a:prstGeom prst="rect">
            <a:avLst/>
          </a:prstGeom>
          <a:noFill/>
        </p:spPr>
        <p:txBody>
          <a:bodyPr wrap="square">
            <a:spAutoFit/>
          </a:bodyPr>
          <a:lstStyle/>
          <a:p>
            <a:pPr algn="ctr"/>
            <a:r>
              <a:rPr sz="2800" b="1" i="0">
                <a:solidFill>
                  <a:srgbClr val="3F7FD9"/>
                </a:solidFill>
                <a:latin typeface="Calibri"/>
              </a:rPr>
              <a:t>4</a:t>
            </a:r>
          </a:p>
        </p:txBody>
      </p:sp>
      <p:sp>
        <p:nvSpPr>
          <p:cNvPr id="17" name="TextBox 16"/>
          <p:cNvSpPr txBox="1"/>
          <p:nvPr/>
        </p:nvSpPr>
        <p:spPr>
          <a:xfrm>
            <a:off x="5806440" y="1554480"/>
            <a:ext cx="2651760" cy="274320"/>
          </a:xfrm>
          <a:prstGeom prst="rect">
            <a:avLst/>
          </a:prstGeom>
          <a:noFill/>
        </p:spPr>
        <p:txBody>
          <a:bodyPr wrap="square">
            <a:spAutoFit/>
          </a:bodyPr>
          <a:lstStyle/>
          <a:p>
            <a:pPr algn="ctr"/>
            <a:r>
              <a:rPr sz="1000" b="0" i="0">
                <a:solidFill>
                  <a:srgbClr val="64796F"/>
                </a:solidFill>
                <a:latin typeface="Calibri"/>
              </a:rPr>
              <a:t>Virtual Hospitals</a:t>
            </a:r>
          </a:p>
        </p:txBody>
      </p:sp>
      <p:sp>
        <p:nvSpPr>
          <p:cNvPr id="18" name="Rectangle 17"/>
          <p:cNvSpPr/>
          <p:nvPr/>
        </p:nvSpPr>
        <p:spPr>
          <a:xfrm>
            <a:off x="8595360" y="914400"/>
            <a:ext cx="2651760" cy="100584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95360" y="914400"/>
            <a:ext cx="2651760" cy="137160"/>
          </a:xfrm>
          <a:prstGeom prst="roundRect">
            <a:avLst>
              <a:gd name="adj" fmla="val 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5360" y="1069848"/>
            <a:ext cx="2651760" cy="457200"/>
          </a:xfrm>
          <a:prstGeom prst="rect">
            <a:avLst/>
          </a:prstGeom>
          <a:noFill/>
        </p:spPr>
        <p:txBody>
          <a:bodyPr wrap="square">
            <a:spAutoFit/>
          </a:bodyPr>
          <a:lstStyle/>
          <a:p>
            <a:pPr algn="ctr"/>
            <a:r>
              <a:rPr sz="2800" b="1" i="0">
                <a:solidFill>
                  <a:srgbClr val="E8A33D"/>
                </a:solidFill>
                <a:latin typeface="Calibri"/>
              </a:rPr>
              <a:t>15</a:t>
            </a:r>
          </a:p>
        </p:txBody>
      </p:sp>
      <p:sp>
        <p:nvSpPr>
          <p:cNvPr id="21" name="TextBox 20"/>
          <p:cNvSpPr txBox="1"/>
          <p:nvPr/>
        </p:nvSpPr>
        <p:spPr>
          <a:xfrm>
            <a:off x="8595360" y="1554480"/>
            <a:ext cx="2651760" cy="274320"/>
          </a:xfrm>
          <a:prstGeom prst="rect">
            <a:avLst/>
          </a:prstGeom>
          <a:noFill/>
        </p:spPr>
        <p:txBody>
          <a:bodyPr wrap="square">
            <a:spAutoFit/>
          </a:bodyPr>
          <a:lstStyle/>
          <a:p>
            <a:pPr algn="ctr"/>
            <a:r>
              <a:rPr sz="1000" b="0" i="0">
                <a:solidFill>
                  <a:srgbClr val="64796F"/>
                </a:solidFill>
                <a:latin typeface="Calibri"/>
              </a:rPr>
              <a:t>Disease Classes</a:t>
            </a:r>
          </a:p>
        </p:txBody>
      </p:sp>
      <p:sp>
        <p:nvSpPr>
          <p:cNvPr id="22" name="Rectangle 21"/>
          <p:cNvSpPr/>
          <p:nvPr/>
        </p:nvSpPr>
        <p:spPr>
          <a:xfrm>
            <a:off x="137160" y="2057400"/>
            <a:ext cx="5852160" cy="210312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disease_distribution_bar.png"/>
          <p:cNvPicPr>
            <a:picLocks noChangeAspect="1"/>
          </p:cNvPicPr>
          <p:nvPr/>
        </p:nvPicPr>
        <p:blipFill>
          <a:blip r:embed="rId2"/>
          <a:stretch>
            <a:fillRect/>
          </a:stretch>
        </p:blipFill>
        <p:spPr>
          <a:xfrm>
            <a:off x="228600" y="2103120"/>
            <a:ext cx="5669280" cy="1965960"/>
          </a:xfrm>
          <a:prstGeom prst="rect">
            <a:avLst/>
          </a:prstGeom>
        </p:spPr>
      </p:pic>
      <p:sp>
        <p:nvSpPr>
          <p:cNvPr id="24" name="TextBox 23"/>
          <p:cNvSpPr txBox="1"/>
          <p:nvPr/>
        </p:nvSpPr>
        <p:spPr>
          <a:xfrm>
            <a:off x="228600" y="3931920"/>
            <a:ext cx="5669280" cy="201168"/>
          </a:xfrm>
          <a:prstGeom prst="rect">
            <a:avLst/>
          </a:prstGeom>
          <a:noFill/>
        </p:spPr>
        <p:txBody>
          <a:bodyPr wrap="square">
            <a:spAutoFit/>
          </a:bodyPr>
          <a:lstStyle/>
          <a:p>
            <a:pPr algn="l"/>
            <a:r>
              <a:rPr sz="800" b="0" i="0">
                <a:solidFill>
                  <a:srgbClr val="64796F"/>
                </a:solidFill>
                <a:latin typeface="Calibri"/>
              </a:rPr>
              <a:t>Disease Distribution — NIH ChestX-ray14</a:t>
            </a:r>
          </a:p>
        </p:txBody>
      </p:sp>
      <p:sp>
        <p:nvSpPr>
          <p:cNvPr id="25" name="Rectangle 24"/>
          <p:cNvSpPr/>
          <p:nvPr/>
        </p:nvSpPr>
        <p:spPr>
          <a:xfrm>
            <a:off x="6126480" y="2057400"/>
            <a:ext cx="2926080" cy="210312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disease_share_pie.png"/>
          <p:cNvPicPr>
            <a:picLocks noChangeAspect="1"/>
          </p:cNvPicPr>
          <p:nvPr/>
        </p:nvPicPr>
        <p:blipFill>
          <a:blip r:embed="rId3"/>
          <a:stretch>
            <a:fillRect/>
          </a:stretch>
        </p:blipFill>
        <p:spPr>
          <a:xfrm>
            <a:off x="6172200" y="2103120"/>
            <a:ext cx="2834640" cy="1965960"/>
          </a:xfrm>
          <a:prstGeom prst="rect">
            <a:avLst/>
          </a:prstGeom>
        </p:spPr>
      </p:pic>
      <p:sp>
        <p:nvSpPr>
          <p:cNvPr id="27" name="TextBox 26"/>
          <p:cNvSpPr txBox="1"/>
          <p:nvPr/>
        </p:nvSpPr>
        <p:spPr>
          <a:xfrm>
            <a:off x="6172200" y="3931920"/>
            <a:ext cx="2834640" cy="201168"/>
          </a:xfrm>
          <a:prstGeom prst="rect">
            <a:avLst/>
          </a:prstGeom>
          <a:noFill/>
        </p:spPr>
        <p:txBody>
          <a:bodyPr wrap="square">
            <a:spAutoFit/>
          </a:bodyPr>
          <a:lstStyle/>
          <a:p>
            <a:pPr algn="l"/>
            <a:r>
              <a:rPr sz="800" b="0" i="0">
                <a:solidFill>
                  <a:srgbClr val="64796F"/>
                </a:solidFill>
                <a:latin typeface="Calibri"/>
              </a:rPr>
              <a:t>Share of Diagnoses (%)</a:t>
            </a:r>
          </a:p>
        </p:txBody>
      </p:sp>
      <p:sp>
        <p:nvSpPr>
          <p:cNvPr id="28" name="Rectangle 27"/>
          <p:cNvSpPr/>
          <p:nvPr/>
        </p:nvSpPr>
        <p:spPr>
          <a:xfrm>
            <a:off x="9189720" y="2057400"/>
            <a:ext cx="2834640" cy="210312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fl_rounds_progress.png"/>
          <p:cNvPicPr>
            <a:picLocks noChangeAspect="1"/>
          </p:cNvPicPr>
          <p:nvPr/>
        </p:nvPicPr>
        <p:blipFill>
          <a:blip r:embed="rId4"/>
          <a:stretch>
            <a:fillRect/>
          </a:stretch>
        </p:blipFill>
        <p:spPr>
          <a:xfrm>
            <a:off x="9235440" y="2103120"/>
            <a:ext cx="2743200" cy="1965960"/>
          </a:xfrm>
          <a:prstGeom prst="rect">
            <a:avLst/>
          </a:prstGeom>
        </p:spPr>
      </p:pic>
      <p:sp>
        <p:nvSpPr>
          <p:cNvPr id="30" name="TextBox 29"/>
          <p:cNvSpPr txBox="1"/>
          <p:nvPr/>
        </p:nvSpPr>
        <p:spPr>
          <a:xfrm>
            <a:off x="9235440" y="3904488"/>
            <a:ext cx="2743200" cy="228600"/>
          </a:xfrm>
          <a:prstGeom prst="rect">
            <a:avLst/>
          </a:prstGeom>
          <a:noFill/>
        </p:spPr>
        <p:txBody>
          <a:bodyPr wrap="square">
            <a:spAutoFit/>
          </a:bodyPr>
          <a:lstStyle/>
          <a:p>
            <a:pPr algn="l"/>
            <a:r>
              <a:rPr sz="750" b="0" i="0">
                <a:solidFill>
                  <a:srgbClr val="64796F"/>
                </a:solidFill>
                <a:latin typeface="Calibri"/>
              </a:rPr>
              <a:t>FL Round Progress (Val Accuracy / Loss / AUC)</a:t>
            </a:r>
          </a:p>
        </p:txBody>
      </p:sp>
      <p:sp>
        <p:nvSpPr>
          <p:cNvPr id="31" name="Rectangle 30"/>
          <p:cNvSpPr/>
          <p:nvPr/>
        </p:nvSpPr>
        <p:spPr>
          <a:xfrm>
            <a:off x="137160" y="4297680"/>
            <a:ext cx="5852160" cy="233172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finding_correlation_heatmap.png"/>
          <p:cNvPicPr>
            <a:picLocks noChangeAspect="1"/>
          </p:cNvPicPr>
          <p:nvPr/>
        </p:nvPicPr>
        <p:blipFill>
          <a:blip r:embed="rId5"/>
          <a:stretch>
            <a:fillRect/>
          </a:stretch>
        </p:blipFill>
        <p:spPr>
          <a:xfrm>
            <a:off x="182880" y="4343400"/>
            <a:ext cx="5760720" cy="2194560"/>
          </a:xfrm>
          <a:prstGeom prst="rect">
            <a:avLst/>
          </a:prstGeom>
        </p:spPr>
      </p:pic>
      <p:sp>
        <p:nvSpPr>
          <p:cNvPr id="33" name="TextBox 32"/>
          <p:cNvSpPr txBox="1"/>
          <p:nvPr/>
        </p:nvSpPr>
        <p:spPr>
          <a:xfrm>
            <a:off x="228600" y="6373368"/>
            <a:ext cx="5669280" cy="228600"/>
          </a:xfrm>
          <a:prstGeom prst="rect">
            <a:avLst/>
          </a:prstGeom>
          <a:noFill/>
        </p:spPr>
        <p:txBody>
          <a:bodyPr wrap="square">
            <a:spAutoFit/>
          </a:bodyPr>
          <a:lstStyle/>
          <a:p>
            <a:pPr algn="l"/>
            <a:r>
              <a:rPr sz="800" b="0" i="0">
                <a:solidFill>
                  <a:srgbClr val="64796F"/>
                </a:solidFill>
                <a:latin typeface="Calibri"/>
              </a:rPr>
              <a:t>Finding Co-occurrence Correlation (15 × 15 Heatmap)</a:t>
            </a:r>
          </a:p>
        </p:txBody>
      </p:sp>
      <p:sp>
        <p:nvSpPr>
          <p:cNvPr id="34" name="Rectangle 33"/>
          <p:cNvSpPr/>
          <p:nvPr/>
        </p:nvSpPr>
        <p:spPr>
          <a:xfrm>
            <a:off x="6126480" y="4297680"/>
            <a:ext cx="5897880" cy="2331720"/>
          </a:xfrm>
          <a:prstGeom prst="roundRect">
            <a:avLst>
              <a:gd name="adj" fmla="val 0"/>
            </a:avLst>
          </a:prstGeom>
          <a:solidFill>
            <a:srgbClr val="FFFFFF"/>
          </a:solidFill>
          <a:ln w="12700">
            <a:solidFill>
              <a:srgbClr val="D7F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age_distribution.png"/>
          <p:cNvPicPr>
            <a:picLocks noChangeAspect="1"/>
          </p:cNvPicPr>
          <p:nvPr/>
        </p:nvPicPr>
        <p:blipFill>
          <a:blip r:embed="rId6"/>
          <a:stretch>
            <a:fillRect/>
          </a:stretch>
        </p:blipFill>
        <p:spPr>
          <a:xfrm>
            <a:off x="6172200" y="4343400"/>
            <a:ext cx="5806440" cy="2194560"/>
          </a:xfrm>
          <a:prstGeom prst="rect">
            <a:avLst/>
          </a:prstGeom>
        </p:spPr>
      </p:pic>
      <p:sp>
        <p:nvSpPr>
          <p:cNvPr id="36" name="TextBox 35"/>
          <p:cNvSpPr txBox="1"/>
          <p:nvPr/>
        </p:nvSpPr>
        <p:spPr>
          <a:xfrm>
            <a:off x="6172200" y="6373368"/>
            <a:ext cx="5806440" cy="228600"/>
          </a:xfrm>
          <a:prstGeom prst="rect">
            <a:avLst/>
          </a:prstGeom>
          <a:noFill/>
        </p:spPr>
        <p:txBody>
          <a:bodyPr wrap="square">
            <a:spAutoFit/>
          </a:bodyPr>
          <a:lstStyle/>
          <a:p>
            <a:pPr algn="l"/>
            <a:r>
              <a:rPr sz="800" b="0" i="0">
                <a:solidFill>
                  <a:srgbClr val="64796F"/>
                </a:solidFill>
                <a:latin typeface="Calibri"/>
              </a:rPr>
              <a:t>Patient Age Distribution (Normal distribution ~50–60 yrs peak)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2A20"/>
        </a:solidFill>
        <a:effectLst/>
      </p:bgPr>
    </p:bg>
    <p:spTree>
      <p:nvGrpSpPr>
        <p:cNvPr id="1" name=""/>
        <p:cNvGrpSpPr/>
        <p:nvPr/>
      </p:nvGrpSpPr>
      <p:grpSpPr/>
      <p:sp>
        <p:nvSpPr>
          <p:cNvPr id="2" name="Rectangle 1"/>
          <p:cNvSpPr/>
          <p:nvPr/>
        </p:nvSpPr>
        <p:spPr>
          <a:xfrm>
            <a:off x="0" y="0"/>
            <a:ext cx="73152" cy="68580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274320"/>
            <a:ext cx="11430000" cy="640080"/>
          </a:xfrm>
          <a:prstGeom prst="rect">
            <a:avLst/>
          </a:prstGeom>
          <a:noFill/>
        </p:spPr>
        <p:txBody>
          <a:bodyPr wrap="square">
            <a:spAutoFit/>
          </a:bodyPr>
          <a:lstStyle/>
          <a:p>
            <a:pPr algn="l"/>
            <a:r>
              <a:rPr sz="3600" b="1" i="0">
                <a:solidFill>
                  <a:srgbClr val="FFFFFF"/>
                </a:solidFill>
                <a:latin typeface="Calibri"/>
              </a:rPr>
              <a:t>Why FedMed AI Matters</a:t>
            </a:r>
          </a:p>
        </p:txBody>
      </p:sp>
      <p:sp>
        <p:nvSpPr>
          <p:cNvPr id="4" name="TextBox 3"/>
          <p:cNvSpPr txBox="1"/>
          <p:nvPr/>
        </p:nvSpPr>
        <p:spPr>
          <a:xfrm>
            <a:off x="10515600" y="320040"/>
            <a:ext cx="1463040" cy="365760"/>
          </a:xfrm>
          <a:prstGeom prst="rect">
            <a:avLst/>
          </a:prstGeom>
          <a:noFill/>
        </p:spPr>
        <p:txBody>
          <a:bodyPr wrap="square">
            <a:spAutoFit/>
          </a:bodyPr>
          <a:lstStyle/>
          <a:p>
            <a:pPr algn="r"/>
            <a:r>
              <a:rPr sz="1000" b="0" i="0">
                <a:solidFill>
                  <a:srgbClr val="4DB683"/>
                </a:solidFill>
                <a:latin typeface="Calibri"/>
              </a:rPr>
              <a:t>SLIDE 07  /  07</a:t>
            </a:r>
          </a:p>
        </p:txBody>
      </p:sp>
      <p:sp>
        <p:nvSpPr>
          <p:cNvPr id="5" name="Rectangle 4"/>
          <p:cNvSpPr/>
          <p:nvPr/>
        </p:nvSpPr>
        <p:spPr>
          <a:xfrm>
            <a:off x="228600" y="1005840"/>
            <a:ext cx="2743200" cy="25400"/>
          </a:xfrm>
          <a:prstGeom prst="rect">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28600" y="1188720"/>
            <a:ext cx="2651760" cy="2331720"/>
          </a:xfrm>
          <a:prstGeom prst="roundRect">
            <a:avLst>
              <a:gd name="adj" fmla="val 0"/>
            </a:avLst>
          </a:prstGeom>
          <a:solidFill>
            <a:srgbClr val="1A3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8600" y="1188720"/>
            <a:ext cx="2651760" cy="109728"/>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1371600"/>
            <a:ext cx="2651760" cy="457200"/>
          </a:xfrm>
          <a:prstGeom prst="rect">
            <a:avLst/>
          </a:prstGeom>
          <a:noFill/>
        </p:spPr>
        <p:txBody>
          <a:bodyPr wrap="square">
            <a:spAutoFit/>
          </a:bodyPr>
          <a:lstStyle/>
          <a:p>
            <a:pPr algn="ctr"/>
            <a:r>
              <a:rPr sz="2600" b="0" i="0">
                <a:latin typeface="Calibri"/>
              </a:rPr>
              <a:t>🔒</a:t>
            </a:r>
          </a:p>
        </p:txBody>
      </p:sp>
      <p:sp>
        <p:nvSpPr>
          <p:cNvPr id="9" name="TextBox 8"/>
          <p:cNvSpPr txBox="1"/>
          <p:nvPr/>
        </p:nvSpPr>
        <p:spPr>
          <a:xfrm>
            <a:off x="228600" y="1874520"/>
            <a:ext cx="2651760" cy="502920"/>
          </a:xfrm>
          <a:prstGeom prst="rect">
            <a:avLst/>
          </a:prstGeom>
          <a:noFill/>
        </p:spPr>
        <p:txBody>
          <a:bodyPr wrap="square">
            <a:spAutoFit/>
          </a:bodyPr>
          <a:lstStyle/>
          <a:p>
            <a:pPr algn="ctr"/>
            <a:r>
              <a:rPr sz="1400" b="1" i="0">
                <a:solidFill>
                  <a:srgbClr val="FFFFFF"/>
                </a:solidFill>
                <a:latin typeface="Calibri"/>
              </a:rPr>
              <a:t>Privacy-Aware
Collaboration</a:t>
            </a:r>
          </a:p>
        </p:txBody>
      </p:sp>
      <p:sp>
        <p:nvSpPr>
          <p:cNvPr id="10" name="TextBox 9"/>
          <p:cNvSpPr txBox="1"/>
          <p:nvPr/>
        </p:nvSpPr>
        <p:spPr>
          <a:xfrm>
            <a:off x="320040" y="2423160"/>
            <a:ext cx="2468880" cy="1005840"/>
          </a:xfrm>
          <a:prstGeom prst="rect">
            <a:avLst/>
          </a:prstGeom>
          <a:noFill/>
        </p:spPr>
        <p:txBody>
          <a:bodyPr wrap="square">
            <a:spAutoFit/>
          </a:bodyPr>
          <a:lstStyle/>
          <a:p>
            <a:pPr algn="ctr"/>
            <a:r>
              <a:rPr sz="1000" b="0" i="0">
                <a:solidFill>
                  <a:srgbClr val="8FD3AB"/>
                </a:solidFill>
                <a:latin typeface="Calibri"/>
              </a:rPr>
              <a:t>Hospitals collaborate in model training without pooling raw images across institutions.</a:t>
            </a:r>
          </a:p>
        </p:txBody>
      </p:sp>
      <p:sp>
        <p:nvSpPr>
          <p:cNvPr id="11" name="Rectangle 10"/>
          <p:cNvSpPr/>
          <p:nvPr/>
        </p:nvSpPr>
        <p:spPr>
          <a:xfrm>
            <a:off x="3063240" y="1188720"/>
            <a:ext cx="2651760" cy="2331720"/>
          </a:xfrm>
          <a:prstGeom prst="roundRect">
            <a:avLst>
              <a:gd name="adj" fmla="val 0"/>
            </a:avLst>
          </a:prstGeom>
          <a:solidFill>
            <a:srgbClr val="1A3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63240" y="1188720"/>
            <a:ext cx="2651760" cy="109728"/>
          </a:xfrm>
          <a:prstGeom prst="roundRect">
            <a:avLst>
              <a:gd name="adj" fmla="val 0"/>
            </a:avLst>
          </a:prstGeom>
          <a:solidFill>
            <a:srgbClr val="6FC8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63240" y="1371600"/>
            <a:ext cx="2651760" cy="457200"/>
          </a:xfrm>
          <a:prstGeom prst="rect">
            <a:avLst/>
          </a:prstGeom>
          <a:noFill/>
        </p:spPr>
        <p:txBody>
          <a:bodyPr wrap="square">
            <a:spAutoFit/>
          </a:bodyPr>
          <a:lstStyle/>
          <a:p>
            <a:pPr algn="ctr"/>
            <a:r>
              <a:rPr sz="2600" b="0" i="0">
                <a:latin typeface="Calibri"/>
              </a:rPr>
              <a:t>🤖</a:t>
            </a:r>
          </a:p>
        </p:txBody>
      </p:sp>
      <p:sp>
        <p:nvSpPr>
          <p:cNvPr id="14" name="TextBox 13"/>
          <p:cNvSpPr txBox="1"/>
          <p:nvPr/>
        </p:nvSpPr>
        <p:spPr>
          <a:xfrm>
            <a:off x="3063240" y="1874520"/>
            <a:ext cx="2651760" cy="502920"/>
          </a:xfrm>
          <a:prstGeom prst="rect">
            <a:avLst/>
          </a:prstGeom>
          <a:noFill/>
        </p:spPr>
        <p:txBody>
          <a:bodyPr wrap="square">
            <a:spAutoFit/>
          </a:bodyPr>
          <a:lstStyle/>
          <a:p>
            <a:pPr algn="ctr"/>
            <a:r>
              <a:rPr sz="1400" b="1" i="0">
                <a:solidFill>
                  <a:srgbClr val="FFFFFF"/>
                </a:solidFill>
                <a:latin typeface="Calibri"/>
              </a:rPr>
              <a:t>AI-Based Disease
Prediction</a:t>
            </a:r>
          </a:p>
        </p:txBody>
      </p:sp>
      <p:sp>
        <p:nvSpPr>
          <p:cNvPr id="15" name="TextBox 14"/>
          <p:cNvSpPr txBox="1"/>
          <p:nvPr/>
        </p:nvSpPr>
        <p:spPr>
          <a:xfrm>
            <a:off x="3154680" y="2423160"/>
            <a:ext cx="2468880" cy="1005840"/>
          </a:xfrm>
          <a:prstGeom prst="rect">
            <a:avLst/>
          </a:prstGeom>
          <a:noFill/>
        </p:spPr>
        <p:txBody>
          <a:bodyPr wrap="square">
            <a:spAutoFit/>
          </a:bodyPr>
          <a:lstStyle/>
          <a:p>
            <a:pPr algn="ctr"/>
            <a:r>
              <a:rPr sz="1000" b="0" i="0">
                <a:solidFill>
                  <a:srgbClr val="8FD3AB"/>
                </a:solidFill>
                <a:latin typeface="Calibri"/>
              </a:rPr>
              <a:t>Chest X-rays analyzed for 15 disease classes including Pneumonia, Effusion, Atelectasis.</a:t>
            </a:r>
          </a:p>
        </p:txBody>
      </p:sp>
      <p:sp>
        <p:nvSpPr>
          <p:cNvPr id="16" name="Rectangle 15"/>
          <p:cNvSpPr/>
          <p:nvPr/>
        </p:nvSpPr>
        <p:spPr>
          <a:xfrm>
            <a:off x="5897880" y="1188720"/>
            <a:ext cx="2651760" cy="2331720"/>
          </a:xfrm>
          <a:prstGeom prst="roundRect">
            <a:avLst>
              <a:gd name="adj" fmla="val 0"/>
            </a:avLst>
          </a:prstGeom>
          <a:solidFill>
            <a:srgbClr val="1A3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897880" y="1188720"/>
            <a:ext cx="2651760" cy="109728"/>
          </a:xfrm>
          <a:prstGeom prst="roundRect">
            <a:avLst>
              <a:gd name="adj" fmla="val 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97880" y="1371600"/>
            <a:ext cx="2651760" cy="457200"/>
          </a:xfrm>
          <a:prstGeom prst="rect">
            <a:avLst/>
          </a:prstGeom>
          <a:noFill/>
        </p:spPr>
        <p:txBody>
          <a:bodyPr wrap="square">
            <a:spAutoFit/>
          </a:bodyPr>
          <a:lstStyle/>
          <a:p>
            <a:pPr algn="ctr"/>
            <a:r>
              <a:rPr sz="2600" b="0" i="0">
                <a:latin typeface="Calibri"/>
              </a:rPr>
              <a:t>🗺️</a:t>
            </a:r>
          </a:p>
        </p:txBody>
      </p:sp>
      <p:sp>
        <p:nvSpPr>
          <p:cNvPr id="19" name="TextBox 18"/>
          <p:cNvSpPr txBox="1"/>
          <p:nvPr/>
        </p:nvSpPr>
        <p:spPr>
          <a:xfrm>
            <a:off x="5897880" y="1874520"/>
            <a:ext cx="2651760" cy="502920"/>
          </a:xfrm>
          <a:prstGeom prst="rect">
            <a:avLst/>
          </a:prstGeom>
          <a:noFill/>
        </p:spPr>
        <p:txBody>
          <a:bodyPr wrap="square">
            <a:spAutoFit/>
          </a:bodyPr>
          <a:lstStyle/>
          <a:p>
            <a:pPr algn="ctr"/>
            <a:r>
              <a:rPr sz="1400" b="1" i="0">
                <a:solidFill>
                  <a:srgbClr val="FFFFFF"/>
                </a:solidFill>
                <a:latin typeface="Calibri"/>
              </a:rPr>
              <a:t>Explainable AI</a:t>
            </a:r>
          </a:p>
        </p:txBody>
      </p:sp>
      <p:sp>
        <p:nvSpPr>
          <p:cNvPr id="20" name="TextBox 19"/>
          <p:cNvSpPr txBox="1"/>
          <p:nvPr/>
        </p:nvSpPr>
        <p:spPr>
          <a:xfrm>
            <a:off x="5989320" y="2423160"/>
            <a:ext cx="2468880" cy="1005840"/>
          </a:xfrm>
          <a:prstGeom prst="rect">
            <a:avLst/>
          </a:prstGeom>
          <a:noFill/>
        </p:spPr>
        <p:txBody>
          <a:bodyPr wrap="square">
            <a:spAutoFit/>
          </a:bodyPr>
          <a:lstStyle/>
          <a:p>
            <a:pPr algn="ctr"/>
            <a:r>
              <a:rPr sz="1000" b="0" i="0">
                <a:solidFill>
                  <a:srgbClr val="8FD3AB"/>
                </a:solidFill>
                <a:latin typeface="Calibri"/>
              </a:rPr>
              <a:t>Grad-CAM highlights the exact anatomical regions that drive each pathology prediction.</a:t>
            </a:r>
          </a:p>
        </p:txBody>
      </p:sp>
      <p:sp>
        <p:nvSpPr>
          <p:cNvPr id="21" name="Rectangle 20"/>
          <p:cNvSpPr/>
          <p:nvPr/>
        </p:nvSpPr>
        <p:spPr>
          <a:xfrm>
            <a:off x="8732520" y="1188720"/>
            <a:ext cx="2651760" cy="2331720"/>
          </a:xfrm>
          <a:prstGeom prst="roundRect">
            <a:avLst>
              <a:gd name="adj" fmla="val 0"/>
            </a:avLst>
          </a:prstGeom>
          <a:solidFill>
            <a:srgbClr val="1A3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732520" y="1188720"/>
            <a:ext cx="2651760" cy="109728"/>
          </a:xfrm>
          <a:prstGeom prst="roundRect">
            <a:avLst>
              <a:gd name="adj" fmla="val 0"/>
            </a:avLst>
          </a:prstGeom>
          <a:solidFill>
            <a:srgbClr val="3F7F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732520" y="1371600"/>
            <a:ext cx="2651760" cy="457200"/>
          </a:xfrm>
          <a:prstGeom prst="rect">
            <a:avLst/>
          </a:prstGeom>
          <a:noFill/>
        </p:spPr>
        <p:txBody>
          <a:bodyPr wrap="square">
            <a:spAutoFit/>
          </a:bodyPr>
          <a:lstStyle/>
          <a:p>
            <a:pPr algn="ctr"/>
            <a:r>
              <a:rPr sz="2600" b="0" i="0">
                <a:latin typeface="Calibri"/>
              </a:rPr>
              <a:t>🌐</a:t>
            </a:r>
          </a:p>
        </p:txBody>
      </p:sp>
      <p:sp>
        <p:nvSpPr>
          <p:cNvPr id="24" name="TextBox 23"/>
          <p:cNvSpPr txBox="1"/>
          <p:nvPr/>
        </p:nvSpPr>
        <p:spPr>
          <a:xfrm>
            <a:off x="8732520" y="1874520"/>
            <a:ext cx="2651760" cy="502920"/>
          </a:xfrm>
          <a:prstGeom prst="rect">
            <a:avLst/>
          </a:prstGeom>
          <a:noFill/>
        </p:spPr>
        <p:txBody>
          <a:bodyPr wrap="square">
            <a:spAutoFit/>
          </a:bodyPr>
          <a:lstStyle/>
          <a:p>
            <a:pPr algn="ctr"/>
            <a:r>
              <a:rPr sz="1400" b="1" i="0">
                <a:solidFill>
                  <a:srgbClr val="FFFFFF"/>
                </a:solidFill>
                <a:latin typeface="Calibri"/>
              </a:rPr>
              <a:t>Scalable
Architecture</a:t>
            </a:r>
          </a:p>
        </p:txBody>
      </p:sp>
      <p:sp>
        <p:nvSpPr>
          <p:cNvPr id="25" name="TextBox 24"/>
          <p:cNvSpPr txBox="1"/>
          <p:nvPr/>
        </p:nvSpPr>
        <p:spPr>
          <a:xfrm>
            <a:off x="8823960" y="2423160"/>
            <a:ext cx="2468880" cy="1005840"/>
          </a:xfrm>
          <a:prstGeom prst="rect">
            <a:avLst/>
          </a:prstGeom>
          <a:noFill/>
        </p:spPr>
        <p:txBody>
          <a:bodyPr wrap="square">
            <a:spAutoFit/>
          </a:bodyPr>
          <a:lstStyle/>
          <a:p>
            <a:pPr algn="ctr"/>
            <a:r>
              <a:rPr sz="1000" b="0" i="0">
                <a:solidFill>
                  <a:srgbClr val="8FD3AB"/>
                </a:solidFill>
                <a:latin typeface="Calibri"/>
              </a:rPr>
              <a:t>The federated approach conceptually supports any number of healthcare institutions.</a:t>
            </a:r>
          </a:p>
        </p:txBody>
      </p:sp>
      <p:sp>
        <p:nvSpPr>
          <p:cNvPr id="26" name="Rectangle 25"/>
          <p:cNvSpPr/>
          <p:nvPr/>
        </p:nvSpPr>
        <p:spPr>
          <a:xfrm>
            <a:off x="228600" y="3703320"/>
            <a:ext cx="11704320" cy="822960"/>
          </a:xfrm>
          <a:prstGeom prst="roundRect">
            <a:avLst>
              <a:gd name="adj" fmla="val 0"/>
            </a:avLst>
          </a:prstGeom>
          <a:solidFill>
            <a:srgbClr val="2F9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0040" y="3749039"/>
            <a:ext cx="11521440" cy="731520"/>
          </a:xfrm>
          <a:prstGeom prst="rect">
            <a:avLst/>
          </a:prstGeom>
          <a:noFill/>
        </p:spPr>
        <p:txBody>
          <a:bodyPr wrap="square">
            <a:spAutoFit/>
          </a:bodyPr>
          <a:lstStyle/>
          <a:p>
            <a:pPr algn="ctr"/>
            <a:r>
              <a:rPr sz="1800" b="1" i="1">
                <a:solidFill>
                  <a:srgbClr val="FFFFFF"/>
                </a:solidFill>
                <a:latin typeface="Calibri"/>
              </a:rPr>
              <a:t>"FedMed AI transforms distributed medical data into collaborative intelligence."</a:t>
            </a:r>
          </a:p>
        </p:txBody>
      </p:sp>
      <p:sp>
        <p:nvSpPr>
          <p:cNvPr id="28" name="Rectangle 27"/>
          <p:cNvSpPr/>
          <p:nvPr/>
        </p:nvSpPr>
        <p:spPr>
          <a:xfrm>
            <a:off x="228600" y="4709160"/>
            <a:ext cx="1828800" cy="731520"/>
          </a:xfrm>
          <a:prstGeom prst="roundRect">
            <a:avLst>
              <a:gd name="adj" fmla="val 0"/>
            </a:avLst>
          </a:prstGeom>
          <a:solidFill>
            <a:srgbClr val="1635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28600" y="4754880"/>
            <a:ext cx="1828800" cy="384048"/>
          </a:xfrm>
          <a:prstGeom prst="rect">
            <a:avLst/>
          </a:prstGeom>
          <a:noFill/>
        </p:spPr>
        <p:txBody>
          <a:bodyPr wrap="square">
            <a:spAutoFit/>
          </a:bodyPr>
          <a:lstStyle/>
          <a:p>
            <a:pPr algn="ctr"/>
            <a:r>
              <a:rPr sz="1600" b="1" i="0">
                <a:solidFill>
                  <a:srgbClr val="4DB683"/>
                </a:solidFill>
                <a:latin typeface="Calibri"/>
              </a:rPr>
              <a:t>~0.93</a:t>
            </a:r>
          </a:p>
        </p:txBody>
      </p:sp>
      <p:sp>
        <p:nvSpPr>
          <p:cNvPr id="30" name="TextBox 29"/>
          <p:cNvSpPr txBox="1"/>
          <p:nvPr/>
        </p:nvSpPr>
        <p:spPr>
          <a:xfrm>
            <a:off x="228600" y="5138928"/>
            <a:ext cx="1828800" cy="256032"/>
          </a:xfrm>
          <a:prstGeom prst="rect">
            <a:avLst/>
          </a:prstGeom>
          <a:noFill/>
        </p:spPr>
        <p:txBody>
          <a:bodyPr wrap="square">
            <a:spAutoFit/>
          </a:bodyPr>
          <a:lstStyle/>
          <a:p>
            <a:pPr algn="ctr"/>
            <a:r>
              <a:rPr sz="900" b="0" i="0">
                <a:solidFill>
                  <a:srgbClr val="99AB9F"/>
                </a:solidFill>
                <a:latin typeface="Calibri"/>
              </a:rPr>
              <a:t>Global AUC</a:t>
            </a:r>
          </a:p>
        </p:txBody>
      </p:sp>
      <p:sp>
        <p:nvSpPr>
          <p:cNvPr id="31" name="Rectangle 30"/>
          <p:cNvSpPr/>
          <p:nvPr/>
        </p:nvSpPr>
        <p:spPr>
          <a:xfrm>
            <a:off x="2194560" y="4709160"/>
            <a:ext cx="1828800" cy="731520"/>
          </a:xfrm>
          <a:prstGeom prst="roundRect">
            <a:avLst>
              <a:gd name="adj" fmla="val 0"/>
            </a:avLst>
          </a:prstGeom>
          <a:solidFill>
            <a:srgbClr val="1635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94560" y="4754880"/>
            <a:ext cx="1828800" cy="384048"/>
          </a:xfrm>
          <a:prstGeom prst="rect">
            <a:avLst/>
          </a:prstGeom>
          <a:noFill/>
        </p:spPr>
        <p:txBody>
          <a:bodyPr wrap="square">
            <a:spAutoFit/>
          </a:bodyPr>
          <a:lstStyle/>
          <a:p>
            <a:pPr algn="ctr"/>
            <a:r>
              <a:rPr sz="1600" b="1" i="0">
                <a:solidFill>
                  <a:srgbClr val="4DB683"/>
                </a:solidFill>
                <a:latin typeface="Calibri"/>
              </a:rPr>
              <a:t>~91.5%</a:t>
            </a:r>
          </a:p>
        </p:txBody>
      </p:sp>
      <p:sp>
        <p:nvSpPr>
          <p:cNvPr id="33" name="TextBox 32"/>
          <p:cNvSpPr txBox="1"/>
          <p:nvPr/>
        </p:nvSpPr>
        <p:spPr>
          <a:xfrm>
            <a:off x="2194560" y="5138928"/>
            <a:ext cx="1828800" cy="256032"/>
          </a:xfrm>
          <a:prstGeom prst="rect">
            <a:avLst/>
          </a:prstGeom>
          <a:noFill/>
        </p:spPr>
        <p:txBody>
          <a:bodyPr wrap="square">
            <a:spAutoFit/>
          </a:bodyPr>
          <a:lstStyle/>
          <a:p>
            <a:pPr algn="ctr"/>
            <a:r>
              <a:rPr sz="900" b="0" i="0">
                <a:solidFill>
                  <a:srgbClr val="99AB9F"/>
                </a:solidFill>
                <a:latin typeface="Calibri"/>
              </a:rPr>
              <a:t>Accuracy</a:t>
            </a:r>
          </a:p>
        </p:txBody>
      </p:sp>
      <p:sp>
        <p:nvSpPr>
          <p:cNvPr id="34" name="Rectangle 33"/>
          <p:cNvSpPr/>
          <p:nvPr/>
        </p:nvSpPr>
        <p:spPr>
          <a:xfrm>
            <a:off x="4160520" y="4709160"/>
            <a:ext cx="1828800" cy="731520"/>
          </a:xfrm>
          <a:prstGeom prst="roundRect">
            <a:avLst>
              <a:gd name="adj" fmla="val 0"/>
            </a:avLst>
          </a:prstGeom>
          <a:solidFill>
            <a:srgbClr val="1635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0520" y="4754880"/>
            <a:ext cx="1828800" cy="384048"/>
          </a:xfrm>
          <a:prstGeom prst="rect">
            <a:avLst/>
          </a:prstGeom>
          <a:noFill/>
        </p:spPr>
        <p:txBody>
          <a:bodyPr wrap="square">
            <a:spAutoFit/>
          </a:bodyPr>
          <a:lstStyle/>
          <a:p>
            <a:pPr algn="ctr"/>
            <a:r>
              <a:rPr sz="1600" b="1" i="0">
                <a:solidFill>
                  <a:srgbClr val="4DB683"/>
                </a:solidFill>
                <a:latin typeface="Calibri"/>
              </a:rPr>
              <a:t>4</a:t>
            </a:r>
          </a:p>
        </p:txBody>
      </p:sp>
      <p:sp>
        <p:nvSpPr>
          <p:cNvPr id="36" name="TextBox 35"/>
          <p:cNvSpPr txBox="1"/>
          <p:nvPr/>
        </p:nvSpPr>
        <p:spPr>
          <a:xfrm>
            <a:off x="4160520" y="5138928"/>
            <a:ext cx="1828800" cy="256032"/>
          </a:xfrm>
          <a:prstGeom prst="rect">
            <a:avLst/>
          </a:prstGeom>
          <a:noFill/>
        </p:spPr>
        <p:txBody>
          <a:bodyPr wrap="square">
            <a:spAutoFit/>
          </a:bodyPr>
          <a:lstStyle/>
          <a:p>
            <a:pPr algn="ctr"/>
            <a:r>
              <a:rPr sz="900" b="0" i="0">
                <a:solidFill>
                  <a:srgbClr val="99AB9F"/>
                </a:solidFill>
                <a:latin typeface="Calibri"/>
              </a:rPr>
              <a:t>Hospitals</a:t>
            </a:r>
          </a:p>
        </p:txBody>
      </p:sp>
      <p:sp>
        <p:nvSpPr>
          <p:cNvPr id="37" name="Rectangle 36"/>
          <p:cNvSpPr/>
          <p:nvPr/>
        </p:nvSpPr>
        <p:spPr>
          <a:xfrm>
            <a:off x="6126480" y="4709160"/>
            <a:ext cx="1828800" cy="731520"/>
          </a:xfrm>
          <a:prstGeom prst="roundRect">
            <a:avLst>
              <a:gd name="adj" fmla="val 0"/>
            </a:avLst>
          </a:prstGeom>
          <a:solidFill>
            <a:srgbClr val="1635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4754880"/>
            <a:ext cx="1828800" cy="384048"/>
          </a:xfrm>
          <a:prstGeom prst="rect">
            <a:avLst/>
          </a:prstGeom>
          <a:noFill/>
        </p:spPr>
        <p:txBody>
          <a:bodyPr wrap="square">
            <a:spAutoFit/>
          </a:bodyPr>
          <a:lstStyle/>
          <a:p>
            <a:pPr algn="ctr"/>
            <a:r>
              <a:rPr sz="1600" b="1" i="0">
                <a:solidFill>
                  <a:srgbClr val="4DB683"/>
                </a:solidFill>
                <a:latin typeface="Calibri"/>
              </a:rPr>
              <a:t>15</a:t>
            </a:r>
          </a:p>
        </p:txBody>
      </p:sp>
      <p:sp>
        <p:nvSpPr>
          <p:cNvPr id="39" name="TextBox 38"/>
          <p:cNvSpPr txBox="1"/>
          <p:nvPr/>
        </p:nvSpPr>
        <p:spPr>
          <a:xfrm>
            <a:off x="6126480" y="5138928"/>
            <a:ext cx="1828800" cy="256032"/>
          </a:xfrm>
          <a:prstGeom prst="rect">
            <a:avLst/>
          </a:prstGeom>
          <a:noFill/>
        </p:spPr>
        <p:txBody>
          <a:bodyPr wrap="square">
            <a:spAutoFit/>
          </a:bodyPr>
          <a:lstStyle/>
          <a:p>
            <a:pPr algn="ctr"/>
            <a:r>
              <a:rPr sz="900" b="0" i="0">
                <a:solidFill>
                  <a:srgbClr val="99AB9F"/>
                </a:solidFill>
                <a:latin typeface="Calibri"/>
              </a:rPr>
              <a:t>Disease Classes</a:t>
            </a:r>
          </a:p>
        </p:txBody>
      </p:sp>
      <p:sp>
        <p:nvSpPr>
          <p:cNvPr id="40" name="Rectangle 39"/>
          <p:cNvSpPr/>
          <p:nvPr/>
        </p:nvSpPr>
        <p:spPr>
          <a:xfrm>
            <a:off x="8092440" y="4709160"/>
            <a:ext cx="1828800" cy="731520"/>
          </a:xfrm>
          <a:prstGeom prst="roundRect">
            <a:avLst>
              <a:gd name="adj" fmla="val 0"/>
            </a:avLst>
          </a:prstGeom>
          <a:solidFill>
            <a:srgbClr val="1635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92440" y="4754880"/>
            <a:ext cx="1828800" cy="384048"/>
          </a:xfrm>
          <a:prstGeom prst="rect">
            <a:avLst/>
          </a:prstGeom>
          <a:noFill/>
        </p:spPr>
        <p:txBody>
          <a:bodyPr wrap="square">
            <a:spAutoFit/>
          </a:bodyPr>
          <a:lstStyle/>
          <a:p>
            <a:pPr algn="ctr"/>
            <a:r>
              <a:rPr sz="1600" b="1" i="0">
                <a:solidFill>
                  <a:srgbClr val="4DB683"/>
                </a:solidFill>
                <a:latin typeface="Calibri"/>
              </a:rPr>
              <a:t>FedAvg</a:t>
            </a:r>
          </a:p>
        </p:txBody>
      </p:sp>
      <p:sp>
        <p:nvSpPr>
          <p:cNvPr id="42" name="TextBox 41"/>
          <p:cNvSpPr txBox="1"/>
          <p:nvPr/>
        </p:nvSpPr>
        <p:spPr>
          <a:xfrm>
            <a:off x="8092440" y="5138928"/>
            <a:ext cx="1828800" cy="256032"/>
          </a:xfrm>
          <a:prstGeom prst="rect">
            <a:avLst/>
          </a:prstGeom>
          <a:noFill/>
        </p:spPr>
        <p:txBody>
          <a:bodyPr wrap="square">
            <a:spAutoFit/>
          </a:bodyPr>
          <a:lstStyle/>
          <a:p>
            <a:pPr algn="ctr"/>
            <a:r>
              <a:rPr sz="900" b="0" i="0">
                <a:solidFill>
                  <a:srgbClr val="99AB9F"/>
                </a:solidFill>
                <a:latin typeface="Calibri"/>
              </a:rPr>
              <a:t>Aggregation</a:t>
            </a:r>
          </a:p>
        </p:txBody>
      </p:sp>
      <p:sp>
        <p:nvSpPr>
          <p:cNvPr id="43" name="Rectangle 42"/>
          <p:cNvSpPr/>
          <p:nvPr/>
        </p:nvSpPr>
        <p:spPr>
          <a:xfrm>
            <a:off x="10058400" y="4709160"/>
            <a:ext cx="1828800" cy="731520"/>
          </a:xfrm>
          <a:prstGeom prst="roundRect">
            <a:avLst>
              <a:gd name="adj" fmla="val 0"/>
            </a:avLst>
          </a:prstGeom>
          <a:solidFill>
            <a:srgbClr val="1635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058400" y="4754880"/>
            <a:ext cx="1828800" cy="384048"/>
          </a:xfrm>
          <a:prstGeom prst="rect">
            <a:avLst/>
          </a:prstGeom>
          <a:noFill/>
        </p:spPr>
        <p:txBody>
          <a:bodyPr wrap="square">
            <a:spAutoFit/>
          </a:bodyPr>
          <a:lstStyle/>
          <a:p>
            <a:pPr algn="ctr"/>
            <a:r>
              <a:rPr sz="1600" b="1" i="0">
                <a:solidFill>
                  <a:srgbClr val="4DB683"/>
                </a:solidFill>
                <a:latin typeface="Calibri"/>
              </a:rPr>
              <a:t>DenseNet121</a:t>
            </a:r>
          </a:p>
        </p:txBody>
      </p:sp>
      <p:sp>
        <p:nvSpPr>
          <p:cNvPr id="45" name="TextBox 44"/>
          <p:cNvSpPr txBox="1"/>
          <p:nvPr/>
        </p:nvSpPr>
        <p:spPr>
          <a:xfrm>
            <a:off x="10058400" y="5138928"/>
            <a:ext cx="1828800" cy="256032"/>
          </a:xfrm>
          <a:prstGeom prst="rect">
            <a:avLst/>
          </a:prstGeom>
          <a:noFill/>
        </p:spPr>
        <p:txBody>
          <a:bodyPr wrap="square">
            <a:spAutoFit/>
          </a:bodyPr>
          <a:lstStyle/>
          <a:p>
            <a:pPr algn="ctr"/>
            <a:r>
              <a:rPr sz="900" b="0" i="0">
                <a:solidFill>
                  <a:srgbClr val="99AB9F"/>
                </a:solidFill>
                <a:latin typeface="Calibri"/>
              </a:rPr>
              <a:t>Backbone</a:t>
            </a:r>
          </a:p>
        </p:txBody>
      </p:sp>
      <p:sp>
        <p:nvSpPr>
          <p:cNvPr id="46" name="TextBox 45"/>
          <p:cNvSpPr txBox="1"/>
          <p:nvPr/>
        </p:nvSpPr>
        <p:spPr>
          <a:xfrm>
            <a:off x="228600" y="5715000"/>
            <a:ext cx="6400800" cy="594360"/>
          </a:xfrm>
          <a:prstGeom prst="rect">
            <a:avLst/>
          </a:prstGeom>
          <a:noFill/>
        </p:spPr>
        <p:txBody>
          <a:bodyPr wrap="square">
            <a:spAutoFit/>
          </a:bodyPr>
          <a:lstStyle/>
          <a:p>
            <a:pPr algn="l"/>
            <a:r>
              <a:rPr sz="3600" b="1" i="0">
                <a:solidFill>
                  <a:srgbClr val="FFFFFF"/>
                </a:solidFill>
                <a:latin typeface="Calibri"/>
              </a:rPr>
              <a:t>Thank You</a:t>
            </a:r>
          </a:p>
        </p:txBody>
      </p:sp>
      <p:sp>
        <p:nvSpPr>
          <p:cNvPr id="47" name="TextBox 46"/>
          <p:cNvSpPr txBox="1"/>
          <p:nvPr/>
        </p:nvSpPr>
        <p:spPr>
          <a:xfrm>
            <a:off x="6858000" y="5715000"/>
            <a:ext cx="5120640" cy="594360"/>
          </a:xfrm>
          <a:prstGeom prst="rect">
            <a:avLst/>
          </a:prstGeom>
          <a:noFill/>
        </p:spPr>
        <p:txBody>
          <a:bodyPr wrap="square">
            <a:spAutoFit/>
          </a:bodyPr>
          <a:lstStyle/>
          <a:p>
            <a:pPr algn="r"/>
            <a:r>
              <a:rPr sz="2800" b="0" i="0">
                <a:solidFill>
                  <a:srgbClr val="4DB683"/>
                </a:solidFill>
                <a:latin typeface="Calibri"/>
              </a:rPr>
              <a:t>Questions?</a:t>
            </a:r>
          </a:p>
        </p:txBody>
      </p:sp>
      <p:sp>
        <p:nvSpPr>
          <p:cNvPr id="48" name="TextBox 47"/>
          <p:cNvSpPr txBox="1"/>
          <p:nvPr/>
        </p:nvSpPr>
        <p:spPr>
          <a:xfrm>
            <a:off x="228600" y="6492240"/>
            <a:ext cx="11704320" cy="274320"/>
          </a:xfrm>
          <a:prstGeom prst="rect">
            <a:avLst/>
          </a:prstGeom>
          <a:noFill/>
        </p:spPr>
        <p:txBody>
          <a:bodyPr wrap="square">
            <a:spAutoFit/>
          </a:bodyPr>
          <a:lstStyle/>
          <a:p>
            <a:pPr algn="ctr"/>
            <a:r>
              <a:rPr sz="800" b="0" i="0">
                <a:solidFill>
                  <a:srgbClr val="64796F"/>
                </a:solidFill>
                <a:latin typeface="Calibri"/>
              </a:rPr>
              <a:t>FedMed AI  ·  College Project Competition  ·  MIT License  ·  Research &amp; Educational 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