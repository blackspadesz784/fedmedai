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Good [morning/afternoon] judges. I'm Simran Singh, and I built FedMed AI — a federated AI system for chest X-ray disease detection. In one line: hospitals train together on a shared AI model without ever moving their patients' raw X-ray images out of their own systems. Four hospital nodes, one global model, zero shared images. Let me walk you through why this matters and how it actually works.
WHAT TO POINT AT: The title and the flow row (X-ray → AI → Federated Hospitals → Global Model → Disease Prediction).
KEY MESSAGE: FedMed AI lets hospitals collaborate on medical AI without centralizing sensitive patient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Medical AI models get better with more data, but chest X-ray datasets are sensitive, and usually locked inside the hospital that collected them. If we wanted one strong shared model the traditional way, hospitals would need to pool their raw images into one place — that's a hard ask for any hospital, and any single hospital's own dataset is often too small to train a strong model alone. So the real question we had to answer was: can hospitals learn together, without sharing raw medical images?
WHAT TO POINT AT: The four hospital cards, the dashed lines converging on "Centralized raw-image pooling is challenging," and the core question panel.
KEY MESSAGE: Centralizing raw medical images isn't a practical starting point — we needed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That's exactly what federated learning gives us. Instead of moving the data to the model, we move the model to the data. Each hospital — A, B, C, D — trains the same model architecture locally, on its own X-rays. Only the learned model weights are sent to a central aggregator, which combines them using an algorithm called FedAvg, Federated Averaging, into one improved global model. That global model is then sent back to every hospital for the next round. This is live from our actual FL Monitor — you can see round 18 of 25, a global AUC of 0.93, and all four hospitals synced.
WHAT TO POINT AT: The FedAvg workflow diagram and the live FL Monitor KPI cards (18/25, 0.93, 4, FedAvg).
KEY MESSAGE: Train locally, aggregate model updates, build one shared model — raw images never have to leave the hospital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Here's what happens end to end. A chest X-ray comes in, gets preprocessed, and passed through a CNN built on transfer learning. Each hospital trains this locally; FedAvg aggregates it into the global model, which then makes disease predictions and — importantly — uses Grad-CAM to visually highlight which regions of the X-ray influenced that prediction, so it's not a black box. This entire pipeline is trained on a real dataset: 5,606 total images, 4,030 for training, 806 for validation, across 8 disease classes like Infiltration, Effusion, and Pneumonia.
WHAT TO POINT AT: The 8-step pipeline row, then the four dataset KPI cards, then the class balance chart.
KEY MESSAGE: This is a complete, explainable pipeline from raw X-ray to a disease prediction — not just a trained model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isn't just a notebook — it's a working product. This is our actual dashboard: total patients, predictions made today, average confidence, and live federated round status. On the right, a doctor can upload an X-ray and get a prediction from the global model, monitor the federated learning process across hospitals in real time, and analyze disease distributions and model performance — all from one interface.
WHAT TO POINT AT: The dashboard hero screenshot, then each of the PREDICT, MONITOR, ANALYZE cards.
KEY MESSAGE: FedMed AI is an implemented, end-to-end system — prediction, monitoring, and analytics in one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Now for the numbers. After federated training, our global model reaches 92% accuracy, 90% precision, 88% recall, and a 0.93 AUC on evaluation. This chart on the left shows global accuracy climbing steadily across 18 federated rounds — proof that the hospitals are genuinely learning together and improving as a group. On the right, the ROC curve sits well above the diagonal chance line, which tells us the model is meaningfully separating disease from no-disease cases.
WHAT TO POINT AT: The four KPI stat cards, then the global accuracy per round chart, then the ROC curve.
KEY MESSAGE: The federated model shows strong and steadily improving performance across communication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So why does FedMed AI matter? Four things. One, collaborative learning — multiple hospitals contribute to one shared model instead of working in isolation. Two, local data processing — raw X-rays can stay within their own hospital node in this workflow. Three, explainable AI — Grad-CAM means predictions come with visual reasoning, not just a label. And four, it's a usable platform — prediction, history, analytics, and monitoring, all integrated. FedMed AI turns distributed medical data into collaborative intelligence. Thank you.
WHAT TO POINT AT: Each of the four numbered pillars, then the closing statement.
KEY MESSAGE: FedMed AI shows that hospitals can build stronger shared medical AI without centralizing sensitive patient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A2C"/>
        </a:solidFill>
      </p:bgPr>
    </p:bg>
    <p:spTree>
      <p:nvGrpSpPr>
        <p:cNvPr id="1" name=""/>
        <p:cNvGrpSpPr/>
        <p:nvPr/>
      </p:nvGrpSpPr>
      <p:grpSpPr>
        <a:xfrm>
          <a:off x="0" y="0"/>
          <a:ext cx="0" cy="0"/>
          <a:chOff x="0" y="0"/>
          <a:chExt cx="0" cy="0"/>
        </a:xfrm>
      </p:grpSpPr>
      <p:sp>
        <p:nvSpPr>
          <p:cNvPr id="2" name="Shape 0"/>
          <p:cNvSpPr/>
          <p:nvPr/>
        </p:nvSpPr>
        <p:spPr>
          <a:xfrm>
            <a:off x="8778240" y="-2377440"/>
            <a:ext cx="6400800" cy="6400800"/>
          </a:xfrm>
          <a:prstGeom prst="ellipse">
            <a:avLst/>
          </a:prstGeom>
          <a:solidFill>
            <a:srgbClr val="0F4736"/>
          </a:solidFill>
          <a:ln/>
        </p:spPr>
      </p:sp>
      <p:sp>
        <p:nvSpPr>
          <p:cNvPr id="3" name="Shape 1"/>
          <p:cNvSpPr/>
          <p:nvPr/>
        </p:nvSpPr>
        <p:spPr>
          <a:xfrm>
            <a:off x="10607040" y="-822960"/>
            <a:ext cx="3291840" cy="3291840"/>
          </a:xfrm>
          <a:prstGeom prst="ellipse">
            <a:avLst/>
          </a:prstGeom>
          <a:solidFill>
            <a:srgbClr val="12503C"/>
          </a:solidFill>
          <a:ln/>
        </p:spPr>
      </p:sp>
      <p:sp>
        <p:nvSpPr>
          <p:cNvPr id="4" name="Text 2"/>
          <p:cNvSpPr/>
          <p:nvPr/>
        </p:nvSpPr>
        <p:spPr>
          <a:xfrm>
            <a:off x="822960" y="685800"/>
            <a:ext cx="7315200" cy="365760"/>
          </a:xfrm>
          <a:prstGeom prst="rect">
            <a:avLst/>
          </a:prstGeom>
          <a:noFill/>
          <a:ln/>
        </p:spPr>
        <p:txBody>
          <a:bodyPr wrap="square" rtlCol="0" anchor="ctr"/>
          <a:lstStyle/>
          <a:p>
            <a:pPr indent="0" marL="0">
              <a:buNone/>
            </a:pPr>
            <a:r>
              <a:rPr lang="en-US" sz="1200" b="1" spc="300" kern="0" dirty="0">
                <a:solidFill>
                  <a:srgbClr val="9FC9B4"/>
                </a:solidFill>
                <a:latin typeface="Calibri" pitchFamily="34" charset="0"/>
                <a:ea typeface="Calibri" pitchFamily="34" charset="-122"/>
                <a:cs typeface="Calibri" pitchFamily="34" charset="-120"/>
              </a:rPr>
              <a:t>COLLEGE PROJECT COMPETITION</a:t>
            </a:r>
            <a:endParaRPr lang="en-US" sz="1200" dirty="0"/>
          </a:p>
        </p:txBody>
      </p:sp>
      <p:sp>
        <p:nvSpPr>
          <p:cNvPr id="5" name="Text 3"/>
          <p:cNvSpPr/>
          <p:nvPr/>
        </p:nvSpPr>
        <p:spPr>
          <a:xfrm>
            <a:off x="777240" y="1234440"/>
            <a:ext cx="9601200" cy="1554480"/>
          </a:xfrm>
          <a:prstGeom prst="rect">
            <a:avLst/>
          </a:prstGeom>
          <a:noFill/>
          <a:ln/>
        </p:spPr>
        <p:txBody>
          <a:bodyPr wrap="square"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FedMed AI</a:t>
            </a:r>
            <a:endParaRPr lang="en-US" sz="7200" dirty="0"/>
          </a:p>
        </p:txBody>
      </p:sp>
      <p:sp>
        <p:nvSpPr>
          <p:cNvPr id="6" name="Text 4"/>
          <p:cNvSpPr/>
          <p:nvPr/>
        </p:nvSpPr>
        <p:spPr>
          <a:xfrm>
            <a:off x="822960" y="2697480"/>
            <a:ext cx="8412480" cy="640080"/>
          </a:xfrm>
          <a:prstGeom prst="rect">
            <a:avLst/>
          </a:prstGeom>
          <a:noFill/>
          <a:ln/>
        </p:spPr>
        <p:txBody>
          <a:bodyPr wrap="square" rtlCol="0" anchor="ctr"/>
          <a:lstStyle/>
          <a:p>
            <a:pPr indent="0" marL="0">
              <a:buNone/>
            </a:pPr>
            <a:r>
              <a:rPr lang="en-US" sz="2100" dirty="0">
                <a:solidFill>
                  <a:srgbClr val="CFE9DB"/>
                </a:solidFill>
                <a:latin typeface="Calibri" pitchFamily="34" charset="0"/>
                <a:ea typeface="Calibri" pitchFamily="34" charset="-122"/>
                <a:cs typeface="Calibri" pitchFamily="34" charset="-120"/>
              </a:rPr>
              <a:t>Federated AI Medical Imaging Network for Disease Detection</a:t>
            </a:r>
            <a:endParaRPr lang="en-US" sz="2100" dirty="0"/>
          </a:p>
        </p:txBody>
      </p:sp>
      <p:sp>
        <p:nvSpPr>
          <p:cNvPr id="7" name="Shape 5"/>
          <p:cNvSpPr/>
          <p:nvPr/>
        </p:nvSpPr>
        <p:spPr>
          <a:xfrm>
            <a:off x="822960" y="3703320"/>
            <a:ext cx="1417320" cy="457200"/>
          </a:xfrm>
          <a:prstGeom prst="roundRect">
            <a:avLst>
              <a:gd name="adj" fmla="val 16000"/>
            </a:avLst>
          </a:prstGeom>
          <a:solidFill>
            <a:srgbClr val="0F4736"/>
          </a:solidFill>
          <a:ln w="9525">
            <a:solidFill>
              <a:srgbClr val="1F8A5F"/>
            </a:solidFill>
            <a:prstDash val="solid"/>
          </a:ln>
        </p:spPr>
      </p:sp>
      <p:sp>
        <p:nvSpPr>
          <p:cNvPr id="8" name="Text 6"/>
          <p:cNvSpPr/>
          <p:nvPr/>
        </p:nvSpPr>
        <p:spPr>
          <a:xfrm>
            <a:off x="822960" y="3703320"/>
            <a:ext cx="1417320" cy="457200"/>
          </a:xfrm>
          <a:prstGeom prst="rect">
            <a:avLst/>
          </a:prstGeom>
          <a:noFill/>
          <a:ln/>
        </p:spPr>
        <p:txBody>
          <a:bodyPr wrap="square" rtlCol="0" anchor="ctr"/>
          <a:lstStyle/>
          <a:p>
            <a:pPr algn="ctr" indent="0" marL="0">
              <a:buNone/>
            </a:pPr>
            <a:r>
              <a:rPr lang="en-US" sz="1100" b="1" spc="50" kern="0" dirty="0">
                <a:solidFill>
                  <a:srgbClr val="CFE9DB"/>
                </a:solidFill>
                <a:latin typeface="Calibri" pitchFamily="34" charset="0"/>
                <a:ea typeface="Calibri" pitchFamily="34" charset="-122"/>
                <a:cs typeface="Calibri" pitchFamily="34" charset="-120"/>
              </a:rPr>
              <a:t>CHEST X-RAY</a:t>
            </a:r>
            <a:endParaRPr lang="en-US" sz="1100" dirty="0"/>
          </a:p>
        </p:txBody>
      </p:sp>
      <p:sp>
        <p:nvSpPr>
          <p:cNvPr id="9" name="Text 7"/>
          <p:cNvSpPr/>
          <p:nvPr/>
        </p:nvSpPr>
        <p:spPr>
          <a:xfrm>
            <a:off x="2240280" y="3703320"/>
            <a:ext cx="310896" cy="457200"/>
          </a:xfrm>
          <a:prstGeom prst="rect">
            <a:avLst/>
          </a:prstGeom>
          <a:noFill/>
          <a:ln/>
        </p:spPr>
        <p:txBody>
          <a:bodyPr wrap="square" rtlCol="0" anchor="ctr"/>
          <a:lstStyle/>
          <a:p>
            <a:pPr algn="ctr" indent="0" marL="0">
              <a:buNone/>
            </a:pPr>
            <a:r>
              <a:rPr lang="en-US" sz="1600" b="1" dirty="0">
                <a:solidFill>
                  <a:srgbClr val="2FA875"/>
                </a:solidFill>
              </a:rPr>
              <a:t>→</a:t>
            </a:r>
            <a:endParaRPr lang="en-US" sz="1600" dirty="0"/>
          </a:p>
        </p:txBody>
      </p:sp>
      <p:sp>
        <p:nvSpPr>
          <p:cNvPr id="10" name="Shape 8"/>
          <p:cNvSpPr/>
          <p:nvPr/>
        </p:nvSpPr>
        <p:spPr>
          <a:xfrm>
            <a:off x="2551176" y="3703320"/>
            <a:ext cx="640080" cy="457200"/>
          </a:xfrm>
          <a:prstGeom prst="roundRect">
            <a:avLst>
              <a:gd name="adj" fmla="val 16000"/>
            </a:avLst>
          </a:prstGeom>
          <a:solidFill>
            <a:srgbClr val="0F4736"/>
          </a:solidFill>
          <a:ln w="9525">
            <a:solidFill>
              <a:srgbClr val="1F8A5F"/>
            </a:solidFill>
            <a:prstDash val="solid"/>
          </a:ln>
        </p:spPr>
      </p:sp>
      <p:sp>
        <p:nvSpPr>
          <p:cNvPr id="11" name="Text 9"/>
          <p:cNvSpPr/>
          <p:nvPr/>
        </p:nvSpPr>
        <p:spPr>
          <a:xfrm>
            <a:off x="2551176" y="3703320"/>
            <a:ext cx="640080" cy="457200"/>
          </a:xfrm>
          <a:prstGeom prst="rect">
            <a:avLst/>
          </a:prstGeom>
          <a:noFill/>
          <a:ln/>
        </p:spPr>
        <p:txBody>
          <a:bodyPr wrap="square" rtlCol="0" anchor="ctr"/>
          <a:lstStyle/>
          <a:p>
            <a:pPr algn="ctr" indent="0" marL="0">
              <a:buNone/>
            </a:pPr>
            <a:r>
              <a:rPr lang="en-US" sz="1100" b="1" spc="50" kern="0" dirty="0">
                <a:solidFill>
                  <a:srgbClr val="CFE9DB"/>
                </a:solidFill>
                <a:latin typeface="Calibri" pitchFamily="34" charset="0"/>
                <a:ea typeface="Calibri" pitchFamily="34" charset="-122"/>
                <a:cs typeface="Calibri" pitchFamily="34" charset="-120"/>
              </a:rPr>
              <a:t>AI</a:t>
            </a:r>
            <a:endParaRPr lang="en-US" sz="1100" dirty="0"/>
          </a:p>
        </p:txBody>
      </p:sp>
      <p:sp>
        <p:nvSpPr>
          <p:cNvPr id="12" name="Text 10"/>
          <p:cNvSpPr/>
          <p:nvPr/>
        </p:nvSpPr>
        <p:spPr>
          <a:xfrm>
            <a:off x="3191256" y="3703320"/>
            <a:ext cx="310896" cy="457200"/>
          </a:xfrm>
          <a:prstGeom prst="rect">
            <a:avLst/>
          </a:prstGeom>
          <a:noFill/>
          <a:ln/>
        </p:spPr>
        <p:txBody>
          <a:bodyPr wrap="square" rtlCol="0" anchor="ctr"/>
          <a:lstStyle/>
          <a:p>
            <a:pPr algn="ctr" indent="0" marL="0">
              <a:buNone/>
            </a:pPr>
            <a:r>
              <a:rPr lang="en-US" sz="1600" b="1" dirty="0">
                <a:solidFill>
                  <a:srgbClr val="2FA875"/>
                </a:solidFill>
              </a:rPr>
              <a:t>→</a:t>
            </a:r>
            <a:endParaRPr lang="en-US" sz="1600" dirty="0"/>
          </a:p>
        </p:txBody>
      </p:sp>
      <p:sp>
        <p:nvSpPr>
          <p:cNvPr id="13" name="Shape 11"/>
          <p:cNvSpPr/>
          <p:nvPr/>
        </p:nvSpPr>
        <p:spPr>
          <a:xfrm>
            <a:off x="3502152" y="3703320"/>
            <a:ext cx="2148840" cy="457200"/>
          </a:xfrm>
          <a:prstGeom prst="roundRect">
            <a:avLst>
              <a:gd name="adj" fmla="val 16000"/>
            </a:avLst>
          </a:prstGeom>
          <a:solidFill>
            <a:srgbClr val="0F4736"/>
          </a:solidFill>
          <a:ln w="9525">
            <a:solidFill>
              <a:srgbClr val="1F8A5F"/>
            </a:solidFill>
            <a:prstDash val="solid"/>
          </a:ln>
        </p:spPr>
      </p:sp>
      <p:sp>
        <p:nvSpPr>
          <p:cNvPr id="14" name="Text 12"/>
          <p:cNvSpPr/>
          <p:nvPr/>
        </p:nvSpPr>
        <p:spPr>
          <a:xfrm>
            <a:off x="3502152" y="3703320"/>
            <a:ext cx="2148840" cy="457200"/>
          </a:xfrm>
          <a:prstGeom prst="rect">
            <a:avLst/>
          </a:prstGeom>
          <a:noFill/>
          <a:ln/>
        </p:spPr>
        <p:txBody>
          <a:bodyPr wrap="square" rtlCol="0" anchor="ctr"/>
          <a:lstStyle/>
          <a:p>
            <a:pPr algn="ctr" indent="0" marL="0">
              <a:buNone/>
            </a:pPr>
            <a:r>
              <a:rPr lang="en-US" sz="1100" b="1" spc="50" kern="0" dirty="0">
                <a:solidFill>
                  <a:srgbClr val="CFE9DB"/>
                </a:solidFill>
                <a:latin typeface="Calibri" pitchFamily="34" charset="0"/>
                <a:ea typeface="Calibri" pitchFamily="34" charset="-122"/>
                <a:cs typeface="Calibri" pitchFamily="34" charset="-120"/>
              </a:rPr>
              <a:t>FEDERATED HOSPITALS</a:t>
            </a:r>
            <a:endParaRPr lang="en-US" sz="1100" dirty="0"/>
          </a:p>
        </p:txBody>
      </p:sp>
      <p:sp>
        <p:nvSpPr>
          <p:cNvPr id="15" name="Text 13"/>
          <p:cNvSpPr/>
          <p:nvPr/>
        </p:nvSpPr>
        <p:spPr>
          <a:xfrm>
            <a:off x="5650992" y="3703320"/>
            <a:ext cx="310896" cy="457200"/>
          </a:xfrm>
          <a:prstGeom prst="rect">
            <a:avLst/>
          </a:prstGeom>
          <a:noFill/>
          <a:ln/>
        </p:spPr>
        <p:txBody>
          <a:bodyPr wrap="square" rtlCol="0" anchor="ctr"/>
          <a:lstStyle/>
          <a:p>
            <a:pPr algn="ctr" indent="0" marL="0">
              <a:buNone/>
            </a:pPr>
            <a:r>
              <a:rPr lang="en-US" sz="1600" b="1" dirty="0">
                <a:solidFill>
                  <a:srgbClr val="2FA875"/>
                </a:solidFill>
              </a:rPr>
              <a:t>→</a:t>
            </a:r>
            <a:endParaRPr lang="en-US" sz="1600" dirty="0"/>
          </a:p>
        </p:txBody>
      </p:sp>
      <p:sp>
        <p:nvSpPr>
          <p:cNvPr id="16" name="Shape 14"/>
          <p:cNvSpPr/>
          <p:nvPr/>
        </p:nvSpPr>
        <p:spPr>
          <a:xfrm>
            <a:off x="5961888" y="3703320"/>
            <a:ext cx="1691640" cy="457200"/>
          </a:xfrm>
          <a:prstGeom prst="roundRect">
            <a:avLst>
              <a:gd name="adj" fmla="val 16000"/>
            </a:avLst>
          </a:prstGeom>
          <a:solidFill>
            <a:srgbClr val="0F4736"/>
          </a:solidFill>
          <a:ln w="9525">
            <a:solidFill>
              <a:srgbClr val="1F8A5F"/>
            </a:solidFill>
            <a:prstDash val="solid"/>
          </a:ln>
        </p:spPr>
      </p:sp>
      <p:sp>
        <p:nvSpPr>
          <p:cNvPr id="17" name="Text 15"/>
          <p:cNvSpPr/>
          <p:nvPr/>
        </p:nvSpPr>
        <p:spPr>
          <a:xfrm>
            <a:off x="5961888" y="3703320"/>
            <a:ext cx="1691640" cy="457200"/>
          </a:xfrm>
          <a:prstGeom prst="rect">
            <a:avLst/>
          </a:prstGeom>
          <a:noFill/>
          <a:ln/>
        </p:spPr>
        <p:txBody>
          <a:bodyPr wrap="square" rtlCol="0" anchor="ctr"/>
          <a:lstStyle/>
          <a:p>
            <a:pPr algn="ctr" indent="0" marL="0">
              <a:buNone/>
            </a:pPr>
            <a:r>
              <a:rPr lang="en-US" sz="1100" b="1" spc="50" kern="0" dirty="0">
                <a:solidFill>
                  <a:srgbClr val="CFE9DB"/>
                </a:solidFill>
                <a:latin typeface="Calibri" pitchFamily="34" charset="0"/>
                <a:ea typeface="Calibri" pitchFamily="34" charset="-122"/>
                <a:cs typeface="Calibri" pitchFamily="34" charset="-120"/>
              </a:rPr>
              <a:t>GLOBAL MODEL</a:t>
            </a:r>
            <a:endParaRPr lang="en-US" sz="1100" dirty="0"/>
          </a:p>
        </p:txBody>
      </p:sp>
      <p:sp>
        <p:nvSpPr>
          <p:cNvPr id="18" name="Text 16"/>
          <p:cNvSpPr/>
          <p:nvPr/>
        </p:nvSpPr>
        <p:spPr>
          <a:xfrm>
            <a:off x="7653528" y="3703320"/>
            <a:ext cx="310896" cy="457200"/>
          </a:xfrm>
          <a:prstGeom prst="rect">
            <a:avLst/>
          </a:prstGeom>
          <a:noFill/>
          <a:ln/>
        </p:spPr>
        <p:txBody>
          <a:bodyPr wrap="square" rtlCol="0" anchor="ctr"/>
          <a:lstStyle/>
          <a:p>
            <a:pPr algn="ctr" indent="0" marL="0">
              <a:buNone/>
            </a:pPr>
            <a:r>
              <a:rPr lang="en-US" sz="1600" b="1" dirty="0">
                <a:solidFill>
                  <a:srgbClr val="2FA875"/>
                </a:solidFill>
              </a:rPr>
              <a:t>→</a:t>
            </a:r>
            <a:endParaRPr lang="en-US" sz="1600" dirty="0"/>
          </a:p>
        </p:txBody>
      </p:sp>
      <p:sp>
        <p:nvSpPr>
          <p:cNvPr id="19" name="Shape 17"/>
          <p:cNvSpPr/>
          <p:nvPr/>
        </p:nvSpPr>
        <p:spPr>
          <a:xfrm>
            <a:off x="7964424" y="3703320"/>
            <a:ext cx="2148840" cy="457200"/>
          </a:xfrm>
          <a:prstGeom prst="roundRect">
            <a:avLst>
              <a:gd name="adj" fmla="val 16000"/>
            </a:avLst>
          </a:prstGeom>
          <a:solidFill>
            <a:srgbClr val="0F4736"/>
          </a:solidFill>
          <a:ln w="9525">
            <a:solidFill>
              <a:srgbClr val="1F8A5F"/>
            </a:solidFill>
            <a:prstDash val="solid"/>
          </a:ln>
        </p:spPr>
      </p:sp>
      <p:sp>
        <p:nvSpPr>
          <p:cNvPr id="20" name="Text 18"/>
          <p:cNvSpPr/>
          <p:nvPr/>
        </p:nvSpPr>
        <p:spPr>
          <a:xfrm>
            <a:off x="7964424" y="3703320"/>
            <a:ext cx="2148840" cy="457200"/>
          </a:xfrm>
          <a:prstGeom prst="rect">
            <a:avLst/>
          </a:prstGeom>
          <a:noFill/>
          <a:ln/>
        </p:spPr>
        <p:txBody>
          <a:bodyPr wrap="square" rtlCol="0" anchor="ctr"/>
          <a:lstStyle/>
          <a:p>
            <a:pPr algn="ctr" indent="0" marL="0">
              <a:buNone/>
            </a:pPr>
            <a:r>
              <a:rPr lang="en-US" sz="1100" b="1" spc="50" kern="0" dirty="0">
                <a:solidFill>
                  <a:srgbClr val="CFE9DB"/>
                </a:solidFill>
                <a:latin typeface="Calibri" pitchFamily="34" charset="0"/>
                <a:ea typeface="Calibri" pitchFamily="34" charset="-122"/>
                <a:cs typeface="Calibri" pitchFamily="34" charset="-120"/>
              </a:rPr>
              <a:t>DISEASE PREDICTION</a:t>
            </a:r>
            <a:endParaRPr lang="en-US" sz="1100" dirty="0"/>
          </a:p>
        </p:txBody>
      </p:sp>
      <p:pic>
        <p:nvPicPr>
          <p:cNvPr id="21" name="Image 0" descr="assets/dashboard_hero_banner.png">    </p:cNvPr>
          <p:cNvPicPr>
            <a:picLocks noChangeAspect="1"/>
          </p:cNvPicPr>
          <p:nvPr/>
        </p:nvPicPr>
        <p:blipFill>
          <a:blip r:embed="rId1"/>
          <a:stretch>
            <a:fillRect/>
          </a:stretch>
        </p:blipFill>
        <p:spPr>
          <a:xfrm>
            <a:off x="6903720" y="4709160"/>
            <a:ext cx="4663440" cy="593087"/>
          </a:xfrm>
          <a:prstGeom prst="rect">
            <a:avLst/>
          </a:prstGeom>
        </p:spPr>
      </p:pic>
      <p:sp>
        <p:nvSpPr>
          <p:cNvPr id="22" name="Shape 19"/>
          <p:cNvSpPr/>
          <p:nvPr/>
        </p:nvSpPr>
        <p:spPr>
          <a:xfrm>
            <a:off x="6812280" y="4590288"/>
            <a:ext cx="4846320" cy="830831"/>
          </a:xfrm>
          <a:prstGeom prst="roundRect">
            <a:avLst>
              <a:gd name="adj" fmla="val 6604"/>
            </a:avLst>
          </a:prstGeom>
          <a:ln w="12700">
            <a:solidFill>
              <a:srgbClr val="1F8A5F"/>
            </a:solidFill>
            <a:prstDash val="solid"/>
          </a:ln>
        </p:spPr>
      </p:sp>
      <p:sp>
        <p:nvSpPr>
          <p:cNvPr id="23" name="Text 20"/>
          <p:cNvSpPr/>
          <p:nvPr/>
        </p:nvSpPr>
        <p:spPr>
          <a:xfrm>
            <a:off x="6903720" y="6053328"/>
            <a:ext cx="4663440" cy="274320"/>
          </a:xfrm>
          <a:prstGeom prst="rect">
            <a:avLst/>
          </a:prstGeom>
          <a:noFill/>
          <a:ln/>
        </p:spPr>
        <p:txBody>
          <a:bodyPr wrap="square" rtlCol="0" anchor="ctr"/>
          <a:lstStyle/>
          <a:p>
            <a:pPr indent="0" marL="0">
              <a:buNone/>
            </a:pPr>
            <a:r>
              <a:rPr lang="en-US" sz="950" b="1" spc="200" kern="0" dirty="0">
                <a:solidFill>
                  <a:srgbClr val="9FC9B4"/>
                </a:solidFill>
                <a:latin typeface="Calibri" pitchFamily="34" charset="0"/>
                <a:ea typeface="Calibri" pitchFamily="34" charset="-122"/>
                <a:cs typeface="Calibri" pitchFamily="34" charset="-120"/>
              </a:rPr>
              <a:t>LIVE FROM THE FEDRAD CONSOLE</a:t>
            </a:r>
            <a:endParaRPr lang="en-US" sz="950" dirty="0"/>
          </a:p>
        </p:txBody>
      </p:sp>
      <p:sp>
        <p:nvSpPr>
          <p:cNvPr id="24" name="Text 21"/>
          <p:cNvSpPr/>
          <p:nvPr/>
        </p:nvSpPr>
        <p:spPr>
          <a:xfrm>
            <a:off x="822960" y="5989320"/>
            <a:ext cx="457200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Simran Singh</a:t>
            </a:r>
            <a:endParaRPr lang="en-US" sz="1500" dirty="0"/>
          </a:p>
        </p:txBody>
      </p:sp>
      <p:sp>
        <p:nvSpPr>
          <p:cNvPr id="25" name="Text 22"/>
          <p:cNvSpPr/>
          <p:nvPr/>
        </p:nvSpPr>
        <p:spPr>
          <a:xfrm>
            <a:off x="822960" y="6327648"/>
            <a:ext cx="5486400" cy="320040"/>
          </a:xfrm>
          <a:prstGeom prst="rect">
            <a:avLst/>
          </a:prstGeom>
          <a:noFill/>
          <a:ln/>
        </p:spPr>
        <p:txBody>
          <a:bodyPr wrap="square" rtlCol="0" anchor="ctr"/>
          <a:lstStyle/>
          <a:p>
            <a:pPr indent="0" marL="0">
              <a:buNone/>
            </a:pPr>
            <a:r>
              <a:rPr lang="en-US" sz="1150" dirty="0">
                <a:solidFill>
                  <a:srgbClr val="9FC9B4"/>
                </a:solidFill>
                <a:latin typeface="Calibri" pitchFamily="34" charset="0"/>
                <a:ea typeface="Calibri" pitchFamily="34" charset="-122"/>
                <a:cs typeface="Calibri" pitchFamily="34" charset="-120"/>
              </a:rPr>
              <a:t>Presenter  •  College Project Competition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640080" y="411480"/>
            <a:ext cx="10881360" cy="1051560"/>
          </a:xfrm>
          <a:prstGeom prst="rect">
            <a:avLst/>
          </a:prstGeom>
          <a:noFill/>
          <a:ln/>
        </p:spPr>
        <p:txBody>
          <a:bodyPr wrap="square" rtlCol="0" anchor="ctr"/>
          <a:lstStyle/>
          <a:p>
            <a:pPr indent="0" marL="0">
              <a:lnSpc>
                <a:spcPct val="105000"/>
              </a:lnSpc>
              <a:buNone/>
            </a:pPr>
            <a:r>
              <a:rPr lang="en-US" sz="3000" b="1" dirty="0">
                <a:solidFill>
                  <a:srgbClr val="12241D"/>
                </a:solidFill>
                <a:latin typeface="Cambria" pitchFamily="34" charset="0"/>
                <a:ea typeface="Cambria" pitchFamily="34" charset="-122"/>
                <a:cs typeface="Cambria" pitchFamily="34" charset="-120"/>
              </a:rPr>
              <a:t>The Challenge: Medical AI Needs Data.</a:t>
            </a:r>
            <a:endParaRPr lang="en-US" sz="3000" dirty="0"/>
          </a:p>
          <a:p>
            <a:pPr indent="0" marL="0">
              <a:lnSpc>
                <a:spcPct val="105000"/>
              </a:lnSpc>
              <a:buNone/>
            </a:pPr>
            <a:r>
              <a:rPr lang="en-US" sz="3000" b="1" dirty="0">
                <a:solidFill>
                  <a:srgbClr val="12241D"/>
                </a:solidFill>
                <a:latin typeface="Cambria" pitchFamily="34" charset="0"/>
                <a:ea typeface="Cambria" pitchFamily="34" charset="-122"/>
                <a:cs typeface="Cambria" pitchFamily="34" charset="-120"/>
              </a:rPr>
              <a:t>Healthcare Data Needs Privacy.</a:t>
            </a:r>
            <a:endParaRPr lang="en-US" sz="3000" dirty="0"/>
          </a:p>
        </p:txBody>
      </p:sp>
      <p:sp>
        <p:nvSpPr>
          <p:cNvPr id="3" name="Text 1"/>
          <p:cNvSpPr/>
          <p:nvPr/>
        </p:nvSpPr>
        <p:spPr>
          <a:xfrm>
            <a:off x="640080" y="1508760"/>
            <a:ext cx="6858000" cy="1051560"/>
          </a:xfrm>
          <a:prstGeom prst="rect">
            <a:avLst/>
          </a:prstGeom>
          <a:noFill/>
          <a:ln/>
        </p:spPr>
        <p:txBody>
          <a:bodyPr wrap="square" rtlCol="0" anchor="ctr"/>
          <a:lstStyle/>
          <a:p>
            <a:pPr indent="0" marL="0">
              <a:lnSpc>
                <a:spcPct val="125000"/>
              </a:lnSpc>
              <a:buNone/>
            </a:pPr>
            <a:r>
              <a:rPr lang="en-US" sz="1400" dirty="0">
                <a:solidFill>
                  <a:srgbClr val="5B6E64"/>
                </a:solidFill>
                <a:latin typeface="Calibri" pitchFamily="34" charset="0"/>
                <a:ea typeface="Calibri" pitchFamily="34" charset="-122"/>
                <a:cs typeface="Calibri" pitchFamily="34" charset="-120"/>
              </a:rPr>
              <a:t>Medical AI needs large, diverse datasets to learn robust patterns — but medical imaging data is sensitive and usually stays within the institution that collected it. </a:t>
            </a:r>
            <a:pPr indent="0" marL="0">
              <a:lnSpc>
                <a:spcPct val="125000"/>
              </a:lnSpc>
              <a:buNone/>
            </a:pPr>
            <a:r>
              <a:rPr lang="en-US" sz="1400" dirty="0">
                <a:solidFill>
                  <a:srgbClr val="5B6E64"/>
                </a:solidFill>
                <a:latin typeface="Calibri" pitchFamily="34" charset="0"/>
                <a:ea typeface="Calibri" pitchFamily="34" charset="-122"/>
                <a:cs typeface="Calibri" pitchFamily="34" charset="-120"/>
              </a:rPr>
              <a:t>Centralizing raw images means transferring sensitive patient data, and individual hospitals often have too little data to train strong models alone.</a:t>
            </a:r>
            <a:endParaRPr lang="en-US" sz="1400" dirty="0"/>
          </a:p>
        </p:txBody>
      </p:sp>
      <p:sp>
        <p:nvSpPr>
          <p:cNvPr id="4" name="Shape 2"/>
          <p:cNvSpPr/>
          <p:nvPr/>
        </p:nvSpPr>
        <p:spPr>
          <a:xfrm>
            <a:off x="640080" y="2788920"/>
            <a:ext cx="1572768" cy="1783080"/>
          </a:xfrm>
          <a:prstGeom prst="roundRect">
            <a:avLst>
              <a:gd name="adj" fmla="val 5233"/>
            </a:avLst>
          </a:prstGeom>
          <a:solidFill>
            <a:srgbClr val="FFFFFF"/>
          </a:solidFill>
          <a:ln w="12700">
            <a:solidFill>
              <a:srgbClr val="E1EAE5"/>
            </a:solidFill>
            <a:prstDash val="solid"/>
          </a:ln>
          <a:effectLst>
            <a:outerShdw sx="100000" sy="100000" kx="0" ky="0" algn="bl" rotWithShape="0" blurRad="101600" dist="38100" dir="5400000">
              <a:srgbClr val="1B2E26">
                <a:alpha val="12000"/>
              </a:srgbClr>
            </a:outerShdw>
          </a:effectLst>
        </p:spPr>
      </p:sp>
      <p:sp>
        <p:nvSpPr>
          <p:cNvPr id="5" name="Shape 3"/>
          <p:cNvSpPr/>
          <p:nvPr/>
        </p:nvSpPr>
        <p:spPr>
          <a:xfrm>
            <a:off x="804672" y="2953512"/>
            <a:ext cx="384048" cy="384048"/>
          </a:xfrm>
          <a:prstGeom prst="roundRect">
            <a:avLst>
              <a:gd name="adj" fmla="val 19048"/>
            </a:avLst>
          </a:prstGeom>
          <a:solidFill>
            <a:srgbClr val="E4F3EB"/>
          </a:solidFill>
          <a:ln/>
        </p:spPr>
      </p:sp>
      <p:sp>
        <p:nvSpPr>
          <p:cNvPr id="6" name="Text 4"/>
          <p:cNvSpPr/>
          <p:nvPr/>
        </p:nvSpPr>
        <p:spPr>
          <a:xfrm>
            <a:off x="804672" y="2926080"/>
            <a:ext cx="384048" cy="384048"/>
          </a:xfrm>
          <a:prstGeom prst="rect">
            <a:avLst/>
          </a:prstGeom>
          <a:noFill/>
          <a:ln/>
        </p:spPr>
        <p:txBody>
          <a:bodyPr wrap="square" rtlCol="0" anchor="ctr"/>
          <a:lstStyle/>
          <a:p>
            <a:pPr algn="ctr" indent="0" marL="0">
              <a:buNone/>
            </a:pPr>
            <a:r>
              <a:rPr lang="en-US" sz="1700" b="1" dirty="0">
                <a:solidFill>
                  <a:srgbClr val="1F8A5F"/>
                </a:solidFill>
              </a:rPr>
              <a:t>+</a:t>
            </a:r>
            <a:endParaRPr lang="en-US" sz="1700" dirty="0"/>
          </a:p>
        </p:txBody>
      </p:sp>
      <p:sp>
        <p:nvSpPr>
          <p:cNvPr id="7" name="Text 5"/>
          <p:cNvSpPr/>
          <p:nvPr/>
        </p:nvSpPr>
        <p:spPr>
          <a:xfrm>
            <a:off x="786384" y="3410712"/>
            <a:ext cx="1298448" cy="27432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Hospital A</a:t>
            </a:r>
            <a:endParaRPr lang="en-US" sz="1250" dirty="0"/>
          </a:p>
        </p:txBody>
      </p:sp>
      <p:sp>
        <p:nvSpPr>
          <p:cNvPr id="8" name="Text 6"/>
          <p:cNvSpPr/>
          <p:nvPr/>
        </p:nvSpPr>
        <p:spPr>
          <a:xfrm>
            <a:off x="786384" y="3703320"/>
            <a:ext cx="1298448" cy="777240"/>
          </a:xfrm>
          <a:prstGeom prst="rect">
            <a:avLst/>
          </a:prstGeom>
          <a:noFill/>
          <a:ln/>
        </p:spPr>
        <p:txBody>
          <a:bodyPr wrap="square" rtlCol="0" anchor="ctr"/>
          <a:lstStyle/>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Local chest X-ray</a:t>
            </a:r>
            <a:endParaRPr lang="en-US" sz="950" dirty="0"/>
          </a:p>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data stays on-site</a:t>
            </a:r>
            <a:endParaRPr lang="en-US" sz="950" dirty="0"/>
          </a:p>
        </p:txBody>
      </p:sp>
      <p:sp>
        <p:nvSpPr>
          <p:cNvPr id="9" name="Shape 7"/>
          <p:cNvSpPr/>
          <p:nvPr/>
        </p:nvSpPr>
        <p:spPr>
          <a:xfrm>
            <a:off x="2395728" y="2788920"/>
            <a:ext cx="1572768" cy="1783080"/>
          </a:xfrm>
          <a:prstGeom prst="roundRect">
            <a:avLst>
              <a:gd name="adj" fmla="val 5233"/>
            </a:avLst>
          </a:prstGeom>
          <a:solidFill>
            <a:srgbClr val="FFFFFF"/>
          </a:solidFill>
          <a:ln w="12700">
            <a:solidFill>
              <a:srgbClr val="E1EAE5"/>
            </a:solidFill>
            <a:prstDash val="solid"/>
          </a:ln>
          <a:effectLst>
            <a:outerShdw sx="100000" sy="100000" kx="0" ky="0" algn="bl" rotWithShape="0" blurRad="101600" dist="38100" dir="5400000">
              <a:srgbClr val="1B2E26">
                <a:alpha val="12000"/>
              </a:srgbClr>
            </a:outerShdw>
          </a:effectLst>
        </p:spPr>
      </p:sp>
      <p:sp>
        <p:nvSpPr>
          <p:cNvPr id="10" name="Shape 8"/>
          <p:cNvSpPr/>
          <p:nvPr/>
        </p:nvSpPr>
        <p:spPr>
          <a:xfrm>
            <a:off x="2560320" y="2953512"/>
            <a:ext cx="384048" cy="384048"/>
          </a:xfrm>
          <a:prstGeom prst="roundRect">
            <a:avLst>
              <a:gd name="adj" fmla="val 19048"/>
            </a:avLst>
          </a:prstGeom>
          <a:solidFill>
            <a:srgbClr val="E4F3EB"/>
          </a:solidFill>
          <a:ln/>
        </p:spPr>
      </p:sp>
      <p:sp>
        <p:nvSpPr>
          <p:cNvPr id="11" name="Text 9"/>
          <p:cNvSpPr/>
          <p:nvPr/>
        </p:nvSpPr>
        <p:spPr>
          <a:xfrm>
            <a:off x="2560320" y="2926080"/>
            <a:ext cx="384048" cy="384048"/>
          </a:xfrm>
          <a:prstGeom prst="rect">
            <a:avLst/>
          </a:prstGeom>
          <a:noFill/>
          <a:ln/>
        </p:spPr>
        <p:txBody>
          <a:bodyPr wrap="square" rtlCol="0" anchor="ctr"/>
          <a:lstStyle/>
          <a:p>
            <a:pPr algn="ctr" indent="0" marL="0">
              <a:buNone/>
            </a:pPr>
            <a:r>
              <a:rPr lang="en-US" sz="1700" b="1" dirty="0">
                <a:solidFill>
                  <a:srgbClr val="1F8A5F"/>
                </a:solidFill>
              </a:rPr>
              <a:t>+</a:t>
            </a:r>
            <a:endParaRPr lang="en-US" sz="1700" dirty="0"/>
          </a:p>
        </p:txBody>
      </p:sp>
      <p:sp>
        <p:nvSpPr>
          <p:cNvPr id="12" name="Text 10"/>
          <p:cNvSpPr/>
          <p:nvPr/>
        </p:nvSpPr>
        <p:spPr>
          <a:xfrm>
            <a:off x="2542032" y="3410712"/>
            <a:ext cx="1298448" cy="27432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Hospital B</a:t>
            </a:r>
            <a:endParaRPr lang="en-US" sz="1250" dirty="0"/>
          </a:p>
        </p:txBody>
      </p:sp>
      <p:sp>
        <p:nvSpPr>
          <p:cNvPr id="13" name="Text 11"/>
          <p:cNvSpPr/>
          <p:nvPr/>
        </p:nvSpPr>
        <p:spPr>
          <a:xfrm>
            <a:off x="2542032" y="3703320"/>
            <a:ext cx="1298448" cy="777240"/>
          </a:xfrm>
          <a:prstGeom prst="rect">
            <a:avLst/>
          </a:prstGeom>
          <a:noFill/>
          <a:ln/>
        </p:spPr>
        <p:txBody>
          <a:bodyPr wrap="square" rtlCol="0" anchor="ctr"/>
          <a:lstStyle/>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Local chest X-ray</a:t>
            </a:r>
            <a:endParaRPr lang="en-US" sz="950" dirty="0"/>
          </a:p>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data stays on-site</a:t>
            </a:r>
            <a:endParaRPr lang="en-US" sz="950" dirty="0"/>
          </a:p>
        </p:txBody>
      </p:sp>
      <p:sp>
        <p:nvSpPr>
          <p:cNvPr id="14" name="Shape 12"/>
          <p:cNvSpPr/>
          <p:nvPr/>
        </p:nvSpPr>
        <p:spPr>
          <a:xfrm>
            <a:off x="4151376" y="2788920"/>
            <a:ext cx="1572768" cy="1783080"/>
          </a:xfrm>
          <a:prstGeom prst="roundRect">
            <a:avLst>
              <a:gd name="adj" fmla="val 5233"/>
            </a:avLst>
          </a:prstGeom>
          <a:solidFill>
            <a:srgbClr val="FFFFFF"/>
          </a:solidFill>
          <a:ln w="12700">
            <a:solidFill>
              <a:srgbClr val="E1EAE5"/>
            </a:solidFill>
            <a:prstDash val="solid"/>
          </a:ln>
          <a:effectLst>
            <a:outerShdw sx="100000" sy="100000" kx="0" ky="0" algn="bl" rotWithShape="0" blurRad="101600" dist="38100" dir="5400000">
              <a:srgbClr val="1B2E26">
                <a:alpha val="12000"/>
              </a:srgbClr>
            </a:outerShdw>
          </a:effectLst>
        </p:spPr>
      </p:sp>
      <p:sp>
        <p:nvSpPr>
          <p:cNvPr id="15" name="Shape 13"/>
          <p:cNvSpPr/>
          <p:nvPr/>
        </p:nvSpPr>
        <p:spPr>
          <a:xfrm>
            <a:off x="4315968" y="2953512"/>
            <a:ext cx="384048" cy="384048"/>
          </a:xfrm>
          <a:prstGeom prst="roundRect">
            <a:avLst>
              <a:gd name="adj" fmla="val 19048"/>
            </a:avLst>
          </a:prstGeom>
          <a:solidFill>
            <a:srgbClr val="E4F3EB"/>
          </a:solidFill>
          <a:ln/>
        </p:spPr>
      </p:sp>
      <p:sp>
        <p:nvSpPr>
          <p:cNvPr id="16" name="Text 14"/>
          <p:cNvSpPr/>
          <p:nvPr/>
        </p:nvSpPr>
        <p:spPr>
          <a:xfrm>
            <a:off x="4315968" y="2926080"/>
            <a:ext cx="384048" cy="384048"/>
          </a:xfrm>
          <a:prstGeom prst="rect">
            <a:avLst/>
          </a:prstGeom>
          <a:noFill/>
          <a:ln/>
        </p:spPr>
        <p:txBody>
          <a:bodyPr wrap="square" rtlCol="0" anchor="ctr"/>
          <a:lstStyle/>
          <a:p>
            <a:pPr algn="ctr" indent="0" marL="0">
              <a:buNone/>
            </a:pPr>
            <a:r>
              <a:rPr lang="en-US" sz="1700" b="1" dirty="0">
                <a:solidFill>
                  <a:srgbClr val="1F8A5F"/>
                </a:solidFill>
              </a:rPr>
              <a:t>+</a:t>
            </a:r>
            <a:endParaRPr lang="en-US" sz="1700" dirty="0"/>
          </a:p>
        </p:txBody>
      </p:sp>
      <p:sp>
        <p:nvSpPr>
          <p:cNvPr id="17" name="Text 15"/>
          <p:cNvSpPr/>
          <p:nvPr/>
        </p:nvSpPr>
        <p:spPr>
          <a:xfrm>
            <a:off x="4297680" y="3410712"/>
            <a:ext cx="1298448" cy="27432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Hospital C</a:t>
            </a:r>
            <a:endParaRPr lang="en-US" sz="1250" dirty="0"/>
          </a:p>
        </p:txBody>
      </p:sp>
      <p:sp>
        <p:nvSpPr>
          <p:cNvPr id="18" name="Text 16"/>
          <p:cNvSpPr/>
          <p:nvPr/>
        </p:nvSpPr>
        <p:spPr>
          <a:xfrm>
            <a:off x="4297680" y="3703320"/>
            <a:ext cx="1298448" cy="777240"/>
          </a:xfrm>
          <a:prstGeom prst="rect">
            <a:avLst/>
          </a:prstGeom>
          <a:noFill/>
          <a:ln/>
        </p:spPr>
        <p:txBody>
          <a:bodyPr wrap="square" rtlCol="0" anchor="ctr"/>
          <a:lstStyle/>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Local chest X-ray</a:t>
            </a:r>
            <a:endParaRPr lang="en-US" sz="950" dirty="0"/>
          </a:p>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data stays on-site</a:t>
            </a:r>
            <a:endParaRPr lang="en-US" sz="950" dirty="0"/>
          </a:p>
        </p:txBody>
      </p:sp>
      <p:sp>
        <p:nvSpPr>
          <p:cNvPr id="19" name="Shape 17"/>
          <p:cNvSpPr/>
          <p:nvPr/>
        </p:nvSpPr>
        <p:spPr>
          <a:xfrm>
            <a:off x="5907024" y="2788920"/>
            <a:ext cx="1572768" cy="1783080"/>
          </a:xfrm>
          <a:prstGeom prst="roundRect">
            <a:avLst>
              <a:gd name="adj" fmla="val 5233"/>
            </a:avLst>
          </a:prstGeom>
          <a:solidFill>
            <a:srgbClr val="FFFFFF"/>
          </a:solidFill>
          <a:ln w="12700">
            <a:solidFill>
              <a:srgbClr val="E1EAE5"/>
            </a:solidFill>
            <a:prstDash val="solid"/>
          </a:ln>
          <a:effectLst>
            <a:outerShdw sx="100000" sy="100000" kx="0" ky="0" algn="bl" rotWithShape="0" blurRad="101600" dist="38100" dir="5400000">
              <a:srgbClr val="1B2E26">
                <a:alpha val="12000"/>
              </a:srgbClr>
            </a:outerShdw>
          </a:effectLst>
        </p:spPr>
      </p:sp>
      <p:sp>
        <p:nvSpPr>
          <p:cNvPr id="20" name="Shape 18"/>
          <p:cNvSpPr/>
          <p:nvPr/>
        </p:nvSpPr>
        <p:spPr>
          <a:xfrm>
            <a:off x="6071616" y="2953512"/>
            <a:ext cx="384048" cy="384048"/>
          </a:xfrm>
          <a:prstGeom prst="roundRect">
            <a:avLst>
              <a:gd name="adj" fmla="val 19048"/>
            </a:avLst>
          </a:prstGeom>
          <a:solidFill>
            <a:srgbClr val="E4F3EB"/>
          </a:solidFill>
          <a:ln/>
        </p:spPr>
      </p:sp>
      <p:sp>
        <p:nvSpPr>
          <p:cNvPr id="21" name="Text 19"/>
          <p:cNvSpPr/>
          <p:nvPr/>
        </p:nvSpPr>
        <p:spPr>
          <a:xfrm>
            <a:off x="6071616" y="2926080"/>
            <a:ext cx="384048" cy="384048"/>
          </a:xfrm>
          <a:prstGeom prst="rect">
            <a:avLst/>
          </a:prstGeom>
          <a:noFill/>
          <a:ln/>
        </p:spPr>
        <p:txBody>
          <a:bodyPr wrap="square" rtlCol="0" anchor="ctr"/>
          <a:lstStyle/>
          <a:p>
            <a:pPr algn="ctr" indent="0" marL="0">
              <a:buNone/>
            </a:pPr>
            <a:r>
              <a:rPr lang="en-US" sz="1700" b="1" dirty="0">
                <a:solidFill>
                  <a:srgbClr val="1F8A5F"/>
                </a:solidFill>
              </a:rPr>
              <a:t>+</a:t>
            </a:r>
            <a:endParaRPr lang="en-US" sz="1700" dirty="0"/>
          </a:p>
        </p:txBody>
      </p:sp>
      <p:sp>
        <p:nvSpPr>
          <p:cNvPr id="22" name="Text 20"/>
          <p:cNvSpPr/>
          <p:nvPr/>
        </p:nvSpPr>
        <p:spPr>
          <a:xfrm>
            <a:off x="6053328" y="3410712"/>
            <a:ext cx="1298448" cy="27432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Hospital D</a:t>
            </a:r>
            <a:endParaRPr lang="en-US" sz="1250" dirty="0"/>
          </a:p>
        </p:txBody>
      </p:sp>
      <p:sp>
        <p:nvSpPr>
          <p:cNvPr id="23" name="Text 21"/>
          <p:cNvSpPr/>
          <p:nvPr/>
        </p:nvSpPr>
        <p:spPr>
          <a:xfrm>
            <a:off x="6053328" y="3703320"/>
            <a:ext cx="1298448" cy="777240"/>
          </a:xfrm>
          <a:prstGeom prst="rect">
            <a:avLst/>
          </a:prstGeom>
          <a:noFill/>
          <a:ln/>
        </p:spPr>
        <p:txBody>
          <a:bodyPr wrap="square" rtlCol="0" anchor="ctr"/>
          <a:lstStyle/>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Local chest X-ray</a:t>
            </a:r>
            <a:endParaRPr lang="en-US" sz="950" dirty="0"/>
          </a:p>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data stays on-site</a:t>
            </a:r>
            <a:endParaRPr lang="en-US" sz="950" dirty="0"/>
          </a:p>
        </p:txBody>
      </p:sp>
      <p:sp>
        <p:nvSpPr>
          <p:cNvPr id="24" name="Shape 22"/>
          <p:cNvSpPr/>
          <p:nvPr/>
        </p:nvSpPr>
        <p:spPr>
          <a:xfrm>
            <a:off x="1426464" y="4617720"/>
            <a:ext cx="2633472" cy="320040"/>
          </a:xfrm>
          <a:prstGeom prst="line">
            <a:avLst/>
          </a:prstGeom>
          <a:noFill/>
          <a:ln w="15875">
            <a:solidFill>
              <a:srgbClr val="B9CBC2"/>
            </a:solidFill>
            <a:prstDash val="dash"/>
          </a:ln>
        </p:spPr>
      </p:sp>
      <p:sp>
        <p:nvSpPr>
          <p:cNvPr id="25" name="Shape 23"/>
          <p:cNvSpPr/>
          <p:nvPr/>
        </p:nvSpPr>
        <p:spPr>
          <a:xfrm>
            <a:off x="3182112" y="4617720"/>
            <a:ext cx="877824" cy="320040"/>
          </a:xfrm>
          <a:prstGeom prst="line">
            <a:avLst/>
          </a:prstGeom>
          <a:noFill/>
          <a:ln w="15875">
            <a:solidFill>
              <a:srgbClr val="B9CBC2"/>
            </a:solidFill>
            <a:prstDash val="dash"/>
          </a:ln>
        </p:spPr>
      </p:sp>
      <p:sp>
        <p:nvSpPr>
          <p:cNvPr id="26" name="Shape 24"/>
          <p:cNvSpPr/>
          <p:nvPr/>
        </p:nvSpPr>
        <p:spPr>
          <a:xfrm flipV="1">
            <a:off x="4059936" y="4617720"/>
            <a:ext cx="877824" cy="320040"/>
          </a:xfrm>
          <a:prstGeom prst="line">
            <a:avLst/>
          </a:prstGeom>
          <a:noFill/>
          <a:ln w="15875">
            <a:solidFill>
              <a:srgbClr val="B9CBC2"/>
            </a:solidFill>
            <a:prstDash val="dash"/>
          </a:ln>
        </p:spPr>
      </p:sp>
      <p:sp>
        <p:nvSpPr>
          <p:cNvPr id="27" name="Shape 25"/>
          <p:cNvSpPr/>
          <p:nvPr/>
        </p:nvSpPr>
        <p:spPr>
          <a:xfrm flipV="1">
            <a:off x="4059936" y="4617720"/>
            <a:ext cx="2633472" cy="320040"/>
          </a:xfrm>
          <a:prstGeom prst="line">
            <a:avLst/>
          </a:prstGeom>
          <a:noFill/>
          <a:ln w="15875">
            <a:solidFill>
              <a:srgbClr val="B9CBC2"/>
            </a:solidFill>
            <a:prstDash val="dash"/>
          </a:ln>
        </p:spPr>
      </p:sp>
      <p:sp>
        <p:nvSpPr>
          <p:cNvPr id="28" name="Shape 26"/>
          <p:cNvSpPr/>
          <p:nvPr/>
        </p:nvSpPr>
        <p:spPr>
          <a:xfrm>
            <a:off x="3145536" y="4937760"/>
            <a:ext cx="1828800" cy="749808"/>
          </a:xfrm>
          <a:prstGeom prst="roundRect">
            <a:avLst>
              <a:gd name="adj" fmla="val 10976"/>
            </a:avLst>
          </a:prstGeom>
          <a:solidFill>
            <a:srgbClr val="FBEFEC"/>
          </a:solidFill>
          <a:ln w="12700">
            <a:solidFill>
              <a:srgbClr val="C15B4A"/>
            </a:solidFill>
            <a:prstDash val="solid"/>
          </a:ln>
        </p:spPr>
      </p:sp>
      <p:sp>
        <p:nvSpPr>
          <p:cNvPr id="29" name="Text 27"/>
          <p:cNvSpPr/>
          <p:nvPr/>
        </p:nvSpPr>
        <p:spPr>
          <a:xfrm>
            <a:off x="3191256" y="4937760"/>
            <a:ext cx="1737360" cy="749808"/>
          </a:xfrm>
          <a:prstGeom prst="rect">
            <a:avLst/>
          </a:prstGeom>
          <a:noFill/>
          <a:ln/>
        </p:spPr>
        <p:txBody>
          <a:bodyPr wrap="square" rtlCol="0" anchor="ctr"/>
          <a:lstStyle/>
          <a:p>
            <a:pPr algn="ctr" indent="0" marL="0">
              <a:lnSpc>
                <a:spcPct val="110000"/>
              </a:lnSpc>
              <a:buNone/>
            </a:pPr>
            <a:r>
              <a:rPr lang="en-US" sz="1000" b="1" dirty="0">
                <a:solidFill>
                  <a:srgbClr val="C15B4A"/>
                </a:solidFill>
                <a:latin typeface="Calibri" pitchFamily="34" charset="0"/>
                <a:ea typeface="Calibri" pitchFamily="34" charset="-122"/>
                <a:cs typeface="Calibri" pitchFamily="34" charset="-120"/>
              </a:rPr>
              <a:t>Centralized raw-image</a:t>
            </a:r>
            <a:endParaRPr lang="en-US" sz="1000" dirty="0"/>
          </a:p>
          <a:p>
            <a:pPr algn="ctr" indent="0" marL="0">
              <a:lnSpc>
                <a:spcPct val="110000"/>
              </a:lnSpc>
              <a:buNone/>
            </a:pPr>
            <a:r>
              <a:rPr lang="en-US" sz="1000" b="1" dirty="0">
                <a:solidFill>
                  <a:srgbClr val="C15B4A"/>
                </a:solidFill>
                <a:latin typeface="Calibri" pitchFamily="34" charset="0"/>
                <a:ea typeface="Calibri" pitchFamily="34" charset="-122"/>
                <a:cs typeface="Calibri" pitchFamily="34" charset="-120"/>
              </a:rPr>
              <a:t>pooling is challenging</a:t>
            </a:r>
            <a:endParaRPr lang="en-US" sz="1000" dirty="0"/>
          </a:p>
        </p:txBody>
      </p:sp>
      <p:sp>
        <p:nvSpPr>
          <p:cNvPr id="30" name="Shape 28"/>
          <p:cNvSpPr/>
          <p:nvPr/>
        </p:nvSpPr>
        <p:spPr>
          <a:xfrm>
            <a:off x="7680960" y="2788920"/>
            <a:ext cx="3886200" cy="3063240"/>
          </a:xfrm>
          <a:prstGeom prst="roundRect">
            <a:avLst>
              <a:gd name="adj" fmla="val 2985"/>
            </a:avLst>
          </a:prstGeom>
          <a:solidFill>
            <a:srgbClr val="0B3A2C"/>
          </a:solidFill>
          <a:ln/>
        </p:spPr>
      </p:sp>
      <p:sp>
        <p:nvSpPr>
          <p:cNvPr id="31" name="Text 29"/>
          <p:cNvSpPr/>
          <p:nvPr/>
        </p:nvSpPr>
        <p:spPr>
          <a:xfrm>
            <a:off x="7955280" y="3063240"/>
            <a:ext cx="3383280" cy="274320"/>
          </a:xfrm>
          <a:prstGeom prst="rect">
            <a:avLst/>
          </a:prstGeom>
          <a:noFill/>
          <a:ln/>
        </p:spPr>
        <p:txBody>
          <a:bodyPr wrap="square" rtlCol="0" anchor="ctr"/>
          <a:lstStyle/>
          <a:p>
            <a:pPr indent="0" marL="0">
              <a:buNone/>
            </a:pPr>
            <a:r>
              <a:rPr lang="en-US" sz="1050" b="1" spc="200" kern="0" dirty="0">
                <a:solidFill>
                  <a:srgbClr val="9FC9B4"/>
                </a:solidFill>
                <a:latin typeface="Calibri" pitchFamily="34" charset="0"/>
                <a:ea typeface="Calibri" pitchFamily="34" charset="-122"/>
                <a:cs typeface="Calibri" pitchFamily="34" charset="-120"/>
              </a:rPr>
              <a:t>CORE QUESTION</a:t>
            </a:r>
            <a:endParaRPr lang="en-US" sz="1050" dirty="0"/>
          </a:p>
        </p:txBody>
      </p:sp>
      <p:sp>
        <p:nvSpPr>
          <p:cNvPr id="32" name="Text 30"/>
          <p:cNvSpPr/>
          <p:nvPr/>
        </p:nvSpPr>
        <p:spPr>
          <a:xfrm>
            <a:off x="7955280" y="3429000"/>
            <a:ext cx="3337560" cy="2148840"/>
          </a:xfrm>
          <a:prstGeom prst="rect">
            <a:avLst/>
          </a:prstGeom>
          <a:noFill/>
          <a:ln/>
        </p:spPr>
        <p:txBody>
          <a:bodyPr wrap="square" rtlCol="0" anchor="t"/>
          <a:lstStyle/>
          <a:p>
            <a:pPr indent="0" marL="0">
              <a:lnSpc>
                <a:spcPct val="125000"/>
              </a:lnSpc>
              <a:buNone/>
            </a:pPr>
            <a:r>
              <a:rPr lang="en-US" sz="1800" i="1" dirty="0">
                <a:solidFill>
                  <a:srgbClr val="FFFFFF"/>
                </a:solidFill>
                <a:latin typeface="Cambria" pitchFamily="34" charset="0"/>
                <a:ea typeface="Cambria" pitchFamily="34" charset="-122"/>
                <a:cs typeface="Cambria" pitchFamily="34" charset="-120"/>
              </a:rPr>
              <a:t>“Can hospitals learn together without sharing raw medical images?”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640080" y="365760"/>
            <a:ext cx="10972800" cy="777240"/>
          </a:xfrm>
          <a:prstGeom prst="rect">
            <a:avLst/>
          </a:prstGeom>
          <a:noFill/>
          <a:ln/>
        </p:spPr>
        <p:txBody>
          <a:bodyPr wrap="square" rtlCol="0" anchor="ctr"/>
          <a:lstStyle/>
          <a:p>
            <a:pPr indent="0" marL="0">
              <a:buNone/>
            </a:pPr>
            <a:r>
              <a:rPr lang="en-US" sz="2500" b="1" dirty="0">
                <a:solidFill>
                  <a:srgbClr val="12241D"/>
                </a:solidFill>
                <a:latin typeface="Cambria" pitchFamily="34" charset="0"/>
                <a:ea typeface="Cambria" pitchFamily="34" charset="-122"/>
                <a:cs typeface="Cambria" pitchFamily="34" charset="-120"/>
              </a:rPr>
              <a:t>FedMed AI: Collaborative Intelligence Without Centralizing Raw Images</a:t>
            </a:r>
            <a:endParaRPr lang="en-US" sz="2500" dirty="0"/>
          </a:p>
        </p:txBody>
      </p:sp>
      <p:sp>
        <p:nvSpPr>
          <p:cNvPr id="3" name="Shape 1"/>
          <p:cNvSpPr/>
          <p:nvPr/>
        </p:nvSpPr>
        <p:spPr>
          <a:xfrm>
            <a:off x="640080" y="1371600"/>
            <a:ext cx="4160520" cy="457200"/>
          </a:xfrm>
          <a:prstGeom prst="roundRect">
            <a:avLst>
              <a:gd name="adj" fmla="val 14000"/>
            </a:avLst>
          </a:prstGeom>
          <a:solidFill>
            <a:srgbClr val="FFFFFF"/>
          </a:solidFill>
          <a:ln w="12700">
            <a:solidFill>
              <a:srgbClr val="E1EAE5"/>
            </a:solidFill>
            <a:prstDash val="solid"/>
          </a:ln>
        </p:spPr>
      </p:sp>
      <p:sp>
        <p:nvSpPr>
          <p:cNvPr id="4" name="Shape 2"/>
          <p:cNvSpPr/>
          <p:nvPr/>
        </p:nvSpPr>
        <p:spPr>
          <a:xfrm>
            <a:off x="749808" y="1481328"/>
            <a:ext cx="237744" cy="237744"/>
          </a:xfrm>
          <a:prstGeom prst="roundRect">
            <a:avLst>
              <a:gd name="adj" fmla="val 19231"/>
            </a:avLst>
          </a:prstGeom>
          <a:solidFill>
            <a:srgbClr val="1F8A5F"/>
          </a:solidFill>
          <a:ln/>
        </p:spPr>
      </p:sp>
      <p:sp>
        <p:nvSpPr>
          <p:cNvPr id="5" name="Text 3"/>
          <p:cNvSpPr/>
          <p:nvPr/>
        </p:nvSpPr>
        <p:spPr>
          <a:xfrm>
            <a:off x="1097280" y="1371600"/>
            <a:ext cx="3611880" cy="45720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Hospital A — Local Training</a:t>
            </a:r>
            <a:endParaRPr lang="en-US" sz="1250" dirty="0"/>
          </a:p>
        </p:txBody>
      </p:sp>
      <p:sp>
        <p:nvSpPr>
          <p:cNvPr id="6" name="Shape 4"/>
          <p:cNvSpPr/>
          <p:nvPr/>
        </p:nvSpPr>
        <p:spPr>
          <a:xfrm>
            <a:off x="640080" y="1975104"/>
            <a:ext cx="4160520" cy="457200"/>
          </a:xfrm>
          <a:prstGeom prst="roundRect">
            <a:avLst>
              <a:gd name="adj" fmla="val 14000"/>
            </a:avLst>
          </a:prstGeom>
          <a:solidFill>
            <a:srgbClr val="FFFFFF"/>
          </a:solidFill>
          <a:ln w="12700">
            <a:solidFill>
              <a:srgbClr val="E1EAE5"/>
            </a:solidFill>
            <a:prstDash val="solid"/>
          </a:ln>
        </p:spPr>
      </p:sp>
      <p:sp>
        <p:nvSpPr>
          <p:cNvPr id="7" name="Shape 5"/>
          <p:cNvSpPr/>
          <p:nvPr/>
        </p:nvSpPr>
        <p:spPr>
          <a:xfrm>
            <a:off x="749808" y="2084832"/>
            <a:ext cx="237744" cy="237744"/>
          </a:xfrm>
          <a:prstGeom prst="roundRect">
            <a:avLst>
              <a:gd name="adj" fmla="val 19231"/>
            </a:avLst>
          </a:prstGeom>
          <a:solidFill>
            <a:srgbClr val="1F8A5F"/>
          </a:solidFill>
          <a:ln/>
        </p:spPr>
      </p:sp>
      <p:sp>
        <p:nvSpPr>
          <p:cNvPr id="8" name="Text 6"/>
          <p:cNvSpPr/>
          <p:nvPr/>
        </p:nvSpPr>
        <p:spPr>
          <a:xfrm>
            <a:off x="1097280" y="1975104"/>
            <a:ext cx="3611880" cy="45720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Hospital B — Local Training</a:t>
            </a:r>
            <a:endParaRPr lang="en-US" sz="1250" dirty="0"/>
          </a:p>
        </p:txBody>
      </p:sp>
      <p:sp>
        <p:nvSpPr>
          <p:cNvPr id="9" name="Shape 7"/>
          <p:cNvSpPr/>
          <p:nvPr/>
        </p:nvSpPr>
        <p:spPr>
          <a:xfrm>
            <a:off x="640080" y="2578608"/>
            <a:ext cx="4160520" cy="457200"/>
          </a:xfrm>
          <a:prstGeom prst="roundRect">
            <a:avLst>
              <a:gd name="adj" fmla="val 14000"/>
            </a:avLst>
          </a:prstGeom>
          <a:solidFill>
            <a:srgbClr val="FFFFFF"/>
          </a:solidFill>
          <a:ln w="12700">
            <a:solidFill>
              <a:srgbClr val="E1EAE5"/>
            </a:solidFill>
            <a:prstDash val="solid"/>
          </a:ln>
        </p:spPr>
      </p:sp>
      <p:sp>
        <p:nvSpPr>
          <p:cNvPr id="10" name="Shape 8"/>
          <p:cNvSpPr/>
          <p:nvPr/>
        </p:nvSpPr>
        <p:spPr>
          <a:xfrm>
            <a:off x="749808" y="2688336"/>
            <a:ext cx="237744" cy="237744"/>
          </a:xfrm>
          <a:prstGeom prst="roundRect">
            <a:avLst>
              <a:gd name="adj" fmla="val 19231"/>
            </a:avLst>
          </a:prstGeom>
          <a:solidFill>
            <a:srgbClr val="1F8A5F"/>
          </a:solidFill>
          <a:ln/>
        </p:spPr>
      </p:sp>
      <p:sp>
        <p:nvSpPr>
          <p:cNvPr id="11" name="Text 9"/>
          <p:cNvSpPr/>
          <p:nvPr/>
        </p:nvSpPr>
        <p:spPr>
          <a:xfrm>
            <a:off x="1097280" y="2578608"/>
            <a:ext cx="3611880" cy="45720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Hospital C — Local Training</a:t>
            </a:r>
            <a:endParaRPr lang="en-US" sz="1250" dirty="0"/>
          </a:p>
        </p:txBody>
      </p:sp>
      <p:sp>
        <p:nvSpPr>
          <p:cNvPr id="12" name="Shape 10"/>
          <p:cNvSpPr/>
          <p:nvPr/>
        </p:nvSpPr>
        <p:spPr>
          <a:xfrm>
            <a:off x="640080" y="3182112"/>
            <a:ext cx="4160520" cy="457200"/>
          </a:xfrm>
          <a:prstGeom prst="roundRect">
            <a:avLst>
              <a:gd name="adj" fmla="val 14000"/>
            </a:avLst>
          </a:prstGeom>
          <a:solidFill>
            <a:srgbClr val="FFFFFF"/>
          </a:solidFill>
          <a:ln w="12700">
            <a:solidFill>
              <a:srgbClr val="E1EAE5"/>
            </a:solidFill>
            <a:prstDash val="solid"/>
          </a:ln>
        </p:spPr>
      </p:sp>
      <p:sp>
        <p:nvSpPr>
          <p:cNvPr id="13" name="Shape 11"/>
          <p:cNvSpPr/>
          <p:nvPr/>
        </p:nvSpPr>
        <p:spPr>
          <a:xfrm>
            <a:off x="749808" y="3291840"/>
            <a:ext cx="237744" cy="237744"/>
          </a:xfrm>
          <a:prstGeom prst="roundRect">
            <a:avLst>
              <a:gd name="adj" fmla="val 19231"/>
            </a:avLst>
          </a:prstGeom>
          <a:solidFill>
            <a:srgbClr val="1F8A5F"/>
          </a:solidFill>
          <a:ln/>
        </p:spPr>
      </p:sp>
      <p:sp>
        <p:nvSpPr>
          <p:cNvPr id="14" name="Text 12"/>
          <p:cNvSpPr/>
          <p:nvPr/>
        </p:nvSpPr>
        <p:spPr>
          <a:xfrm>
            <a:off x="1097280" y="3182112"/>
            <a:ext cx="3611880" cy="45720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Hospital D — Local Training</a:t>
            </a:r>
            <a:endParaRPr lang="en-US" sz="1250" dirty="0"/>
          </a:p>
        </p:txBody>
      </p:sp>
      <p:sp>
        <p:nvSpPr>
          <p:cNvPr id="15" name="Shape 13"/>
          <p:cNvSpPr/>
          <p:nvPr/>
        </p:nvSpPr>
        <p:spPr>
          <a:xfrm>
            <a:off x="2720340" y="3657600"/>
            <a:ext cx="0" cy="283464"/>
          </a:xfrm>
          <a:prstGeom prst="line">
            <a:avLst/>
          </a:prstGeom>
          <a:noFill/>
          <a:ln w="19050">
            <a:solidFill>
              <a:srgbClr val="5B6E64"/>
            </a:solidFill>
            <a:prstDash val="solid"/>
            <a:tailEnd type="triangle"/>
          </a:ln>
        </p:spPr>
      </p:sp>
      <p:sp>
        <p:nvSpPr>
          <p:cNvPr id="16" name="Shape 14"/>
          <p:cNvSpPr/>
          <p:nvPr/>
        </p:nvSpPr>
        <p:spPr>
          <a:xfrm>
            <a:off x="640080" y="3950208"/>
            <a:ext cx="4160520" cy="530352"/>
          </a:xfrm>
          <a:prstGeom prst="roundRect">
            <a:avLst>
              <a:gd name="adj" fmla="val 13793"/>
            </a:avLst>
          </a:prstGeom>
          <a:solidFill>
            <a:srgbClr val="0B3A2C"/>
          </a:solidFill>
          <a:ln/>
        </p:spPr>
      </p:sp>
      <p:sp>
        <p:nvSpPr>
          <p:cNvPr id="17" name="Text 15"/>
          <p:cNvSpPr/>
          <p:nvPr/>
        </p:nvSpPr>
        <p:spPr>
          <a:xfrm>
            <a:off x="640080" y="3950208"/>
            <a:ext cx="4160520" cy="530352"/>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FedAvg Aggregation</a:t>
            </a:r>
            <a:endParaRPr lang="en-US" sz="1350" dirty="0"/>
          </a:p>
        </p:txBody>
      </p:sp>
      <p:sp>
        <p:nvSpPr>
          <p:cNvPr id="18" name="Shape 16"/>
          <p:cNvSpPr/>
          <p:nvPr/>
        </p:nvSpPr>
        <p:spPr>
          <a:xfrm>
            <a:off x="2720340" y="4498848"/>
            <a:ext cx="0" cy="128016"/>
          </a:xfrm>
          <a:prstGeom prst="line">
            <a:avLst/>
          </a:prstGeom>
          <a:noFill/>
          <a:ln w="19050">
            <a:solidFill>
              <a:srgbClr val="5B6E64"/>
            </a:solidFill>
            <a:prstDash val="solid"/>
            <a:tailEnd type="triangle"/>
          </a:ln>
        </p:spPr>
      </p:sp>
      <p:sp>
        <p:nvSpPr>
          <p:cNvPr id="19" name="Shape 17"/>
          <p:cNvSpPr/>
          <p:nvPr/>
        </p:nvSpPr>
        <p:spPr>
          <a:xfrm>
            <a:off x="640080" y="4645152"/>
            <a:ext cx="4160520" cy="530352"/>
          </a:xfrm>
          <a:prstGeom prst="roundRect">
            <a:avLst>
              <a:gd name="adj" fmla="val 13793"/>
            </a:avLst>
          </a:prstGeom>
          <a:solidFill>
            <a:srgbClr val="1F8A5F"/>
          </a:solidFill>
          <a:ln/>
        </p:spPr>
      </p:sp>
      <p:sp>
        <p:nvSpPr>
          <p:cNvPr id="20" name="Text 18"/>
          <p:cNvSpPr/>
          <p:nvPr/>
        </p:nvSpPr>
        <p:spPr>
          <a:xfrm>
            <a:off x="640080" y="4645152"/>
            <a:ext cx="4160520" cy="530352"/>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Global Model</a:t>
            </a:r>
            <a:endParaRPr lang="en-US" sz="1350" dirty="0"/>
          </a:p>
        </p:txBody>
      </p:sp>
      <p:sp>
        <p:nvSpPr>
          <p:cNvPr id="21" name="Text 19"/>
          <p:cNvSpPr/>
          <p:nvPr/>
        </p:nvSpPr>
        <p:spPr>
          <a:xfrm>
            <a:off x="640080" y="5285232"/>
            <a:ext cx="4160520" cy="365760"/>
          </a:xfrm>
          <a:prstGeom prst="rect">
            <a:avLst/>
          </a:prstGeom>
          <a:noFill/>
          <a:ln/>
        </p:spPr>
        <p:txBody>
          <a:bodyPr wrap="square" rtlCol="0" anchor="ctr"/>
          <a:lstStyle/>
          <a:p>
            <a:pPr indent="0" marL="0">
              <a:buNone/>
            </a:pPr>
            <a:r>
              <a:rPr lang="en-US" sz="1050" i="1" dirty="0">
                <a:solidFill>
                  <a:srgbClr val="5B6E64"/>
                </a:solidFill>
                <a:latin typeface="Calibri" pitchFamily="34" charset="0"/>
                <a:ea typeface="Calibri" pitchFamily="34" charset="-122"/>
                <a:cs typeface="Calibri" pitchFamily="34" charset="-120"/>
              </a:rPr>
              <a:t>Updated global model returns to hospital nodes for the next round.</a:t>
            </a:r>
            <a:endParaRPr lang="en-US" sz="1050" dirty="0"/>
          </a:p>
        </p:txBody>
      </p:sp>
      <p:sp>
        <p:nvSpPr>
          <p:cNvPr id="22" name="Shape 20"/>
          <p:cNvSpPr/>
          <p:nvPr/>
        </p:nvSpPr>
        <p:spPr>
          <a:xfrm>
            <a:off x="5257800" y="1371600"/>
            <a:ext cx="6309360" cy="4343400"/>
          </a:xfrm>
          <a:prstGeom prst="roundRect">
            <a:avLst>
              <a:gd name="adj" fmla="val 2105"/>
            </a:avLst>
          </a:prstGeom>
          <a:solidFill>
            <a:srgbClr val="FFFFFF"/>
          </a:solidFill>
          <a:ln w="12700">
            <a:solidFill>
              <a:srgbClr val="E1EAE5"/>
            </a:solidFill>
            <a:prstDash val="solid"/>
          </a:ln>
          <a:effectLst>
            <a:outerShdw sx="100000" sy="100000" kx="0" ky="0" algn="bl" rotWithShape="0" blurRad="127000" dist="38100" dir="5400000">
              <a:srgbClr val="1B2E26">
                <a:alpha val="10000"/>
              </a:srgbClr>
            </a:outerShdw>
          </a:effectLst>
        </p:spPr>
      </p:sp>
      <p:sp>
        <p:nvSpPr>
          <p:cNvPr id="23" name="Text 21"/>
          <p:cNvSpPr/>
          <p:nvPr/>
        </p:nvSpPr>
        <p:spPr>
          <a:xfrm>
            <a:off x="5532120" y="1536192"/>
            <a:ext cx="5760720" cy="274320"/>
          </a:xfrm>
          <a:prstGeom prst="rect">
            <a:avLst/>
          </a:prstGeom>
          <a:noFill/>
          <a:ln/>
        </p:spPr>
        <p:txBody>
          <a:bodyPr wrap="square" rtlCol="0" anchor="ctr"/>
          <a:lstStyle/>
          <a:p>
            <a:pPr indent="0" marL="0">
              <a:buNone/>
            </a:pPr>
            <a:r>
              <a:rPr lang="en-US" sz="1050" b="1" spc="150" kern="0" dirty="0">
                <a:solidFill>
                  <a:srgbClr val="1F8A5F"/>
                </a:solidFill>
                <a:latin typeface="Calibri" pitchFamily="34" charset="0"/>
                <a:ea typeface="Calibri" pitchFamily="34" charset="-122"/>
                <a:cs typeface="Calibri" pitchFamily="34" charset="-120"/>
              </a:rPr>
              <a:t>LIVE EVIDENCE — FL MONITOR</a:t>
            </a:r>
            <a:endParaRPr lang="en-US" sz="1050" dirty="0"/>
          </a:p>
        </p:txBody>
      </p:sp>
      <p:pic>
        <p:nvPicPr>
          <p:cNvPr id="24" name="Image 0" descr="assets/fl_kpi_cards.png">    </p:cNvPr>
          <p:cNvPicPr>
            <a:picLocks noChangeAspect="1"/>
          </p:cNvPicPr>
          <p:nvPr/>
        </p:nvPicPr>
        <p:blipFill>
          <a:blip r:embed="rId1"/>
          <a:stretch>
            <a:fillRect/>
          </a:stretch>
        </p:blipFill>
        <p:spPr>
          <a:xfrm>
            <a:off x="5532120" y="1874520"/>
            <a:ext cx="5760720" cy="906137"/>
          </a:xfrm>
          <a:prstGeom prst="rect">
            <a:avLst/>
          </a:prstGeom>
        </p:spPr>
      </p:pic>
      <p:pic>
        <p:nvPicPr>
          <p:cNvPr id="25" name="Image 1" descr="assets/fl_workflow.png">    </p:cNvPr>
          <p:cNvPicPr>
            <a:picLocks noChangeAspect="1"/>
          </p:cNvPicPr>
          <p:nvPr/>
        </p:nvPicPr>
        <p:blipFill>
          <a:blip r:embed="rId2"/>
          <a:stretch>
            <a:fillRect/>
          </a:stretch>
        </p:blipFill>
        <p:spPr>
          <a:xfrm>
            <a:off x="5806440" y="2834640"/>
            <a:ext cx="5212080" cy="2288041"/>
          </a:xfrm>
          <a:prstGeom prst="rect">
            <a:avLst/>
          </a:prstGeom>
        </p:spPr>
      </p:pic>
      <p:sp>
        <p:nvSpPr>
          <p:cNvPr id="26" name="Text 22"/>
          <p:cNvSpPr/>
          <p:nvPr/>
        </p:nvSpPr>
        <p:spPr>
          <a:xfrm>
            <a:off x="5532120" y="5250697"/>
            <a:ext cx="5760720" cy="502920"/>
          </a:xfrm>
          <a:prstGeom prst="rect">
            <a:avLst/>
          </a:prstGeom>
          <a:noFill/>
          <a:ln/>
        </p:spPr>
        <p:txBody>
          <a:bodyPr wrap="square" rtlCol="0" anchor="ctr"/>
          <a:lstStyle/>
          <a:p>
            <a:pPr indent="0" marL="0">
              <a:lnSpc>
                <a:spcPct val="115000"/>
              </a:lnSpc>
              <a:buNone/>
            </a:pPr>
            <a:r>
              <a:rPr lang="en-US" sz="1100" dirty="0">
                <a:solidFill>
                  <a:srgbClr val="12241D"/>
                </a:solidFill>
                <a:latin typeface="Calibri" pitchFamily="34" charset="0"/>
                <a:ea typeface="Calibri" pitchFamily="34" charset="-122"/>
                <a:cs typeface="Calibri" pitchFamily="34" charset="-120"/>
              </a:rPr>
              <a:t>Raw chest X-ray images stay at the local hospital node — only model updates are exchanged.</a:t>
            </a:r>
            <a:endParaRPr lang="en-US" sz="1100" dirty="0"/>
          </a:p>
        </p:txBody>
      </p:sp>
      <p:sp>
        <p:nvSpPr>
          <p:cNvPr id="27" name="Shape 23"/>
          <p:cNvSpPr/>
          <p:nvPr/>
        </p:nvSpPr>
        <p:spPr>
          <a:xfrm>
            <a:off x="640080" y="5989320"/>
            <a:ext cx="10927080" cy="594360"/>
          </a:xfrm>
          <a:prstGeom prst="roundRect">
            <a:avLst>
              <a:gd name="adj" fmla="val 12308"/>
            </a:avLst>
          </a:prstGeom>
          <a:solidFill>
            <a:srgbClr val="0B3A2C"/>
          </a:solidFill>
          <a:ln/>
        </p:spPr>
      </p:sp>
      <p:sp>
        <p:nvSpPr>
          <p:cNvPr id="28" name="Text 24"/>
          <p:cNvSpPr/>
          <p:nvPr/>
        </p:nvSpPr>
        <p:spPr>
          <a:xfrm>
            <a:off x="640080" y="5989320"/>
            <a:ext cx="10927080" cy="594360"/>
          </a:xfrm>
          <a:prstGeom prst="rect">
            <a:avLst/>
          </a:prstGeom>
          <a:noFill/>
          <a:ln/>
        </p:spPr>
        <p:txBody>
          <a:bodyPr wrap="square" rtlCol="0" anchor="ctr"/>
          <a:lstStyle/>
          <a:p>
            <a:pPr algn="ctr" indent="0" marL="0">
              <a:buNone/>
            </a:pPr>
            <a:r>
              <a:rPr lang="en-US" sz="1550" i="1" dirty="0">
                <a:solidFill>
                  <a:srgbClr val="FFFFFF"/>
                </a:solidFill>
                <a:latin typeface="Cambria" pitchFamily="34" charset="0"/>
                <a:ea typeface="Cambria" pitchFamily="34" charset="-122"/>
                <a:cs typeface="Cambria" pitchFamily="34" charset="-120"/>
              </a:rPr>
              <a:t>“Train locally. Aggregate model updates. Build one shared model.”</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640080" y="365760"/>
            <a:ext cx="10972800" cy="640080"/>
          </a:xfrm>
          <a:prstGeom prst="rect">
            <a:avLst/>
          </a:prstGeom>
          <a:noFill/>
          <a:ln/>
        </p:spPr>
        <p:txBody>
          <a:bodyPr wrap="square" rtlCol="0" anchor="ctr"/>
          <a:lstStyle/>
          <a:p>
            <a:pPr indent="0" marL="0">
              <a:buNone/>
            </a:pPr>
            <a:r>
              <a:rPr lang="en-US" sz="2700" b="1" dirty="0">
                <a:solidFill>
                  <a:srgbClr val="12241D"/>
                </a:solidFill>
                <a:latin typeface="Cambria" pitchFamily="34" charset="0"/>
                <a:ea typeface="Cambria" pitchFamily="34" charset="-122"/>
                <a:cs typeface="Cambria" pitchFamily="34" charset="-120"/>
              </a:rPr>
              <a:t>From Chest X-ray to Explainable Prediction</a:t>
            </a:r>
            <a:endParaRPr lang="en-US" sz="2700" dirty="0"/>
          </a:p>
        </p:txBody>
      </p:sp>
      <p:sp>
        <p:nvSpPr>
          <p:cNvPr id="3" name="Shape 1"/>
          <p:cNvSpPr/>
          <p:nvPr/>
        </p:nvSpPr>
        <p:spPr>
          <a:xfrm>
            <a:off x="640080" y="1371600"/>
            <a:ext cx="1139571" cy="868680"/>
          </a:xfrm>
          <a:prstGeom prst="roundRect">
            <a:avLst>
              <a:gd name="adj" fmla="val 8421"/>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4" name="Text 2"/>
          <p:cNvSpPr/>
          <p:nvPr/>
        </p:nvSpPr>
        <p:spPr>
          <a:xfrm>
            <a:off x="685800" y="1371600"/>
            <a:ext cx="1048131" cy="868680"/>
          </a:xfrm>
          <a:prstGeom prst="rect">
            <a:avLst/>
          </a:prstGeom>
          <a:noFill/>
          <a:ln/>
        </p:spPr>
        <p:txBody>
          <a:bodyPr wrap="square" rtlCol="0" anchor="ctr"/>
          <a:lstStyle/>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Chest</a:t>
            </a:r>
            <a:endParaRPr lang="en-US" sz="1050" dirty="0"/>
          </a:p>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X-ray</a:t>
            </a:r>
            <a:endParaRPr lang="en-US" sz="1050" dirty="0"/>
          </a:p>
        </p:txBody>
      </p:sp>
      <p:sp>
        <p:nvSpPr>
          <p:cNvPr id="5" name="Text 3"/>
          <p:cNvSpPr/>
          <p:nvPr/>
        </p:nvSpPr>
        <p:spPr>
          <a:xfrm>
            <a:off x="1779651" y="1371600"/>
            <a:ext cx="256032" cy="868680"/>
          </a:xfrm>
          <a:prstGeom prst="rect">
            <a:avLst/>
          </a:prstGeom>
          <a:noFill/>
          <a:ln/>
        </p:spPr>
        <p:txBody>
          <a:bodyPr wrap="square" rtlCol="0" anchor="ctr"/>
          <a:lstStyle/>
          <a:p>
            <a:pPr algn="ctr" indent="0" marL="0">
              <a:buNone/>
            </a:pPr>
            <a:r>
              <a:rPr lang="en-US" sz="1400" b="1" dirty="0">
                <a:solidFill>
                  <a:srgbClr val="1F8A5F"/>
                </a:solidFill>
              </a:rPr>
              <a:t>→</a:t>
            </a:r>
            <a:endParaRPr lang="en-US" sz="1400" dirty="0"/>
          </a:p>
        </p:txBody>
      </p:sp>
      <p:sp>
        <p:nvSpPr>
          <p:cNvPr id="6" name="Shape 4"/>
          <p:cNvSpPr/>
          <p:nvPr/>
        </p:nvSpPr>
        <p:spPr>
          <a:xfrm>
            <a:off x="2035683" y="1371600"/>
            <a:ext cx="1139571" cy="868680"/>
          </a:xfrm>
          <a:prstGeom prst="roundRect">
            <a:avLst>
              <a:gd name="adj" fmla="val 8421"/>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7" name="Text 5"/>
          <p:cNvSpPr/>
          <p:nvPr/>
        </p:nvSpPr>
        <p:spPr>
          <a:xfrm>
            <a:off x="2081403" y="1371600"/>
            <a:ext cx="1048131" cy="868680"/>
          </a:xfrm>
          <a:prstGeom prst="rect">
            <a:avLst/>
          </a:prstGeom>
          <a:noFill/>
          <a:ln/>
        </p:spPr>
        <p:txBody>
          <a:bodyPr wrap="square" rtlCol="0" anchor="ctr"/>
          <a:lstStyle/>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Pre-</a:t>
            </a:r>
            <a:endParaRPr lang="en-US" sz="1050" dirty="0"/>
          </a:p>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processing</a:t>
            </a:r>
            <a:endParaRPr lang="en-US" sz="1050" dirty="0"/>
          </a:p>
        </p:txBody>
      </p:sp>
      <p:sp>
        <p:nvSpPr>
          <p:cNvPr id="8" name="Text 6"/>
          <p:cNvSpPr/>
          <p:nvPr/>
        </p:nvSpPr>
        <p:spPr>
          <a:xfrm>
            <a:off x="3175254" y="1371600"/>
            <a:ext cx="256032" cy="868680"/>
          </a:xfrm>
          <a:prstGeom prst="rect">
            <a:avLst/>
          </a:prstGeom>
          <a:noFill/>
          <a:ln/>
        </p:spPr>
        <p:txBody>
          <a:bodyPr wrap="square" rtlCol="0" anchor="ctr"/>
          <a:lstStyle/>
          <a:p>
            <a:pPr algn="ctr" indent="0" marL="0">
              <a:buNone/>
            </a:pPr>
            <a:r>
              <a:rPr lang="en-US" sz="1400" b="1" dirty="0">
                <a:solidFill>
                  <a:srgbClr val="1F8A5F"/>
                </a:solidFill>
              </a:rPr>
              <a:t>→</a:t>
            </a:r>
            <a:endParaRPr lang="en-US" sz="1400" dirty="0"/>
          </a:p>
        </p:txBody>
      </p:sp>
      <p:sp>
        <p:nvSpPr>
          <p:cNvPr id="9" name="Shape 7"/>
          <p:cNvSpPr/>
          <p:nvPr/>
        </p:nvSpPr>
        <p:spPr>
          <a:xfrm>
            <a:off x="3431286" y="1371600"/>
            <a:ext cx="1139571" cy="868680"/>
          </a:xfrm>
          <a:prstGeom prst="roundRect">
            <a:avLst>
              <a:gd name="adj" fmla="val 8421"/>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10" name="Text 8"/>
          <p:cNvSpPr/>
          <p:nvPr/>
        </p:nvSpPr>
        <p:spPr>
          <a:xfrm>
            <a:off x="3477006" y="1371600"/>
            <a:ext cx="1048131" cy="868680"/>
          </a:xfrm>
          <a:prstGeom prst="rect">
            <a:avLst/>
          </a:prstGeom>
          <a:noFill/>
          <a:ln/>
        </p:spPr>
        <p:txBody>
          <a:bodyPr wrap="square" rtlCol="0" anchor="ctr"/>
          <a:lstStyle/>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CNN / Transfer</a:t>
            </a:r>
            <a:endParaRPr lang="en-US" sz="1050" dirty="0"/>
          </a:p>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Learning</a:t>
            </a:r>
            <a:endParaRPr lang="en-US" sz="1050" dirty="0"/>
          </a:p>
        </p:txBody>
      </p:sp>
      <p:sp>
        <p:nvSpPr>
          <p:cNvPr id="11" name="Text 9"/>
          <p:cNvSpPr/>
          <p:nvPr/>
        </p:nvSpPr>
        <p:spPr>
          <a:xfrm>
            <a:off x="4570857" y="1371600"/>
            <a:ext cx="256032" cy="868680"/>
          </a:xfrm>
          <a:prstGeom prst="rect">
            <a:avLst/>
          </a:prstGeom>
          <a:noFill/>
          <a:ln/>
        </p:spPr>
        <p:txBody>
          <a:bodyPr wrap="square" rtlCol="0" anchor="ctr"/>
          <a:lstStyle/>
          <a:p>
            <a:pPr algn="ctr" indent="0" marL="0">
              <a:buNone/>
            </a:pPr>
            <a:r>
              <a:rPr lang="en-US" sz="1400" b="1" dirty="0">
                <a:solidFill>
                  <a:srgbClr val="1F8A5F"/>
                </a:solidFill>
              </a:rPr>
              <a:t>→</a:t>
            </a:r>
            <a:endParaRPr lang="en-US" sz="1400" dirty="0"/>
          </a:p>
        </p:txBody>
      </p:sp>
      <p:sp>
        <p:nvSpPr>
          <p:cNvPr id="12" name="Shape 10"/>
          <p:cNvSpPr/>
          <p:nvPr/>
        </p:nvSpPr>
        <p:spPr>
          <a:xfrm>
            <a:off x="4826889" y="1371600"/>
            <a:ext cx="1139571" cy="868680"/>
          </a:xfrm>
          <a:prstGeom prst="roundRect">
            <a:avLst>
              <a:gd name="adj" fmla="val 8421"/>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13" name="Text 11"/>
          <p:cNvSpPr/>
          <p:nvPr/>
        </p:nvSpPr>
        <p:spPr>
          <a:xfrm>
            <a:off x="4872609" y="1371600"/>
            <a:ext cx="1048131" cy="868680"/>
          </a:xfrm>
          <a:prstGeom prst="rect">
            <a:avLst/>
          </a:prstGeom>
          <a:noFill/>
          <a:ln/>
        </p:spPr>
        <p:txBody>
          <a:bodyPr wrap="square" rtlCol="0" anchor="ctr"/>
          <a:lstStyle/>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Local Model</a:t>
            </a:r>
            <a:endParaRPr lang="en-US" sz="1050" dirty="0"/>
          </a:p>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Training</a:t>
            </a:r>
            <a:endParaRPr lang="en-US" sz="1050" dirty="0"/>
          </a:p>
        </p:txBody>
      </p:sp>
      <p:sp>
        <p:nvSpPr>
          <p:cNvPr id="14" name="Text 12"/>
          <p:cNvSpPr/>
          <p:nvPr/>
        </p:nvSpPr>
        <p:spPr>
          <a:xfrm>
            <a:off x="5966460" y="1371600"/>
            <a:ext cx="256032" cy="868680"/>
          </a:xfrm>
          <a:prstGeom prst="rect">
            <a:avLst/>
          </a:prstGeom>
          <a:noFill/>
          <a:ln/>
        </p:spPr>
        <p:txBody>
          <a:bodyPr wrap="square" rtlCol="0" anchor="ctr"/>
          <a:lstStyle/>
          <a:p>
            <a:pPr algn="ctr" indent="0" marL="0">
              <a:buNone/>
            </a:pPr>
            <a:r>
              <a:rPr lang="en-US" sz="1400" b="1" dirty="0">
                <a:solidFill>
                  <a:srgbClr val="1F8A5F"/>
                </a:solidFill>
              </a:rPr>
              <a:t>→</a:t>
            </a:r>
            <a:endParaRPr lang="en-US" sz="1400" dirty="0"/>
          </a:p>
        </p:txBody>
      </p:sp>
      <p:sp>
        <p:nvSpPr>
          <p:cNvPr id="15" name="Shape 13"/>
          <p:cNvSpPr/>
          <p:nvPr/>
        </p:nvSpPr>
        <p:spPr>
          <a:xfrm>
            <a:off x="6222492" y="1371600"/>
            <a:ext cx="1139571" cy="868680"/>
          </a:xfrm>
          <a:prstGeom prst="roundRect">
            <a:avLst>
              <a:gd name="adj" fmla="val 8421"/>
            </a:avLst>
          </a:prstGeom>
          <a:solidFill>
            <a:srgbClr val="0B3A2C"/>
          </a:solidFill>
          <a:ln w="12700">
            <a:solidFill>
              <a:srgbClr val="0B3A2C"/>
            </a:solidFill>
            <a:prstDash val="solid"/>
          </a:ln>
          <a:effectLst>
            <a:outerShdw sx="100000" sy="100000" kx="0" ky="0" algn="bl" rotWithShape="0" blurRad="76200" dist="25400" dir="5400000">
              <a:srgbClr val="1B2E26">
                <a:alpha val="10000"/>
              </a:srgbClr>
            </a:outerShdw>
          </a:effectLst>
        </p:spPr>
      </p:sp>
      <p:sp>
        <p:nvSpPr>
          <p:cNvPr id="16" name="Text 14"/>
          <p:cNvSpPr/>
          <p:nvPr/>
        </p:nvSpPr>
        <p:spPr>
          <a:xfrm>
            <a:off x="6268212" y="1371600"/>
            <a:ext cx="1048131" cy="86868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FedAvg</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Aggregation</a:t>
            </a:r>
            <a:endParaRPr lang="en-US" sz="1050" dirty="0"/>
          </a:p>
        </p:txBody>
      </p:sp>
      <p:sp>
        <p:nvSpPr>
          <p:cNvPr id="17" name="Text 15"/>
          <p:cNvSpPr/>
          <p:nvPr/>
        </p:nvSpPr>
        <p:spPr>
          <a:xfrm>
            <a:off x="7362063" y="1371600"/>
            <a:ext cx="256032" cy="868680"/>
          </a:xfrm>
          <a:prstGeom prst="rect">
            <a:avLst/>
          </a:prstGeom>
          <a:noFill/>
          <a:ln/>
        </p:spPr>
        <p:txBody>
          <a:bodyPr wrap="square" rtlCol="0" anchor="ctr"/>
          <a:lstStyle/>
          <a:p>
            <a:pPr algn="ctr" indent="0" marL="0">
              <a:buNone/>
            </a:pPr>
            <a:r>
              <a:rPr lang="en-US" sz="1400" b="1" dirty="0">
                <a:solidFill>
                  <a:srgbClr val="1F8A5F"/>
                </a:solidFill>
              </a:rPr>
              <a:t>→</a:t>
            </a:r>
            <a:endParaRPr lang="en-US" sz="1400" dirty="0"/>
          </a:p>
        </p:txBody>
      </p:sp>
      <p:sp>
        <p:nvSpPr>
          <p:cNvPr id="18" name="Shape 16"/>
          <p:cNvSpPr/>
          <p:nvPr/>
        </p:nvSpPr>
        <p:spPr>
          <a:xfrm>
            <a:off x="7618095" y="1371600"/>
            <a:ext cx="1139571" cy="868680"/>
          </a:xfrm>
          <a:prstGeom prst="roundRect">
            <a:avLst>
              <a:gd name="adj" fmla="val 8421"/>
            </a:avLst>
          </a:prstGeom>
          <a:solidFill>
            <a:srgbClr val="0B3A2C"/>
          </a:solidFill>
          <a:ln w="12700">
            <a:solidFill>
              <a:srgbClr val="0B3A2C"/>
            </a:solidFill>
            <a:prstDash val="solid"/>
          </a:ln>
          <a:effectLst>
            <a:outerShdw sx="100000" sy="100000" kx="0" ky="0" algn="bl" rotWithShape="0" blurRad="76200" dist="25400" dir="5400000">
              <a:srgbClr val="1B2E26">
                <a:alpha val="10000"/>
              </a:srgbClr>
            </a:outerShdw>
          </a:effectLst>
        </p:spPr>
      </p:sp>
      <p:sp>
        <p:nvSpPr>
          <p:cNvPr id="19" name="Text 17"/>
          <p:cNvSpPr/>
          <p:nvPr/>
        </p:nvSpPr>
        <p:spPr>
          <a:xfrm>
            <a:off x="7663815" y="1371600"/>
            <a:ext cx="1048131" cy="86868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Global</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20" name="Text 18"/>
          <p:cNvSpPr/>
          <p:nvPr/>
        </p:nvSpPr>
        <p:spPr>
          <a:xfrm>
            <a:off x="8757666" y="1371600"/>
            <a:ext cx="256032" cy="868680"/>
          </a:xfrm>
          <a:prstGeom prst="rect">
            <a:avLst/>
          </a:prstGeom>
          <a:noFill/>
          <a:ln/>
        </p:spPr>
        <p:txBody>
          <a:bodyPr wrap="square" rtlCol="0" anchor="ctr"/>
          <a:lstStyle/>
          <a:p>
            <a:pPr algn="ctr" indent="0" marL="0">
              <a:buNone/>
            </a:pPr>
            <a:r>
              <a:rPr lang="en-US" sz="1400" b="1" dirty="0">
                <a:solidFill>
                  <a:srgbClr val="1F8A5F"/>
                </a:solidFill>
              </a:rPr>
              <a:t>→</a:t>
            </a:r>
            <a:endParaRPr lang="en-US" sz="1400" dirty="0"/>
          </a:p>
        </p:txBody>
      </p:sp>
      <p:sp>
        <p:nvSpPr>
          <p:cNvPr id="21" name="Shape 19"/>
          <p:cNvSpPr/>
          <p:nvPr/>
        </p:nvSpPr>
        <p:spPr>
          <a:xfrm>
            <a:off x="9013698" y="1371600"/>
            <a:ext cx="1139571" cy="868680"/>
          </a:xfrm>
          <a:prstGeom prst="roundRect">
            <a:avLst>
              <a:gd name="adj" fmla="val 8421"/>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22" name="Text 20"/>
          <p:cNvSpPr/>
          <p:nvPr/>
        </p:nvSpPr>
        <p:spPr>
          <a:xfrm>
            <a:off x="9059418" y="1371600"/>
            <a:ext cx="1048131" cy="868680"/>
          </a:xfrm>
          <a:prstGeom prst="rect">
            <a:avLst/>
          </a:prstGeom>
          <a:noFill/>
          <a:ln/>
        </p:spPr>
        <p:txBody>
          <a:bodyPr wrap="square" rtlCol="0" anchor="ctr"/>
          <a:lstStyle/>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Disease</a:t>
            </a:r>
            <a:endParaRPr lang="en-US" sz="1050" dirty="0"/>
          </a:p>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Prediction</a:t>
            </a:r>
            <a:endParaRPr lang="en-US" sz="1050" dirty="0"/>
          </a:p>
        </p:txBody>
      </p:sp>
      <p:sp>
        <p:nvSpPr>
          <p:cNvPr id="23" name="Text 21"/>
          <p:cNvSpPr/>
          <p:nvPr/>
        </p:nvSpPr>
        <p:spPr>
          <a:xfrm>
            <a:off x="10153269" y="1371600"/>
            <a:ext cx="256032" cy="868680"/>
          </a:xfrm>
          <a:prstGeom prst="rect">
            <a:avLst/>
          </a:prstGeom>
          <a:noFill/>
          <a:ln/>
        </p:spPr>
        <p:txBody>
          <a:bodyPr wrap="square" rtlCol="0" anchor="ctr"/>
          <a:lstStyle/>
          <a:p>
            <a:pPr algn="ctr" indent="0" marL="0">
              <a:buNone/>
            </a:pPr>
            <a:r>
              <a:rPr lang="en-US" sz="1400" b="1" dirty="0">
                <a:solidFill>
                  <a:srgbClr val="1F8A5F"/>
                </a:solidFill>
              </a:rPr>
              <a:t>→</a:t>
            </a:r>
            <a:endParaRPr lang="en-US" sz="1400" dirty="0"/>
          </a:p>
        </p:txBody>
      </p:sp>
      <p:sp>
        <p:nvSpPr>
          <p:cNvPr id="24" name="Shape 22"/>
          <p:cNvSpPr/>
          <p:nvPr/>
        </p:nvSpPr>
        <p:spPr>
          <a:xfrm>
            <a:off x="10409301" y="1371600"/>
            <a:ext cx="1139571" cy="868680"/>
          </a:xfrm>
          <a:prstGeom prst="roundRect">
            <a:avLst>
              <a:gd name="adj" fmla="val 8421"/>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25" name="Text 23"/>
          <p:cNvSpPr/>
          <p:nvPr/>
        </p:nvSpPr>
        <p:spPr>
          <a:xfrm>
            <a:off x="10455021" y="1371600"/>
            <a:ext cx="1048131" cy="868680"/>
          </a:xfrm>
          <a:prstGeom prst="rect">
            <a:avLst/>
          </a:prstGeom>
          <a:noFill/>
          <a:ln/>
        </p:spPr>
        <p:txBody>
          <a:bodyPr wrap="square" rtlCol="0" anchor="ctr"/>
          <a:lstStyle/>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Grad-CAM</a:t>
            </a:r>
            <a:endParaRPr lang="en-US" sz="1050" dirty="0"/>
          </a:p>
          <a:p>
            <a:pPr algn="ctr" indent="0" marL="0">
              <a:lnSpc>
                <a:spcPct val="105000"/>
              </a:lnSpc>
              <a:buNone/>
            </a:pPr>
            <a:r>
              <a:rPr lang="en-US" sz="1050" b="1" dirty="0">
                <a:solidFill>
                  <a:srgbClr val="12241D"/>
                </a:solidFill>
                <a:latin typeface="Calibri" pitchFamily="34" charset="0"/>
                <a:ea typeface="Calibri" pitchFamily="34" charset="-122"/>
                <a:cs typeface="Calibri" pitchFamily="34" charset="-120"/>
              </a:rPr>
              <a:t>Explainability</a:t>
            </a:r>
            <a:endParaRPr lang="en-US" sz="1050" dirty="0"/>
          </a:p>
        </p:txBody>
      </p:sp>
      <p:sp>
        <p:nvSpPr>
          <p:cNvPr id="26" name="Text 24"/>
          <p:cNvSpPr/>
          <p:nvPr/>
        </p:nvSpPr>
        <p:spPr>
          <a:xfrm>
            <a:off x="640080" y="2395728"/>
            <a:ext cx="10881360" cy="365760"/>
          </a:xfrm>
          <a:prstGeom prst="rect">
            <a:avLst/>
          </a:prstGeom>
          <a:noFill/>
          <a:ln/>
        </p:spPr>
        <p:txBody>
          <a:bodyPr wrap="square" rtlCol="0" anchor="ctr"/>
          <a:lstStyle/>
          <a:p>
            <a:pPr indent="0" marL="0">
              <a:buNone/>
            </a:pPr>
            <a:r>
              <a:rPr lang="en-US" sz="1250" i="1" dirty="0">
                <a:solidFill>
                  <a:srgbClr val="5B6E64"/>
                </a:solidFill>
                <a:latin typeface="Calibri" pitchFamily="34" charset="0"/>
                <a:ea typeface="Calibri" pitchFamily="34" charset="-122"/>
                <a:cs typeface="Calibri" pitchFamily="34" charset="-120"/>
              </a:rPr>
              <a:t>Every hospital node trains locally on its own chest X-ray images; only model weights travel to the aggregator.</a:t>
            </a:r>
            <a:endParaRPr lang="en-US" sz="1250" dirty="0"/>
          </a:p>
        </p:txBody>
      </p:sp>
      <p:sp>
        <p:nvSpPr>
          <p:cNvPr id="27" name="Text 25"/>
          <p:cNvSpPr/>
          <p:nvPr/>
        </p:nvSpPr>
        <p:spPr>
          <a:xfrm>
            <a:off x="640080" y="2971800"/>
            <a:ext cx="7315200" cy="274320"/>
          </a:xfrm>
          <a:prstGeom prst="rect">
            <a:avLst/>
          </a:prstGeom>
          <a:noFill/>
          <a:ln/>
        </p:spPr>
        <p:txBody>
          <a:bodyPr wrap="square" rtlCol="0" anchor="ctr"/>
          <a:lstStyle/>
          <a:p>
            <a:pPr indent="0" marL="0">
              <a:buNone/>
            </a:pPr>
            <a:r>
              <a:rPr lang="en-US" sz="1100" b="1" spc="150" kern="0" dirty="0">
                <a:solidFill>
                  <a:srgbClr val="1F8A5F"/>
                </a:solidFill>
                <a:latin typeface="Calibri" pitchFamily="34" charset="0"/>
                <a:ea typeface="Calibri" pitchFamily="34" charset="-122"/>
                <a:cs typeface="Calibri" pitchFamily="34" charset="-120"/>
              </a:rPr>
              <a:t>DATASET USED FOR FEDERATED TRAINING</a:t>
            </a:r>
            <a:endParaRPr lang="en-US" sz="1100" dirty="0"/>
          </a:p>
        </p:txBody>
      </p:sp>
      <p:sp>
        <p:nvSpPr>
          <p:cNvPr id="28" name="Shape 26"/>
          <p:cNvSpPr/>
          <p:nvPr/>
        </p:nvSpPr>
        <p:spPr>
          <a:xfrm>
            <a:off x="640080" y="3337560"/>
            <a:ext cx="1700784" cy="1051560"/>
          </a:xfrm>
          <a:prstGeom prst="roundRect">
            <a:avLst>
              <a:gd name="adj" fmla="val 7826"/>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29" name="Text 27"/>
          <p:cNvSpPr/>
          <p:nvPr/>
        </p:nvSpPr>
        <p:spPr>
          <a:xfrm>
            <a:off x="777240" y="3465576"/>
            <a:ext cx="1426464" cy="502920"/>
          </a:xfrm>
          <a:prstGeom prst="rect">
            <a:avLst/>
          </a:prstGeom>
          <a:noFill/>
          <a:ln/>
        </p:spPr>
        <p:txBody>
          <a:bodyPr wrap="square" rtlCol="0" anchor="ctr"/>
          <a:lstStyle/>
          <a:p>
            <a:pPr indent="0" marL="0">
              <a:buNone/>
            </a:pPr>
            <a:r>
              <a:rPr lang="en-US" sz="2600" b="1" dirty="0">
                <a:solidFill>
                  <a:srgbClr val="12241D"/>
                </a:solidFill>
                <a:latin typeface="Cambria" pitchFamily="34" charset="0"/>
                <a:ea typeface="Cambria" pitchFamily="34" charset="-122"/>
                <a:cs typeface="Cambria" pitchFamily="34" charset="-120"/>
              </a:rPr>
              <a:t>5,606</a:t>
            </a:r>
            <a:endParaRPr lang="en-US" sz="2600" dirty="0"/>
          </a:p>
        </p:txBody>
      </p:sp>
      <p:sp>
        <p:nvSpPr>
          <p:cNvPr id="30" name="Text 28"/>
          <p:cNvSpPr/>
          <p:nvPr/>
        </p:nvSpPr>
        <p:spPr>
          <a:xfrm>
            <a:off x="777240" y="3995928"/>
            <a:ext cx="1426464" cy="320040"/>
          </a:xfrm>
          <a:prstGeom prst="rect">
            <a:avLst/>
          </a:prstGeom>
          <a:noFill/>
          <a:ln/>
        </p:spPr>
        <p:txBody>
          <a:bodyPr wrap="square" rtlCol="0" anchor="ctr"/>
          <a:lstStyle/>
          <a:p>
            <a:pPr indent="0" marL="0">
              <a:buNone/>
            </a:pPr>
            <a:r>
              <a:rPr lang="en-US" sz="1050" dirty="0">
                <a:solidFill>
                  <a:srgbClr val="5B6E64"/>
                </a:solidFill>
                <a:latin typeface="Calibri" pitchFamily="34" charset="0"/>
                <a:ea typeface="Calibri" pitchFamily="34" charset="-122"/>
                <a:cs typeface="Calibri" pitchFamily="34" charset="-120"/>
              </a:rPr>
              <a:t>Total images</a:t>
            </a:r>
            <a:endParaRPr lang="en-US" sz="1050" dirty="0"/>
          </a:p>
        </p:txBody>
      </p:sp>
      <p:sp>
        <p:nvSpPr>
          <p:cNvPr id="31" name="Shape 29"/>
          <p:cNvSpPr/>
          <p:nvPr/>
        </p:nvSpPr>
        <p:spPr>
          <a:xfrm>
            <a:off x="2542032" y="3337560"/>
            <a:ext cx="1700784" cy="1051560"/>
          </a:xfrm>
          <a:prstGeom prst="roundRect">
            <a:avLst>
              <a:gd name="adj" fmla="val 7826"/>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32" name="Text 30"/>
          <p:cNvSpPr/>
          <p:nvPr/>
        </p:nvSpPr>
        <p:spPr>
          <a:xfrm>
            <a:off x="2679192" y="3465576"/>
            <a:ext cx="1426464" cy="502920"/>
          </a:xfrm>
          <a:prstGeom prst="rect">
            <a:avLst/>
          </a:prstGeom>
          <a:noFill/>
          <a:ln/>
        </p:spPr>
        <p:txBody>
          <a:bodyPr wrap="square" rtlCol="0" anchor="ctr"/>
          <a:lstStyle/>
          <a:p>
            <a:pPr indent="0" marL="0">
              <a:buNone/>
            </a:pPr>
            <a:r>
              <a:rPr lang="en-US" sz="2600" b="1" dirty="0">
                <a:solidFill>
                  <a:srgbClr val="12241D"/>
                </a:solidFill>
                <a:latin typeface="Cambria" pitchFamily="34" charset="0"/>
                <a:ea typeface="Cambria" pitchFamily="34" charset="-122"/>
                <a:cs typeface="Cambria" pitchFamily="34" charset="-120"/>
              </a:rPr>
              <a:t>4,030</a:t>
            </a:r>
            <a:endParaRPr lang="en-US" sz="2600" dirty="0"/>
          </a:p>
        </p:txBody>
      </p:sp>
      <p:sp>
        <p:nvSpPr>
          <p:cNvPr id="33" name="Text 31"/>
          <p:cNvSpPr/>
          <p:nvPr/>
        </p:nvSpPr>
        <p:spPr>
          <a:xfrm>
            <a:off x="2679192" y="3995928"/>
            <a:ext cx="1426464" cy="320040"/>
          </a:xfrm>
          <a:prstGeom prst="rect">
            <a:avLst/>
          </a:prstGeom>
          <a:noFill/>
          <a:ln/>
        </p:spPr>
        <p:txBody>
          <a:bodyPr wrap="square" rtlCol="0" anchor="ctr"/>
          <a:lstStyle/>
          <a:p>
            <a:pPr indent="0" marL="0">
              <a:buNone/>
            </a:pPr>
            <a:r>
              <a:rPr lang="en-US" sz="1050" dirty="0">
                <a:solidFill>
                  <a:srgbClr val="5B6E64"/>
                </a:solidFill>
                <a:latin typeface="Calibri" pitchFamily="34" charset="0"/>
                <a:ea typeface="Calibri" pitchFamily="34" charset="-122"/>
                <a:cs typeface="Calibri" pitchFamily="34" charset="-120"/>
              </a:rPr>
              <a:t>Training images</a:t>
            </a:r>
            <a:endParaRPr lang="en-US" sz="1050" dirty="0"/>
          </a:p>
        </p:txBody>
      </p:sp>
      <p:sp>
        <p:nvSpPr>
          <p:cNvPr id="34" name="Shape 32"/>
          <p:cNvSpPr/>
          <p:nvPr/>
        </p:nvSpPr>
        <p:spPr>
          <a:xfrm>
            <a:off x="4443984" y="3337560"/>
            <a:ext cx="1700784" cy="1051560"/>
          </a:xfrm>
          <a:prstGeom prst="roundRect">
            <a:avLst>
              <a:gd name="adj" fmla="val 7826"/>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35" name="Text 33"/>
          <p:cNvSpPr/>
          <p:nvPr/>
        </p:nvSpPr>
        <p:spPr>
          <a:xfrm>
            <a:off x="4581144" y="3465576"/>
            <a:ext cx="1426464" cy="502920"/>
          </a:xfrm>
          <a:prstGeom prst="rect">
            <a:avLst/>
          </a:prstGeom>
          <a:noFill/>
          <a:ln/>
        </p:spPr>
        <p:txBody>
          <a:bodyPr wrap="square" rtlCol="0" anchor="ctr"/>
          <a:lstStyle/>
          <a:p>
            <a:pPr indent="0" marL="0">
              <a:buNone/>
            </a:pPr>
            <a:r>
              <a:rPr lang="en-US" sz="2600" b="1" dirty="0">
                <a:solidFill>
                  <a:srgbClr val="12241D"/>
                </a:solidFill>
                <a:latin typeface="Cambria" pitchFamily="34" charset="0"/>
                <a:ea typeface="Cambria" pitchFamily="34" charset="-122"/>
                <a:cs typeface="Cambria" pitchFamily="34" charset="-120"/>
              </a:rPr>
              <a:t>806</a:t>
            </a:r>
            <a:endParaRPr lang="en-US" sz="2600" dirty="0"/>
          </a:p>
        </p:txBody>
      </p:sp>
      <p:sp>
        <p:nvSpPr>
          <p:cNvPr id="36" name="Text 34"/>
          <p:cNvSpPr/>
          <p:nvPr/>
        </p:nvSpPr>
        <p:spPr>
          <a:xfrm>
            <a:off x="4581144" y="3995928"/>
            <a:ext cx="1426464" cy="320040"/>
          </a:xfrm>
          <a:prstGeom prst="rect">
            <a:avLst/>
          </a:prstGeom>
          <a:noFill/>
          <a:ln/>
        </p:spPr>
        <p:txBody>
          <a:bodyPr wrap="square" rtlCol="0" anchor="ctr"/>
          <a:lstStyle/>
          <a:p>
            <a:pPr indent="0" marL="0">
              <a:buNone/>
            </a:pPr>
            <a:r>
              <a:rPr lang="en-US" sz="1050" dirty="0">
                <a:solidFill>
                  <a:srgbClr val="5B6E64"/>
                </a:solidFill>
                <a:latin typeface="Calibri" pitchFamily="34" charset="0"/>
                <a:ea typeface="Calibri" pitchFamily="34" charset="-122"/>
                <a:cs typeface="Calibri" pitchFamily="34" charset="-120"/>
              </a:rPr>
              <a:t>Validation images</a:t>
            </a:r>
            <a:endParaRPr lang="en-US" sz="1050" dirty="0"/>
          </a:p>
        </p:txBody>
      </p:sp>
      <p:sp>
        <p:nvSpPr>
          <p:cNvPr id="37" name="Shape 35"/>
          <p:cNvSpPr/>
          <p:nvPr/>
        </p:nvSpPr>
        <p:spPr>
          <a:xfrm>
            <a:off x="6345936" y="3337560"/>
            <a:ext cx="1700784" cy="1051560"/>
          </a:xfrm>
          <a:prstGeom prst="roundRect">
            <a:avLst>
              <a:gd name="adj" fmla="val 7826"/>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38" name="Text 36"/>
          <p:cNvSpPr/>
          <p:nvPr/>
        </p:nvSpPr>
        <p:spPr>
          <a:xfrm>
            <a:off x="6483096" y="3465576"/>
            <a:ext cx="1426464" cy="502920"/>
          </a:xfrm>
          <a:prstGeom prst="rect">
            <a:avLst/>
          </a:prstGeom>
          <a:noFill/>
          <a:ln/>
        </p:spPr>
        <p:txBody>
          <a:bodyPr wrap="square" rtlCol="0" anchor="ctr"/>
          <a:lstStyle/>
          <a:p>
            <a:pPr indent="0" marL="0">
              <a:buNone/>
            </a:pPr>
            <a:r>
              <a:rPr lang="en-US" sz="2600" b="1" dirty="0">
                <a:solidFill>
                  <a:srgbClr val="12241D"/>
                </a:solidFill>
                <a:latin typeface="Cambria" pitchFamily="34" charset="0"/>
                <a:ea typeface="Cambria" pitchFamily="34" charset="-122"/>
                <a:cs typeface="Cambria" pitchFamily="34" charset="-120"/>
              </a:rPr>
              <a:t>8</a:t>
            </a:r>
            <a:endParaRPr lang="en-US" sz="2600" dirty="0"/>
          </a:p>
        </p:txBody>
      </p:sp>
      <p:sp>
        <p:nvSpPr>
          <p:cNvPr id="39" name="Text 37"/>
          <p:cNvSpPr/>
          <p:nvPr/>
        </p:nvSpPr>
        <p:spPr>
          <a:xfrm>
            <a:off x="6483096" y="3995928"/>
            <a:ext cx="1426464" cy="320040"/>
          </a:xfrm>
          <a:prstGeom prst="rect">
            <a:avLst/>
          </a:prstGeom>
          <a:noFill/>
          <a:ln/>
        </p:spPr>
        <p:txBody>
          <a:bodyPr wrap="square" rtlCol="0" anchor="ctr"/>
          <a:lstStyle/>
          <a:p>
            <a:pPr indent="0" marL="0">
              <a:buNone/>
            </a:pPr>
            <a:r>
              <a:rPr lang="en-US" sz="1050" dirty="0">
                <a:solidFill>
                  <a:srgbClr val="5B6E64"/>
                </a:solidFill>
                <a:latin typeface="Calibri" pitchFamily="34" charset="0"/>
                <a:ea typeface="Calibri" pitchFamily="34" charset="-122"/>
                <a:cs typeface="Calibri" pitchFamily="34" charset="-120"/>
              </a:rPr>
              <a:t>Disease classes</a:t>
            </a:r>
            <a:endParaRPr lang="en-US" sz="1050" dirty="0"/>
          </a:p>
        </p:txBody>
      </p:sp>
      <p:sp>
        <p:nvSpPr>
          <p:cNvPr id="40" name="Shape 38"/>
          <p:cNvSpPr/>
          <p:nvPr/>
        </p:nvSpPr>
        <p:spPr>
          <a:xfrm>
            <a:off x="8138160" y="2880360"/>
            <a:ext cx="3520440" cy="3429000"/>
          </a:xfrm>
          <a:prstGeom prst="roundRect">
            <a:avLst>
              <a:gd name="adj" fmla="val 2667"/>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41" name="Text 39"/>
          <p:cNvSpPr/>
          <p:nvPr/>
        </p:nvSpPr>
        <p:spPr>
          <a:xfrm>
            <a:off x="8275320" y="3044952"/>
            <a:ext cx="3246120" cy="274320"/>
          </a:xfrm>
          <a:prstGeom prst="rect">
            <a:avLst/>
          </a:prstGeom>
          <a:noFill/>
          <a:ln/>
        </p:spPr>
        <p:txBody>
          <a:bodyPr wrap="square" rtlCol="0" anchor="ctr"/>
          <a:lstStyle/>
          <a:p>
            <a:pPr indent="0" marL="0">
              <a:buNone/>
            </a:pPr>
            <a:r>
              <a:rPr lang="en-US" sz="1000" b="1" spc="100" kern="0" dirty="0">
                <a:solidFill>
                  <a:srgbClr val="1F8A5F"/>
                </a:solidFill>
                <a:latin typeface="Calibri" pitchFamily="34" charset="0"/>
                <a:ea typeface="Calibri" pitchFamily="34" charset="-122"/>
                <a:cs typeface="Calibri" pitchFamily="34" charset="-120"/>
              </a:rPr>
              <a:t>CLASS BALANCE — 8 FINDINGS</a:t>
            </a:r>
            <a:endParaRPr lang="en-US" sz="1000" dirty="0"/>
          </a:p>
        </p:txBody>
      </p:sp>
      <p:pic>
        <p:nvPicPr>
          <p:cNvPr id="42" name="Image 0" descr="assets/ds_class_balance.png">    </p:cNvPr>
          <p:cNvPicPr>
            <a:picLocks noChangeAspect="1"/>
          </p:cNvPicPr>
          <p:nvPr/>
        </p:nvPicPr>
        <p:blipFill>
          <a:blip r:embed="rId1"/>
          <a:stretch>
            <a:fillRect/>
          </a:stretch>
        </p:blipFill>
        <p:spPr>
          <a:xfrm>
            <a:off x="8665261" y="3355848"/>
            <a:ext cx="2466238" cy="29077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640080" y="365760"/>
            <a:ext cx="10972800" cy="640080"/>
          </a:xfrm>
          <a:prstGeom prst="rect">
            <a:avLst/>
          </a:prstGeom>
          <a:noFill/>
          <a:ln/>
        </p:spPr>
        <p:txBody>
          <a:bodyPr wrap="square" rtlCol="0" anchor="ctr"/>
          <a:lstStyle/>
          <a:p>
            <a:pPr indent="0" marL="0">
              <a:buNone/>
            </a:pPr>
            <a:r>
              <a:rPr lang="en-US" sz="2700" b="1" dirty="0">
                <a:solidFill>
                  <a:srgbClr val="12241D"/>
                </a:solidFill>
                <a:latin typeface="Cambria" pitchFamily="34" charset="0"/>
                <a:ea typeface="Cambria" pitchFamily="34" charset="-122"/>
                <a:cs typeface="Cambria" pitchFamily="34" charset="-120"/>
              </a:rPr>
              <a:t>More Than a Model: A Complete AI Workflow</a:t>
            </a:r>
            <a:endParaRPr lang="en-US" sz="2700" dirty="0"/>
          </a:p>
        </p:txBody>
      </p:sp>
      <p:sp>
        <p:nvSpPr>
          <p:cNvPr id="3" name="Shape 1"/>
          <p:cNvSpPr/>
          <p:nvPr/>
        </p:nvSpPr>
        <p:spPr>
          <a:xfrm>
            <a:off x="566928" y="1161288"/>
            <a:ext cx="7141464" cy="3498152"/>
          </a:xfrm>
          <a:prstGeom prst="roundRect">
            <a:avLst>
              <a:gd name="adj" fmla="val 1568"/>
            </a:avLst>
          </a:prstGeom>
          <a:solidFill>
            <a:srgbClr val="FFFFFF"/>
          </a:solidFill>
          <a:ln w="12700">
            <a:solidFill>
              <a:srgbClr val="E1EAE5"/>
            </a:solidFill>
            <a:prstDash val="solid"/>
          </a:ln>
          <a:effectLst>
            <a:outerShdw sx="100000" sy="100000" kx="0" ky="0" algn="bl" rotWithShape="0" blurRad="177800" dist="63500" dir="5400000">
              <a:srgbClr val="1B2E26">
                <a:alpha val="18000"/>
              </a:srgbClr>
            </a:outerShdw>
          </a:effectLst>
        </p:spPr>
      </p:sp>
      <p:pic>
        <p:nvPicPr>
          <p:cNvPr id="4" name="Image 0" descr="assets/dashboard_full.png">    </p:cNvPr>
          <p:cNvPicPr>
            <a:picLocks noChangeAspect="1"/>
          </p:cNvPicPr>
          <p:nvPr/>
        </p:nvPicPr>
        <p:blipFill>
          <a:blip r:embed="rId1"/>
          <a:stretch>
            <a:fillRect/>
          </a:stretch>
        </p:blipFill>
        <p:spPr>
          <a:xfrm>
            <a:off x="640080" y="1234440"/>
            <a:ext cx="6995160" cy="3351848"/>
          </a:xfrm>
          <a:prstGeom prst="rect">
            <a:avLst/>
          </a:prstGeom>
        </p:spPr>
      </p:pic>
      <p:sp>
        <p:nvSpPr>
          <p:cNvPr id="5" name="Text 2"/>
          <p:cNvSpPr/>
          <p:nvPr/>
        </p:nvSpPr>
        <p:spPr>
          <a:xfrm>
            <a:off x="640080" y="4714304"/>
            <a:ext cx="6995160" cy="274320"/>
          </a:xfrm>
          <a:prstGeom prst="rect">
            <a:avLst/>
          </a:prstGeom>
          <a:noFill/>
          <a:ln/>
        </p:spPr>
        <p:txBody>
          <a:bodyPr wrap="square" rtlCol="0" anchor="ctr"/>
          <a:lstStyle/>
          <a:p>
            <a:pPr indent="0" marL="0">
              <a:buNone/>
            </a:pPr>
            <a:r>
              <a:rPr lang="en-US" sz="1050" b="1" spc="150" kern="0" dirty="0">
                <a:solidFill>
                  <a:srgbClr val="1F8A5F"/>
                </a:solidFill>
                <a:latin typeface="Calibri" pitchFamily="34" charset="0"/>
                <a:ea typeface="Calibri" pitchFamily="34" charset="-122"/>
                <a:cs typeface="Calibri" pitchFamily="34" charset="-120"/>
              </a:rPr>
              <a:t>DASHBOARD — CLINICAL OVERVIEW</a:t>
            </a:r>
            <a:endParaRPr lang="en-US" sz="1050" dirty="0"/>
          </a:p>
        </p:txBody>
      </p:sp>
      <p:sp>
        <p:nvSpPr>
          <p:cNvPr id="6" name="Shape 3"/>
          <p:cNvSpPr/>
          <p:nvPr/>
        </p:nvSpPr>
        <p:spPr>
          <a:xfrm>
            <a:off x="7909560" y="1234440"/>
            <a:ext cx="3657600" cy="1444752"/>
          </a:xfrm>
          <a:prstGeom prst="roundRect">
            <a:avLst>
              <a:gd name="adj" fmla="val 5063"/>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pic>
        <p:nvPicPr>
          <p:cNvPr id="7" name="Image 1" descr="assets/upload_full.png">    </p:cNvPr>
          <p:cNvPicPr>
            <a:picLocks noChangeAspect="1"/>
          </p:cNvPicPr>
          <p:nvPr/>
        </p:nvPicPr>
        <p:blipFill>
          <a:blip r:embed="rId2"/>
          <a:stretch>
            <a:fillRect/>
          </a:stretch>
        </p:blipFill>
        <p:spPr>
          <a:xfrm>
            <a:off x="8055864" y="1639157"/>
            <a:ext cx="1325880" cy="635318"/>
          </a:xfrm>
          <a:prstGeom prst="rect">
            <a:avLst/>
          </a:prstGeom>
        </p:spPr>
      </p:pic>
      <p:sp>
        <p:nvSpPr>
          <p:cNvPr id="8" name="Text 4"/>
          <p:cNvSpPr/>
          <p:nvPr/>
        </p:nvSpPr>
        <p:spPr>
          <a:xfrm>
            <a:off x="9546336" y="1344168"/>
            <a:ext cx="1883664" cy="228600"/>
          </a:xfrm>
          <a:prstGeom prst="rect">
            <a:avLst/>
          </a:prstGeom>
          <a:noFill/>
          <a:ln/>
        </p:spPr>
        <p:txBody>
          <a:bodyPr wrap="square" rtlCol="0" anchor="ctr"/>
          <a:lstStyle/>
          <a:p>
            <a:pPr indent="0" marL="0">
              <a:buNone/>
            </a:pPr>
            <a:r>
              <a:rPr lang="en-US" sz="950" b="1" spc="150" kern="0" dirty="0">
                <a:solidFill>
                  <a:srgbClr val="1F8A5F"/>
                </a:solidFill>
                <a:latin typeface="Calibri" pitchFamily="34" charset="0"/>
                <a:ea typeface="Calibri" pitchFamily="34" charset="-122"/>
                <a:cs typeface="Calibri" pitchFamily="34" charset="-120"/>
              </a:rPr>
              <a:t>PREDICT</a:t>
            </a:r>
            <a:endParaRPr lang="en-US" sz="950" dirty="0"/>
          </a:p>
        </p:txBody>
      </p:sp>
      <p:sp>
        <p:nvSpPr>
          <p:cNvPr id="9" name="Text 5"/>
          <p:cNvSpPr/>
          <p:nvPr/>
        </p:nvSpPr>
        <p:spPr>
          <a:xfrm>
            <a:off x="9546336" y="1581912"/>
            <a:ext cx="1883664" cy="36576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Upload &amp; Predict</a:t>
            </a:r>
            <a:endParaRPr lang="en-US" sz="1250" dirty="0"/>
          </a:p>
        </p:txBody>
      </p:sp>
      <p:sp>
        <p:nvSpPr>
          <p:cNvPr id="10" name="Text 6"/>
          <p:cNvSpPr/>
          <p:nvPr/>
        </p:nvSpPr>
        <p:spPr>
          <a:xfrm>
            <a:off x="9546336" y="1947672"/>
            <a:ext cx="1883664" cy="667512"/>
          </a:xfrm>
          <a:prstGeom prst="rect">
            <a:avLst/>
          </a:prstGeom>
          <a:noFill/>
          <a:ln/>
        </p:spPr>
        <p:txBody>
          <a:bodyPr wrap="square" rtlCol="0" anchor="ctr"/>
          <a:lstStyle/>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Upload a chest X-ray and run inference through the global federated model.</a:t>
            </a:r>
            <a:endParaRPr lang="en-US" sz="950" dirty="0"/>
          </a:p>
        </p:txBody>
      </p:sp>
      <p:sp>
        <p:nvSpPr>
          <p:cNvPr id="11" name="Shape 7"/>
          <p:cNvSpPr/>
          <p:nvPr/>
        </p:nvSpPr>
        <p:spPr>
          <a:xfrm>
            <a:off x="7909560" y="2880360"/>
            <a:ext cx="3657600" cy="1444752"/>
          </a:xfrm>
          <a:prstGeom prst="roundRect">
            <a:avLst>
              <a:gd name="adj" fmla="val 5063"/>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pic>
        <p:nvPicPr>
          <p:cNvPr id="12" name="Image 2" descr="assets/fl_hospital_table.png">    </p:cNvPr>
          <p:cNvPicPr>
            <a:picLocks noChangeAspect="1"/>
          </p:cNvPicPr>
          <p:nvPr/>
        </p:nvPicPr>
        <p:blipFill>
          <a:blip r:embed="rId3"/>
          <a:stretch>
            <a:fillRect/>
          </a:stretch>
        </p:blipFill>
        <p:spPr>
          <a:xfrm>
            <a:off x="8055864" y="3458522"/>
            <a:ext cx="1325880" cy="288428"/>
          </a:xfrm>
          <a:prstGeom prst="rect">
            <a:avLst/>
          </a:prstGeom>
        </p:spPr>
      </p:pic>
      <p:sp>
        <p:nvSpPr>
          <p:cNvPr id="13" name="Text 8"/>
          <p:cNvSpPr/>
          <p:nvPr/>
        </p:nvSpPr>
        <p:spPr>
          <a:xfrm>
            <a:off x="9546336" y="2990088"/>
            <a:ext cx="1883664" cy="228600"/>
          </a:xfrm>
          <a:prstGeom prst="rect">
            <a:avLst/>
          </a:prstGeom>
          <a:noFill/>
          <a:ln/>
        </p:spPr>
        <p:txBody>
          <a:bodyPr wrap="square" rtlCol="0" anchor="ctr"/>
          <a:lstStyle/>
          <a:p>
            <a:pPr indent="0" marL="0">
              <a:buNone/>
            </a:pPr>
            <a:r>
              <a:rPr lang="en-US" sz="950" b="1" spc="150" kern="0" dirty="0">
                <a:solidFill>
                  <a:srgbClr val="1F8A5F"/>
                </a:solidFill>
                <a:latin typeface="Calibri" pitchFamily="34" charset="0"/>
                <a:ea typeface="Calibri" pitchFamily="34" charset="-122"/>
                <a:cs typeface="Calibri" pitchFamily="34" charset="-120"/>
              </a:rPr>
              <a:t>MONITOR</a:t>
            </a:r>
            <a:endParaRPr lang="en-US" sz="950" dirty="0"/>
          </a:p>
        </p:txBody>
      </p:sp>
      <p:sp>
        <p:nvSpPr>
          <p:cNvPr id="14" name="Text 9"/>
          <p:cNvSpPr/>
          <p:nvPr/>
        </p:nvSpPr>
        <p:spPr>
          <a:xfrm>
            <a:off x="9546336" y="3227832"/>
            <a:ext cx="1883664" cy="36576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Federated Learning Monitor</a:t>
            </a:r>
            <a:endParaRPr lang="en-US" sz="1250" dirty="0"/>
          </a:p>
        </p:txBody>
      </p:sp>
      <p:sp>
        <p:nvSpPr>
          <p:cNvPr id="15" name="Text 10"/>
          <p:cNvSpPr/>
          <p:nvPr/>
        </p:nvSpPr>
        <p:spPr>
          <a:xfrm>
            <a:off x="9546336" y="3593592"/>
            <a:ext cx="1883664" cy="667512"/>
          </a:xfrm>
          <a:prstGeom prst="rect">
            <a:avLst/>
          </a:prstGeom>
          <a:noFill/>
          <a:ln/>
        </p:spPr>
        <p:txBody>
          <a:bodyPr wrap="square" rtlCol="0" anchor="ctr"/>
          <a:lstStyle/>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Track federated rounds, hospital sync status, and aggregation live.</a:t>
            </a:r>
            <a:endParaRPr lang="en-US" sz="950" dirty="0"/>
          </a:p>
        </p:txBody>
      </p:sp>
      <p:sp>
        <p:nvSpPr>
          <p:cNvPr id="16" name="Shape 11"/>
          <p:cNvSpPr/>
          <p:nvPr/>
        </p:nvSpPr>
        <p:spPr>
          <a:xfrm>
            <a:off x="7909560" y="4526280"/>
            <a:ext cx="3657600" cy="1444752"/>
          </a:xfrm>
          <a:prstGeom prst="roundRect">
            <a:avLst>
              <a:gd name="adj" fmla="val 5063"/>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pic>
        <p:nvPicPr>
          <p:cNvPr id="17" name="Image 3" descr="assets/dis_donut.png">    </p:cNvPr>
          <p:cNvPicPr>
            <a:picLocks noChangeAspect="1"/>
          </p:cNvPicPr>
          <p:nvPr/>
        </p:nvPicPr>
        <p:blipFill>
          <a:blip r:embed="rId4"/>
          <a:stretch>
            <a:fillRect/>
          </a:stretch>
        </p:blipFill>
        <p:spPr>
          <a:xfrm>
            <a:off x="8055864" y="4663440"/>
            <a:ext cx="1288355" cy="1170432"/>
          </a:xfrm>
          <a:prstGeom prst="rect">
            <a:avLst/>
          </a:prstGeom>
        </p:spPr>
      </p:pic>
      <p:sp>
        <p:nvSpPr>
          <p:cNvPr id="18" name="Text 12"/>
          <p:cNvSpPr/>
          <p:nvPr/>
        </p:nvSpPr>
        <p:spPr>
          <a:xfrm>
            <a:off x="9546336" y="4636008"/>
            <a:ext cx="1883664" cy="228600"/>
          </a:xfrm>
          <a:prstGeom prst="rect">
            <a:avLst/>
          </a:prstGeom>
          <a:noFill/>
          <a:ln/>
        </p:spPr>
        <p:txBody>
          <a:bodyPr wrap="square" rtlCol="0" anchor="ctr"/>
          <a:lstStyle/>
          <a:p>
            <a:pPr indent="0" marL="0">
              <a:buNone/>
            </a:pPr>
            <a:r>
              <a:rPr lang="en-US" sz="950" b="1" spc="150" kern="0" dirty="0">
                <a:solidFill>
                  <a:srgbClr val="1F8A5F"/>
                </a:solidFill>
                <a:latin typeface="Calibri" pitchFamily="34" charset="0"/>
                <a:ea typeface="Calibri" pitchFamily="34" charset="-122"/>
                <a:cs typeface="Calibri" pitchFamily="34" charset="-120"/>
              </a:rPr>
              <a:t>ANALYZE</a:t>
            </a:r>
            <a:endParaRPr lang="en-US" sz="950" dirty="0"/>
          </a:p>
        </p:txBody>
      </p:sp>
      <p:sp>
        <p:nvSpPr>
          <p:cNvPr id="19" name="Text 13"/>
          <p:cNvSpPr/>
          <p:nvPr/>
        </p:nvSpPr>
        <p:spPr>
          <a:xfrm>
            <a:off x="9546336" y="4873752"/>
            <a:ext cx="1883664" cy="365760"/>
          </a:xfrm>
          <a:prstGeom prst="rect">
            <a:avLst/>
          </a:prstGeom>
          <a:noFill/>
          <a:ln/>
        </p:spPr>
        <p:txBody>
          <a:bodyPr wrap="square" rtlCol="0" anchor="ctr"/>
          <a:lstStyle/>
          <a:p>
            <a:pPr indent="0" marL="0">
              <a:buNone/>
            </a:pPr>
            <a:r>
              <a:rPr lang="en-US" sz="1250" b="1" dirty="0">
                <a:solidFill>
                  <a:srgbClr val="12241D"/>
                </a:solidFill>
                <a:latin typeface="Calibri" pitchFamily="34" charset="0"/>
                <a:ea typeface="Calibri" pitchFamily="34" charset="-122"/>
                <a:cs typeface="Calibri" pitchFamily="34" charset="-120"/>
              </a:rPr>
              <a:t>Disease &amp; Model Analytics</a:t>
            </a:r>
            <a:endParaRPr lang="en-US" sz="1250" dirty="0"/>
          </a:p>
        </p:txBody>
      </p:sp>
      <p:sp>
        <p:nvSpPr>
          <p:cNvPr id="20" name="Text 14"/>
          <p:cNvSpPr/>
          <p:nvPr/>
        </p:nvSpPr>
        <p:spPr>
          <a:xfrm>
            <a:off x="9546336" y="5239512"/>
            <a:ext cx="1883664" cy="667512"/>
          </a:xfrm>
          <a:prstGeom prst="rect">
            <a:avLst/>
          </a:prstGeom>
          <a:noFill/>
          <a:ln/>
        </p:spPr>
        <p:txBody>
          <a:bodyPr wrap="square" rtlCol="0" anchor="ctr"/>
          <a:lstStyle/>
          <a:p>
            <a:pPr indent="0" marL="0">
              <a:lnSpc>
                <a:spcPct val="115000"/>
              </a:lnSpc>
              <a:buNone/>
            </a:pPr>
            <a:r>
              <a:rPr lang="en-US" sz="950" dirty="0">
                <a:solidFill>
                  <a:srgbClr val="5B6E64"/>
                </a:solidFill>
                <a:latin typeface="Calibri" pitchFamily="34" charset="0"/>
                <a:ea typeface="Calibri" pitchFamily="34" charset="-122"/>
                <a:cs typeface="Calibri" pitchFamily="34" charset="-120"/>
              </a:rPr>
              <a:t>Explore disease distributions and model performance in depth.</a:t>
            </a:r>
            <a:endParaRPr lang="en-US" sz="950" dirty="0"/>
          </a:p>
        </p:txBody>
      </p:sp>
      <p:sp>
        <p:nvSpPr>
          <p:cNvPr id="21" name="Shape 15"/>
          <p:cNvSpPr/>
          <p:nvPr/>
        </p:nvSpPr>
        <p:spPr>
          <a:xfrm>
            <a:off x="640080" y="6053328"/>
            <a:ext cx="10927080" cy="530352"/>
          </a:xfrm>
          <a:prstGeom prst="roundRect">
            <a:avLst>
              <a:gd name="adj" fmla="val 13793"/>
            </a:avLst>
          </a:prstGeom>
          <a:solidFill>
            <a:srgbClr val="0B3A2C"/>
          </a:solidFill>
          <a:ln/>
        </p:spPr>
      </p:sp>
      <p:sp>
        <p:nvSpPr>
          <p:cNvPr id="22" name="Text 16"/>
          <p:cNvSpPr/>
          <p:nvPr/>
        </p:nvSpPr>
        <p:spPr>
          <a:xfrm>
            <a:off x="640080" y="6053328"/>
            <a:ext cx="10927080" cy="530352"/>
          </a:xfrm>
          <a:prstGeom prst="rect">
            <a:avLst/>
          </a:prstGeom>
          <a:noFill/>
          <a:ln/>
        </p:spPr>
        <p:txBody>
          <a:bodyPr wrap="square"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This is an implemented end-to-end system — not just a machine-learning notebook.</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640080" y="365760"/>
            <a:ext cx="10972800" cy="640080"/>
          </a:xfrm>
          <a:prstGeom prst="rect">
            <a:avLst/>
          </a:prstGeom>
          <a:noFill/>
          <a:ln/>
        </p:spPr>
        <p:txBody>
          <a:bodyPr wrap="square" rtlCol="0" anchor="ctr"/>
          <a:lstStyle/>
          <a:p>
            <a:pPr indent="0" marL="0">
              <a:buNone/>
            </a:pPr>
            <a:r>
              <a:rPr lang="en-US" sz="2500" b="1" dirty="0">
                <a:solidFill>
                  <a:srgbClr val="12241D"/>
                </a:solidFill>
                <a:latin typeface="Cambria" pitchFamily="34" charset="0"/>
                <a:ea typeface="Cambria" pitchFamily="34" charset="-122"/>
                <a:cs typeface="Cambria" pitchFamily="34" charset="-120"/>
              </a:rPr>
              <a:t>Results: Model Performance &amp; Federated Learning Progress</a:t>
            </a:r>
            <a:endParaRPr lang="en-US" sz="2500" dirty="0"/>
          </a:p>
        </p:txBody>
      </p:sp>
      <p:sp>
        <p:nvSpPr>
          <p:cNvPr id="3" name="Shape 1"/>
          <p:cNvSpPr/>
          <p:nvPr/>
        </p:nvSpPr>
        <p:spPr>
          <a:xfrm>
            <a:off x="640080" y="1234440"/>
            <a:ext cx="2606040" cy="960120"/>
          </a:xfrm>
          <a:prstGeom prst="roundRect">
            <a:avLst>
              <a:gd name="adj" fmla="val 8571"/>
            </a:avLst>
          </a:prstGeom>
          <a:solidFill>
            <a:srgbClr val="0B3A2C"/>
          </a:solidFill>
          <a:ln/>
        </p:spPr>
      </p:sp>
      <p:sp>
        <p:nvSpPr>
          <p:cNvPr id="4" name="Text 2"/>
          <p:cNvSpPr/>
          <p:nvPr/>
        </p:nvSpPr>
        <p:spPr>
          <a:xfrm>
            <a:off x="822960" y="1325880"/>
            <a:ext cx="224028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92%</a:t>
            </a:r>
            <a:endParaRPr lang="en-US" sz="3000" dirty="0"/>
          </a:p>
        </p:txBody>
      </p:sp>
      <p:sp>
        <p:nvSpPr>
          <p:cNvPr id="5" name="Text 3"/>
          <p:cNvSpPr/>
          <p:nvPr/>
        </p:nvSpPr>
        <p:spPr>
          <a:xfrm>
            <a:off x="822960" y="1856232"/>
            <a:ext cx="2240280" cy="274320"/>
          </a:xfrm>
          <a:prstGeom prst="rect">
            <a:avLst/>
          </a:prstGeom>
          <a:noFill/>
          <a:ln/>
        </p:spPr>
        <p:txBody>
          <a:bodyPr wrap="square" rtlCol="0" anchor="ctr"/>
          <a:lstStyle/>
          <a:p>
            <a:pPr indent="0" marL="0">
              <a:buNone/>
            </a:pPr>
            <a:r>
              <a:rPr lang="en-US" sz="1050" b="1" spc="100" kern="0" dirty="0">
                <a:solidFill>
                  <a:srgbClr val="9FC9B4"/>
                </a:solidFill>
                <a:latin typeface="Calibri" pitchFamily="34" charset="0"/>
                <a:ea typeface="Calibri" pitchFamily="34" charset="-122"/>
                <a:cs typeface="Calibri" pitchFamily="34" charset="-120"/>
              </a:rPr>
              <a:t>ACCURACY</a:t>
            </a:r>
            <a:endParaRPr lang="en-US" sz="1050" dirty="0"/>
          </a:p>
        </p:txBody>
      </p:sp>
      <p:sp>
        <p:nvSpPr>
          <p:cNvPr id="6" name="Shape 4"/>
          <p:cNvSpPr/>
          <p:nvPr/>
        </p:nvSpPr>
        <p:spPr>
          <a:xfrm>
            <a:off x="3465576" y="1234440"/>
            <a:ext cx="2606040" cy="960120"/>
          </a:xfrm>
          <a:prstGeom prst="roundRect">
            <a:avLst>
              <a:gd name="adj" fmla="val 8571"/>
            </a:avLst>
          </a:prstGeom>
          <a:solidFill>
            <a:srgbClr val="0B3A2C"/>
          </a:solidFill>
          <a:ln/>
        </p:spPr>
      </p:sp>
      <p:sp>
        <p:nvSpPr>
          <p:cNvPr id="7" name="Text 5"/>
          <p:cNvSpPr/>
          <p:nvPr/>
        </p:nvSpPr>
        <p:spPr>
          <a:xfrm>
            <a:off x="3648456" y="1325880"/>
            <a:ext cx="224028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90%</a:t>
            </a:r>
            <a:endParaRPr lang="en-US" sz="3000" dirty="0"/>
          </a:p>
        </p:txBody>
      </p:sp>
      <p:sp>
        <p:nvSpPr>
          <p:cNvPr id="8" name="Text 6"/>
          <p:cNvSpPr/>
          <p:nvPr/>
        </p:nvSpPr>
        <p:spPr>
          <a:xfrm>
            <a:off x="3648456" y="1856232"/>
            <a:ext cx="2240280" cy="274320"/>
          </a:xfrm>
          <a:prstGeom prst="rect">
            <a:avLst/>
          </a:prstGeom>
          <a:noFill/>
          <a:ln/>
        </p:spPr>
        <p:txBody>
          <a:bodyPr wrap="square" rtlCol="0" anchor="ctr"/>
          <a:lstStyle/>
          <a:p>
            <a:pPr indent="0" marL="0">
              <a:buNone/>
            </a:pPr>
            <a:r>
              <a:rPr lang="en-US" sz="1050" b="1" spc="100" kern="0" dirty="0">
                <a:solidFill>
                  <a:srgbClr val="9FC9B4"/>
                </a:solidFill>
                <a:latin typeface="Calibri" pitchFamily="34" charset="0"/>
                <a:ea typeface="Calibri" pitchFamily="34" charset="-122"/>
                <a:cs typeface="Calibri" pitchFamily="34" charset="-120"/>
              </a:rPr>
              <a:t>PRECISION</a:t>
            </a:r>
            <a:endParaRPr lang="en-US" sz="1050" dirty="0"/>
          </a:p>
        </p:txBody>
      </p:sp>
      <p:sp>
        <p:nvSpPr>
          <p:cNvPr id="9" name="Shape 7"/>
          <p:cNvSpPr/>
          <p:nvPr/>
        </p:nvSpPr>
        <p:spPr>
          <a:xfrm>
            <a:off x="6291072" y="1234440"/>
            <a:ext cx="2606040" cy="960120"/>
          </a:xfrm>
          <a:prstGeom prst="roundRect">
            <a:avLst>
              <a:gd name="adj" fmla="val 8571"/>
            </a:avLst>
          </a:prstGeom>
          <a:solidFill>
            <a:srgbClr val="0B3A2C"/>
          </a:solidFill>
          <a:ln/>
        </p:spPr>
      </p:sp>
      <p:sp>
        <p:nvSpPr>
          <p:cNvPr id="10" name="Text 8"/>
          <p:cNvSpPr/>
          <p:nvPr/>
        </p:nvSpPr>
        <p:spPr>
          <a:xfrm>
            <a:off x="6473952" y="1325880"/>
            <a:ext cx="224028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88%</a:t>
            </a:r>
            <a:endParaRPr lang="en-US" sz="3000" dirty="0"/>
          </a:p>
        </p:txBody>
      </p:sp>
      <p:sp>
        <p:nvSpPr>
          <p:cNvPr id="11" name="Text 9"/>
          <p:cNvSpPr/>
          <p:nvPr/>
        </p:nvSpPr>
        <p:spPr>
          <a:xfrm>
            <a:off x="6473952" y="1856232"/>
            <a:ext cx="2240280" cy="274320"/>
          </a:xfrm>
          <a:prstGeom prst="rect">
            <a:avLst/>
          </a:prstGeom>
          <a:noFill/>
          <a:ln/>
        </p:spPr>
        <p:txBody>
          <a:bodyPr wrap="square" rtlCol="0" anchor="ctr"/>
          <a:lstStyle/>
          <a:p>
            <a:pPr indent="0" marL="0">
              <a:buNone/>
            </a:pPr>
            <a:r>
              <a:rPr lang="en-US" sz="1050" b="1" spc="100" kern="0" dirty="0">
                <a:solidFill>
                  <a:srgbClr val="9FC9B4"/>
                </a:solidFill>
                <a:latin typeface="Calibri" pitchFamily="34" charset="0"/>
                <a:ea typeface="Calibri" pitchFamily="34" charset="-122"/>
                <a:cs typeface="Calibri" pitchFamily="34" charset="-120"/>
              </a:rPr>
              <a:t>RECALL</a:t>
            </a:r>
            <a:endParaRPr lang="en-US" sz="1050" dirty="0"/>
          </a:p>
        </p:txBody>
      </p:sp>
      <p:sp>
        <p:nvSpPr>
          <p:cNvPr id="12" name="Shape 10"/>
          <p:cNvSpPr/>
          <p:nvPr/>
        </p:nvSpPr>
        <p:spPr>
          <a:xfrm>
            <a:off x="9116568" y="1234440"/>
            <a:ext cx="2606040" cy="960120"/>
          </a:xfrm>
          <a:prstGeom prst="roundRect">
            <a:avLst>
              <a:gd name="adj" fmla="val 8571"/>
            </a:avLst>
          </a:prstGeom>
          <a:solidFill>
            <a:srgbClr val="0B3A2C"/>
          </a:solidFill>
          <a:ln/>
        </p:spPr>
      </p:sp>
      <p:sp>
        <p:nvSpPr>
          <p:cNvPr id="13" name="Text 11"/>
          <p:cNvSpPr/>
          <p:nvPr/>
        </p:nvSpPr>
        <p:spPr>
          <a:xfrm>
            <a:off x="9299448" y="1325880"/>
            <a:ext cx="224028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0.93</a:t>
            </a:r>
            <a:endParaRPr lang="en-US" sz="3000" dirty="0"/>
          </a:p>
        </p:txBody>
      </p:sp>
      <p:sp>
        <p:nvSpPr>
          <p:cNvPr id="14" name="Text 12"/>
          <p:cNvSpPr/>
          <p:nvPr/>
        </p:nvSpPr>
        <p:spPr>
          <a:xfrm>
            <a:off x="9299448" y="1856232"/>
            <a:ext cx="2240280" cy="274320"/>
          </a:xfrm>
          <a:prstGeom prst="rect">
            <a:avLst/>
          </a:prstGeom>
          <a:noFill/>
          <a:ln/>
        </p:spPr>
        <p:txBody>
          <a:bodyPr wrap="square" rtlCol="0" anchor="ctr"/>
          <a:lstStyle/>
          <a:p>
            <a:pPr indent="0" marL="0">
              <a:buNone/>
            </a:pPr>
            <a:r>
              <a:rPr lang="en-US" sz="1050" b="1" spc="100" kern="0" dirty="0">
                <a:solidFill>
                  <a:srgbClr val="9FC9B4"/>
                </a:solidFill>
                <a:latin typeface="Calibri" pitchFamily="34" charset="0"/>
                <a:ea typeface="Calibri" pitchFamily="34" charset="-122"/>
                <a:cs typeface="Calibri" pitchFamily="34" charset="-120"/>
              </a:rPr>
              <a:t>AUC</a:t>
            </a:r>
            <a:endParaRPr lang="en-US" sz="1050" dirty="0"/>
          </a:p>
        </p:txBody>
      </p:sp>
      <p:sp>
        <p:nvSpPr>
          <p:cNvPr id="15" name="Shape 13"/>
          <p:cNvSpPr/>
          <p:nvPr/>
        </p:nvSpPr>
        <p:spPr>
          <a:xfrm>
            <a:off x="640080" y="2423160"/>
            <a:ext cx="6537960" cy="3749040"/>
          </a:xfrm>
          <a:prstGeom prst="roundRect">
            <a:avLst>
              <a:gd name="adj" fmla="val 2439"/>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16" name="Text 14"/>
          <p:cNvSpPr/>
          <p:nvPr/>
        </p:nvSpPr>
        <p:spPr>
          <a:xfrm>
            <a:off x="868680" y="2587752"/>
            <a:ext cx="6080760" cy="274320"/>
          </a:xfrm>
          <a:prstGeom prst="rect">
            <a:avLst/>
          </a:prstGeom>
          <a:noFill/>
          <a:ln/>
        </p:spPr>
        <p:txBody>
          <a:bodyPr wrap="square" rtlCol="0" anchor="ctr"/>
          <a:lstStyle/>
          <a:p>
            <a:pPr indent="0" marL="0">
              <a:buNone/>
            </a:pPr>
            <a:r>
              <a:rPr lang="en-US" sz="1050" b="1" spc="120" kern="0" dirty="0">
                <a:solidFill>
                  <a:srgbClr val="1F8A5F"/>
                </a:solidFill>
                <a:latin typeface="Calibri" pitchFamily="34" charset="0"/>
                <a:ea typeface="Calibri" pitchFamily="34" charset="-122"/>
                <a:cs typeface="Calibri" pitchFamily="34" charset="-120"/>
              </a:rPr>
              <a:t>GLOBAL ACCURACY PER FEDERATED ROUND</a:t>
            </a:r>
            <a:endParaRPr lang="en-US" sz="1050" dirty="0"/>
          </a:p>
        </p:txBody>
      </p:sp>
      <p:pic>
        <p:nvPicPr>
          <p:cNvPr id="17" name="Image 0" descr="assets/fl_global_accuracy_chart.png">    </p:cNvPr>
          <p:cNvPicPr>
            <a:picLocks noChangeAspect="1"/>
          </p:cNvPicPr>
          <p:nvPr/>
        </p:nvPicPr>
        <p:blipFill>
          <a:blip r:embed="rId1"/>
          <a:stretch>
            <a:fillRect/>
          </a:stretch>
        </p:blipFill>
        <p:spPr>
          <a:xfrm>
            <a:off x="2364427" y="2898648"/>
            <a:ext cx="3089265" cy="2743200"/>
          </a:xfrm>
          <a:prstGeom prst="rect">
            <a:avLst/>
          </a:prstGeom>
        </p:spPr>
      </p:pic>
      <p:sp>
        <p:nvSpPr>
          <p:cNvPr id="18" name="Text 15"/>
          <p:cNvSpPr/>
          <p:nvPr/>
        </p:nvSpPr>
        <p:spPr>
          <a:xfrm>
            <a:off x="868680" y="5715000"/>
            <a:ext cx="6080760" cy="365760"/>
          </a:xfrm>
          <a:prstGeom prst="rect">
            <a:avLst/>
          </a:prstGeom>
          <a:noFill/>
          <a:ln/>
        </p:spPr>
        <p:txBody>
          <a:bodyPr wrap="square" rtlCol="0" anchor="ctr"/>
          <a:lstStyle/>
          <a:p>
            <a:pPr indent="0" marL="0">
              <a:buNone/>
            </a:pPr>
            <a:r>
              <a:rPr lang="en-US" sz="1050" i="1" dirty="0">
                <a:solidFill>
                  <a:srgbClr val="5B6E64"/>
                </a:solidFill>
                <a:latin typeface="Calibri" pitchFamily="34" charset="0"/>
                <a:ea typeface="Calibri" pitchFamily="34" charset="-122"/>
                <a:cs typeface="Calibri" pitchFamily="34" charset="-120"/>
              </a:rPr>
              <a:t>The federated model shows improving global performance across communication rounds.</a:t>
            </a:r>
            <a:endParaRPr lang="en-US" sz="1050" dirty="0"/>
          </a:p>
        </p:txBody>
      </p:sp>
      <p:sp>
        <p:nvSpPr>
          <p:cNvPr id="19" name="Shape 16"/>
          <p:cNvSpPr/>
          <p:nvPr/>
        </p:nvSpPr>
        <p:spPr>
          <a:xfrm>
            <a:off x="7388352" y="2423160"/>
            <a:ext cx="4160520" cy="3749040"/>
          </a:xfrm>
          <a:prstGeom prst="roundRect">
            <a:avLst>
              <a:gd name="adj" fmla="val 2439"/>
            </a:avLst>
          </a:prstGeom>
          <a:solidFill>
            <a:srgbClr val="FFFFFF"/>
          </a:solidFill>
          <a:ln w="12700">
            <a:solidFill>
              <a:srgbClr val="E1EAE5"/>
            </a:solidFill>
            <a:prstDash val="solid"/>
          </a:ln>
          <a:effectLst>
            <a:outerShdw sx="100000" sy="100000" kx="0" ky="0" algn="bl" rotWithShape="0" blurRad="76200" dist="25400" dir="5400000">
              <a:srgbClr val="1B2E26">
                <a:alpha val="10000"/>
              </a:srgbClr>
            </a:outerShdw>
          </a:effectLst>
        </p:spPr>
      </p:sp>
      <p:sp>
        <p:nvSpPr>
          <p:cNvPr id="20" name="Text 17"/>
          <p:cNvSpPr/>
          <p:nvPr/>
        </p:nvSpPr>
        <p:spPr>
          <a:xfrm>
            <a:off x="7616952" y="2587752"/>
            <a:ext cx="3703320" cy="274320"/>
          </a:xfrm>
          <a:prstGeom prst="rect">
            <a:avLst/>
          </a:prstGeom>
          <a:noFill/>
          <a:ln/>
        </p:spPr>
        <p:txBody>
          <a:bodyPr wrap="square" rtlCol="0" anchor="ctr"/>
          <a:lstStyle/>
          <a:p>
            <a:pPr indent="0" marL="0">
              <a:buNone/>
            </a:pPr>
            <a:r>
              <a:rPr lang="en-US" sz="1050" b="1" spc="120" kern="0" dirty="0">
                <a:solidFill>
                  <a:srgbClr val="1F8A5F"/>
                </a:solidFill>
                <a:latin typeface="Calibri" pitchFamily="34" charset="0"/>
                <a:ea typeface="Calibri" pitchFamily="34" charset="-122"/>
                <a:cs typeface="Calibri" pitchFamily="34" charset="-120"/>
              </a:rPr>
              <a:t>ROC CURVE — GLOBAL MODEL</a:t>
            </a:r>
            <a:endParaRPr lang="en-US" sz="1050" dirty="0"/>
          </a:p>
        </p:txBody>
      </p:sp>
      <p:pic>
        <p:nvPicPr>
          <p:cNvPr id="21" name="Image 1" descr="assets/mp_roc.png">    </p:cNvPr>
          <p:cNvPicPr>
            <a:picLocks noChangeAspect="1"/>
          </p:cNvPicPr>
          <p:nvPr/>
        </p:nvPicPr>
        <p:blipFill>
          <a:blip r:embed="rId2"/>
          <a:stretch>
            <a:fillRect/>
          </a:stretch>
        </p:blipFill>
        <p:spPr>
          <a:xfrm>
            <a:off x="7616952" y="2926080"/>
            <a:ext cx="3703320" cy="31872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A2C"/>
        </a:solidFill>
      </p:bgPr>
    </p:bg>
    <p:spTree>
      <p:nvGrpSpPr>
        <p:cNvPr id="1" name=""/>
        <p:cNvGrpSpPr/>
        <p:nvPr/>
      </p:nvGrpSpPr>
      <p:grpSpPr>
        <a:xfrm>
          <a:off x="0" y="0"/>
          <a:ext cx="0" cy="0"/>
          <a:chOff x="0" y="0"/>
          <a:chExt cx="0" cy="0"/>
        </a:xfrm>
      </p:grpSpPr>
      <p:sp>
        <p:nvSpPr>
          <p:cNvPr id="2" name="Shape 0"/>
          <p:cNvSpPr/>
          <p:nvPr/>
        </p:nvSpPr>
        <p:spPr>
          <a:xfrm>
            <a:off x="-2286000" y="4206240"/>
            <a:ext cx="5486400" cy="5486400"/>
          </a:xfrm>
          <a:prstGeom prst="ellipse">
            <a:avLst/>
          </a:prstGeom>
          <a:solidFill>
            <a:srgbClr val="0F4736"/>
          </a:solidFill>
          <a:ln/>
        </p:spPr>
      </p:sp>
      <p:sp>
        <p:nvSpPr>
          <p:cNvPr id="3" name="Text 1"/>
          <p:cNvSpPr/>
          <p:nvPr/>
        </p:nvSpPr>
        <p:spPr>
          <a:xfrm>
            <a:off x="777240" y="502920"/>
            <a:ext cx="9144000" cy="777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Why FedMed AI Matters</a:t>
            </a:r>
            <a:endParaRPr lang="en-US" sz="3400" dirty="0"/>
          </a:p>
        </p:txBody>
      </p:sp>
      <p:sp>
        <p:nvSpPr>
          <p:cNvPr id="4" name="Shape 2"/>
          <p:cNvSpPr/>
          <p:nvPr/>
        </p:nvSpPr>
        <p:spPr>
          <a:xfrm>
            <a:off x="777240" y="1554480"/>
            <a:ext cx="5166360" cy="1417320"/>
          </a:xfrm>
          <a:prstGeom prst="roundRect">
            <a:avLst>
              <a:gd name="adj" fmla="val 5806"/>
            </a:avLst>
          </a:prstGeom>
          <a:solidFill>
            <a:srgbClr val="0F4736"/>
          </a:solidFill>
          <a:ln/>
        </p:spPr>
      </p:sp>
      <p:sp>
        <p:nvSpPr>
          <p:cNvPr id="5" name="Text 3"/>
          <p:cNvSpPr/>
          <p:nvPr/>
        </p:nvSpPr>
        <p:spPr>
          <a:xfrm>
            <a:off x="1033272" y="1682496"/>
            <a:ext cx="914400" cy="548640"/>
          </a:xfrm>
          <a:prstGeom prst="rect">
            <a:avLst/>
          </a:prstGeom>
          <a:noFill/>
          <a:ln/>
        </p:spPr>
        <p:txBody>
          <a:bodyPr wrap="square" rtlCol="0" anchor="ctr"/>
          <a:lstStyle/>
          <a:p>
            <a:pPr indent="0" marL="0">
              <a:buNone/>
            </a:pPr>
            <a:r>
              <a:rPr lang="en-US" sz="2600" b="1" dirty="0">
                <a:solidFill>
                  <a:srgbClr val="2FA875"/>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828800" y="1737360"/>
            <a:ext cx="3886200" cy="36576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Collaborative Learning</a:t>
            </a:r>
            <a:endParaRPr lang="en-US" sz="1450" dirty="0"/>
          </a:p>
        </p:txBody>
      </p:sp>
      <p:sp>
        <p:nvSpPr>
          <p:cNvPr id="7" name="Text 5"/>
          <p:cNvSpPr/>
          <p:nvPr/>
        </p:nvSpPr>
        <p:spPr>
          <a:xfrm>
            <a:off x="1828800" y="2121408"/>
            <a:ext cx="3886200" cy="777240"/>
          </a:xfrm>
          <a:prstGeom prst="rect">
            <a:avLst/>
          </a:prstGeom>
          <a:noFill/>
          <a:ln/>
        </p:spPr>
        <p:txBody>
          <a:bodyPr wrap="square" rtlCol="0" anchor="ctr"/>
          <a:lstStyle/>
          <a:p>
            <a:pPr indent="0" marL="0">
              <a:lnSpc>
                <a:spcPct val="120000"/>
              </a:lnSpc>
              <a:buNone/>
            </a:pPr>
            <a:r>
              <a:rPr lang="en-US" sz="1100" dirty="0">
                <a:solidFill>
                  <a:srgbClr val="CFE9DB"/>
                </a:solidFill>
                <a:latin typeface="Calibri" pitchFamily="34" charset="0"/>
                <a:ea typeface="Calibri" pitchFamily="34" charset="-122"/>
                <a:cs typeface="Calibri" pitchFamily="34" charset="-120"/>
              </a:rPr>
              <a:t>Multiple hospital nodes contribute to a shared model.</a:t>
            </a:r>
            <a:endParaRPr lang="en-US" sz="1100" dirty="0"/>
          </a:p>
        </p:txBody>
      </p:sp>
      <p:sp>
        <p:nvSpPr>
          <p:cNvPr id="8" name="Shape 6"/>
          <p:cNvSpPr/>
          <p:nvPr/>
        </p:nvSpPr>
        <p:spPr>
          <a:xfrm>
            <a:off x="6263640" y="1554480"/>
            <a:ext cx="5166360" cy="1417320"/>
          </a:xfrm>
          <a:prstGeom prst="roundRect">
            <a:avLst>
              <a:gd name="adj" fmla="val 5806"/>
            </a:avLst>
          </a:prstGeom>
          <a:solidFill>
            <a:srgbClr val="0F4736"/>
          </a:solidFill>
          <a:ln/>
        </p:spPr>
      </p:sp>
      <p:sp>
        <p:nvSpPr>
          <p:cNvPr id="9" name="Text 7"/>
          <p:cNvSpPr/>
          <p:nvPr/>
        </p:nvSpPr>
        <p:spPr>
          <a:xfrm>
            <a:off x="6519672" y="1682496"/>
            <a:ext cx="914400" cy="548640"/>
          </a:xfrm>
          <a:prstGeom prst="rect">
            <a:avLst/>
          </a:prstGeom>
          <a:noFill/>
          <a:ln/>
        </p:spPr>
        <p:txBody>
          <a:bodyPr wrap="square" rtlCol="0" anchor="ctr"/>
          <a:lstStyle/>
          <a:p>
            <a:pPr indent="0" marL="0">
              <a:buNone/>
            </a:pPr>
            <a:r>
              <a:rPr lang="en-US" sz="2600" b="1" dirty="0">
                <a:solidFill>
                  <a:srgbClr val="2FA875"/>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7315200" y="1737360"/>
            <a:ext cx="3886200" cy="36576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Local Data Processing</a:t>
            </a:r>
            <a:endParaRPr lang="en-US" sz="1450" dirty="0"/>
          </a:p>
        </p:txBody>
      </p:sp>
      <p:sp>
        <p:nvSpPr>
          <p:cNvPr id="11" name="Text 9"/>
          <p:cNvSpPr/>
          <p:nvPr/>
        </p:nvSpPr>
        <p:spPr>
          <a:xfrm>
            <a:off x="7315200" y="2121408"/>
            <a:ext cx="3886200" cy="777240"/>
          </a:xfrm>
          <a:prstGeom prst="rect">
            <a:avLst/>
          </a:prstGeom>
          <a:noFill/>
          <a:ln/>
        </p:spPr>
        <p:txBody>
          <a:bodyPr wrap="square" rtlCol="0" anchor="ctr"/>
          <a:lstStyle/>
          <a:p>
            <a:pPr indent="0" marL="0">
              <a:lnSpc>
                <a:spcPct val="120000"/>
              </a:lnSpc>
              <a:buNone/>
            </a:pPr>
            <a:r>
              <a:rPr lang="en-US" sz="1100" dirty="0">
                <a:solidFill>
                  <a:srgbClr val="CFE9DB"/>
                </a:solidFill>
                <a:latin typeface="Calibri" pitchFamily="34" charset="0"/>
                <a:ea typeface="Calibri" pitchFamily="34" charset="-122"/>
                <a:cs typeface="Calibri" pitchFamily="34" charset="-120"/>
              </a:rPr>
              <a:t>Raw chest X-ray data can remain within its local node in the federated workflow.</a:t>
            </a:r>
            <a:endParaRPr lang="en-US" sz="1100" dirty="0"/>
          </a:p>
        </p:txBody>
      </p:sp>
      <p:sp>
        <p:nvSpPr>
          <p:cNvPr id="12" name="Shape 10"/>
          <p:cNvSpPr/>
          <p:nvPr/>
        </p:nvSpPr>
        <p:spPr>
          <a:xfrm>
            <a:off x="777240" y="3246120"/>
            <a:ext cx="5166360" cy="1417320"/>
          </a:xfrm>
          <a:prstGeom prst="roundRect">
            <a:avLst>
              <a:gd name="adj" fmla="val 5806"/>
            </a:avLst>
          </a:prstGeom>
          <a:solidFill>
            <a:srgbClr val="0F4736"/>
          </a:solidFill>
          <a:ln/>
        </p:spPr>
      </p:sp>
      <p:sp>
        <p:nvSpPr>
          <p:cNvPr id="13" name="Text 11"/>
          <p:cNvSpPr/>
          <p:nvPr/>
        </p:nvSpPr>
        <p:spPr>
          <a:xfrm>
            <a:off x="1033272" y="3374136"/>
            <a:ext cx="914400" cy="548640"/>
          </a:xfrm>
          <a:prstGeom prst="rect">
            <a:avLst/>
          </a:prstGeom>
          <a:noFill/>
          <a:ln/>
        </p:spPr>
        <p:txBody>
          <a:bodyPr wrap="square" rtlCol="0" anchor="ctr"/>
          <a:lstStyle/>
          <a:p>
            <a:pPr indent="0" marL="0">
              <a:buNone/>
            </a:pPr>
            <a:r>
              <a:rPr lang="en-US" sz="2600" b="1" dirty="0">
                <a:solidFill>
                  <a:srgbClr val="2FA875"/>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1828800" y="3429000"/>
            <a:ext cx="3886200" cy="36576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Explainable AI</a:t>
            </a:r>
            <a:endParaRPr lang="en-US" sz="1450" dirty="0"/>
          </a:p>
        </p:txBody>
      </p:sp>
      <p:sp>
        <p:nvSpPr>
          <p:cNvPr id="15" name="Text 13"/>
          <p:cNvSpPr/>
          <p:nvPr/>
        </p:nvSpPr>
        <p:spPr>
          <a:xfrm>
            <a:off x="1828800" y="3813048"/>
            <a:ext cx="3886200" cy="777240"/>
          </a:xfrm>
          <a:prstGeom prst="rect">
            <a:avLst/>
          </a:prstGeom>
          <a:noFill/>
          <a:ln/>
        </p:spPr>
        <p:txBody>
          <a:bodyPr wrap="square" rtlCol="0" anchor="ctr"/>
          <a:lstStyle/>
          <a:p>
            <a:pPr indent="0" marL="0">
              <a:lnSpc>
                <a:spcPct val="120000"/>
              </a:lnSpc>
              <a:buNone/>
            </a:pPr>
            <a:r>
              <a:rPr lang="en-US" sz="1100" dirty="0">
                <a:solidFill>
                  <a:srgbClr val="CFE9DB"/>
                </a:solidFill>
                <a:latin typeface="Calibri" pitchFamily="34" charset="0"/>
                <a:ea typeface="Calibri" pitchFamily="34" charset="-122"/>
                <a:cs typeface="Calibri" pitchFamily="34" charset="-120"/>
              </a:rPr>
              <a:t>Grad-CAM provides visual insight into regions influencing predictions.</a:t>
            </a:r>
            <a:endParaRPr lang="en-US" sz="1100" dirty="0"/>
          </a:p>
        </p:txBody>
      </p:sp>
      <p:sp>
        <p:nvSpPr>
          <p:cNvPr id="16" name="Shape 14"/>
          <p:cNvSpPr/>
          <p:nvPr/>
        </p:nvSpPr>
        <p:spPr>
          <a:xfrm>
            <a:off x="6263640" y="3246120"/>
            <a:ext cx="5166360" cy="1417320"/>
          </a:xfrm>
          <a:prstGeom prst="roundRect">
            <a:avLst>
              <a:gd name="adj" fmla="val 5806"/>
            </a:avLst>
          </a:prstGeom>
          <a:solidFill>
            <a:srgbClr val="0F4736"/>
          </a:solidFill>
          <a:ln/>
        </p:spPr>
      </p:sp>
      <p:sp>
        <p:nvSpPr>
          <p:cNvPr id="17" name="Text 15"/>
          <p:cNvSpPr/>
          <p:nvPr/>
        </p:nvSpPr>
        <p:spPr>
          <a:xfrm>
            <a:off x="6519672" y="3374136"/>
            <a:ext cx="914400" cy="548640"/>
          </a:xfrm>
          <a:prstGeom prst="rect">
            <a:avLst/>
          </a:prstGeom>
          <a:noFill/>
          <a:ln/>
        </p:spPr>
        <p:txBody>
          <a:bodyPr wrap="square" rtlCol="0" anchor="ctr"/>
          <a:lstStyle/>
          <a:p>
            <a:pPr indent="0" marL="0">
              <a:buNone/>
            </a:pPr>
            <a:r>
              <a:rPr lang="en-US" sz="2600" b="1" dirty="0">
                <a:solidFill>
                  <a:srgbClr val="2FA875"/>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7315200" y="3429000"/>
            <a:ext cx="3886200" cy="36576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Usable AI Platform</a:t>
            </a:r>
            <a:endParaRPr lang="en-US" sz="1450" dirty="0"/>
          </a:p>
        </p:txBody>
      </p:sp>
      <p:sp>
        <p:nvSpPr>
          <p:cNvPr id="19" name="Text 17"/>
          <p:cNvSpPr/>
          <p:nvPr/>
        </p:nvSpPr>
        <p:spPr>
          <a:xfrm>
            <a:off x="7315200" y="3813048"/>
            <a:ext cx="3886200" cy="777240"/>
          </a:xfrm>
          <a:prstGeom prst="rect">
            <a:avLst/>
          </a:prstGeom>
          <a:noFill/>
          <a:ln/>
        </p:spPr>
        <p:txBody>
          <a:bodyPr wrap="square" rtlCol="0" anchor="ctr"/>
          <a:lstStyle/>
          <a:p>
            <a:pPr indent="0" marL="0">
              <a:lnSpc>
                <a:spcPct val="120000"/>
              </a:lnSpc>
              <a:buNone/>
            </a:pPr>
            <a:r>
              <a:rPr lang="en-US" sz="1100" dirty="0">
                <a:solidFill>
                  <a:srgbClr val="CFE9DB"/>
                </a:solidFill>
                <a:latin typeface="Calibri" pitchFamily="34" charset="0"/>
                <a:ea typeface="Calibri" pitchFamily="34" charset="-122"/>
                <a:cs typeface="Calibri" pitchFamily="34" charset="-120"/>
              </a:rPr>
              <a:t>Prediction, history, analytics, and federated monitoring are integrated into one interface.</a:t>
            </a:r>
            <a:endParaRPr lang="en-US" sz="1100" dirty="0"/>
          </a:p>
        </p:txBody>
      </p:sp>
      <p:sp>
        <p:nvSpPr>
          <p:cNvPr id="20" name="Text 18"/>
          <p:cNvSpPr/>
          <p:nvPr/>
        </p:nvSpPr>
        <p:spPr>
          <a:xfrm>
            <a:off x="777240" y="5074920"/>
            <a:ext cx="10607040" cy="594360"/>
          </a:xfrm>
          <a:prstGeom prst="rect">
            <a:avLst/>
          </a:prstGeom>
          <a:noFill/>
          <a:ln/>
        </p:spPr>
        <p:txBody>
          <a:bodyPr wrap="square" rtlCol="0" anchor="ctr"/>
          <a:lstStyle/>
          <a:p>
            <a:pPr algn="l" indent="0" marL="0">
              <a:buNone/>
            </a:pPr>
            <a:r>
              <a:rPr lang="en-US" sz="1900" i="1" dirty="0">
                <a:solidFill>
                  <a:srgbClr val="FFFFFF"/>
                </a:solidFill>
                <a:latin typeface="Cambria" pitchFamily="34" charset="0"/>
                <a:ea typeface="Cambria" pitchFamily="34" charset="-122"/>
                <a:cs typeface="Cambria" pitchFamily="34" charset="-120"/>
              </a:rPr>
              <a:t>“FedMed AI turns distributed medical data into collaborative intelligence.”</a:t>
            </a:r>
            <a:endParaRPr lang="en-US" sz="1900" dirty="0"/>
          </a:p>
        </p:txBody>
      </p:sp>
      <p:sp>
        <p:nvSpPr>
          <p:cNvPr id="21" name="Shape 19"/>
          <p:cNvSpPr/>
          <p:nvPr/>
        </p:nvSpPr>
        <p:spPr>
          <a:xfrm>
            <a:off x="795528" y="5806440"/>
            <a:ext cx="2926080" cy="0"/>
          </a:xfrm>
          <a:prstGeom prst="line">
            <a:avLst/>
          </a:prstGeom>
          <a:noFill/>
          <a:ln w="19050">
            <a:solidFill>
              <a:srgbClr val="1F8A5F"/>
            </a:solidFill>
            <a:prstDash val="solid"/>
          </a:ln>
        </p:spPr>
      </p:sp>
      <p:sp>
        <p:nvSpPr>
          <p:cNvPr id="22" name="Text 20"/>
          <p:cNvSpPr/>
          <p:nvPr/>
        </p:nvSpPr>
        <p:spPr>
          <a:xfrm>
            <a:off x="777240" y="5925312"/>
            <a:ext cx="45720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Simran Singh</a:t>
            </a:r>
            <a:endParaRPr lang="en-US" sz="1400" dirty="0"/>
          </a:p>
        </p:txBody>
      </p:sp>
      <p:sp>
        <p:nvSpPr>
          <p:cNvPr id="23" name="Text 21"/>
          <p:cNvSpPr/>
          <p:nvPr/>
        </p:nvSpPr>
        <p:spPr>
          <a:xfrm>
            <a:off x="777240" y="6236208"/>
            <a:ext cx="4572000" cy="274320"/>
          </a:xfrm>
          <a:prstGeom prst="rect">
            <a:avLst/>
          </a:prstGeom>
          <a:noFill/>
          <a:ln/>
        </p:spPr>
        <p:txBody>
          <a:bodyPr wrap="square" rtlCol="0" anchor="ctr"/>
          <a:lstStyle/>
          <a:p>
            <a:pPr indent="0" marL="0">
              <a:buNone/>
            </a:pPr>
            <a:r>
              <a:rPr lang="en-US" sz="1100" dirty="0">
                <a:solidFill>
                  <a:srgbClr val="9FC9B4"/>
                </a:solidFill>
                <a:latin typeface="Calibri" pitchFamily="34" charset="0"/>
                <a:ea typeface="Calibri" pitchFamily="34" charset="-122"/>
                <a:cs typeface="Calibri" pitchFamily="34" charset="-120"/>
              </a:rPr>
              <a:t>College Project Competition</a:t>
            </a:r>
            <a:endParaRPr lang="en-US" sz="1100" dirty="0"/>
          </a:p>
        </p:txBody>
      </p:sp>
      <p:sp>
        <p:nvSpPr>
          <p:cNvPr id="24" name="Text 22"/>
          <p:cNvSpPr/>
          <p:nvPr/>
        </p:nvSpPr>
        <p:spPr>
          <a:xfrm>
            <a:off x="7498080" y="5943600"/>
            <a:ext cx="3886200" cy="548640"/>
          </a:xfrm>
          <a:prstGeom prst="rect">
            <a:avLst/>
          </a:prstGeom>
          <a:noFill/>
          <a:ln/>
        </p:spPr>
        <p:txBody>
          <a:bodyPr wrap="square" rtlCol="0" anchor="ctr"/>
          <a:lstStyle/>
          <a:p>
            <a:pPr algn="r" indent="0" marL="0">
              <a:buNone/>
            </a:pPr>
            <a:r>
              <a:rPr lang="en-US" sz="2200" b="1" i="1" dirty="0">
                <a:solidFill>
                  <a:srgbClr val="2FA875"/>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2026-08-10T23:22:25Z</dcterms:created>
  <dcterms:modified xsi:type="dcterms:W3CDTF">2026-08-10T23:22:25Z</dcterms:modified>
</cp:coreProperties>
</file>